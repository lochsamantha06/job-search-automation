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6.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7.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Total IT cost incl. D&amp;A (HKD m)</a:t>
            </a:r>
          </a:p>
        </c:rich>
      </c:tx>
      <c:layout/>
      <c:overlay val="0"/>
    </c:title>
    <c:autoTitleDeleted val="0"/>
    <c:plotArea>
      <c:layout/>
      <c:barChart>
        <c:barDir val="col"/>
        <c:grouping val="clustered"/>
        <c:varyColors val="0"/>
        <c:ser>
          <c:idx val="0"/>
          <c:order val="0"/>
          <c:tx>
            <c:strRef>
              <c:f>Sheet1!$B$1</c:f>
              <c:strCache>
                <c:ptCount val="1"/>
                <c:pt idx="0">
                  <c:v>IT cost (HKD m)</c:v>
                </c:pt>
              </c:strCache>
            </c:strRef>
          </c:tx>
          <c:spPr>
            <a:solidFill>
              <a:srgbClr val="C8102E"/>
            </a:solidFill>
            <a:effectLst/>
          </c:spPr>
          <c:invertIfNegative val="0"/>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C8102E"/>
              </a:solidFill>
              <a:effectLst/>
            </c:spPr>
          </c:dPt>
          <c:dPt>
            <c:idx val="1"/>
            <c:invertIfNegative val="0"/>
            <c:bubble3D val="0"/>
            <c:spPr>
              <a:solidFill>
                <a:srgbClr val="C8102E"/>
              </a:solidFill>
              <a:effectLst/>
            </c:spPr>
          </c:dPt>
          <c:dPt>
            <c:idx val="2"/>
            <c:invertIfNegative val="0"/>
            <c:bubble3D val="0"/>
            <c:spPr>
              <a:solidFill>
                <a:srgbClr val="BFBFBF"/>
              </a:solidFill>
              <a:effectLst/>
            </c:spPr>
          </c:dPt>
          <c:dPt>
            <c:idx val="3"/>
            <c:invertIfNegative val="0"/>
            <c:bubble3D val="0"/>
            <c:spPr>
              <a:solidFill>
                <a:srgbClr val="BFBFBF"/>
              </a:solidFill>
              <a:effectLst/>
            </c:spPr>
          </c:dPt>
          <c:dPt>
            <c:idx val="4"/>
            <c:invertIfNegative val="0"/>
            <c:bubble3D val="0"/>
            <c:spPr>
              <a:solidFill>
                <a:srgbClr val="BFBFBF"/>
              </a:solidFill>
              <a:effectLst/>
            </c:spPr>
          </c:dPt>
          <c:dPt>
            <c:idx val="5"/>
            <c:invertIfNegative val="0"/>
            <c:bubble3D val="0"/>
            <c:spPr>
              <a:solidFill>
                <a:srgbClr val="BFBFBF"/>
              </a:solidFill>
              <a:effectLst/>
            </c:spPr>
          </c:dPt>
          <c:cat>
            <c:multiLvlStrRef>
              <c:f>Sheet1!$A$2:$A$7</c:f>
              <c:multiLvlStrCache>
                <c:ptCount val="6"/>
                <c:lvl>
                  <c:pt idx="0">
                    <c:v>Client FY25</c:v>
                  </c:pt>
                  <c:pt idx="1">
                    <c:v>Client FY26E</c:v>
                  </c:pt>
                  <c:pt idx="2">
                    <c:v>Sun Life</c:v>
                  </c:pt>
                  <c:pt idx="3">
                    <c:v>Manulife*</c:v>
                  </c:pt>
                  <c:pt idx="4">
                    <c:v>Prudential*</c:v>
                  </c:pt>
                  <c:pt idx="5">
                    <c:v>AIA*</c:v>
                  </c:pt>
                </c:lvl>
              </c:multiLvlStrCache>
            </c:multiLvlStrRef>
          </c:cat>
          <c:val>
            <c:numRef>
              <c:f>Sheet1!$B$2:$B$7</c:f>
              <c:numCache>
                <c:formatCode>General</c:formatCode>
                <c:ptCount val="6"/>
                <c:pt idx="0">
                  <c:v>77.2</c:v>
                </c:pt>
                <c:pt idx="1">
                  <c:v>132.2</c:v>
                </c:pt>
                <c:pt idx="2">
                  <c:v>214.3</c:v>
                </c:pt>
                <c:pt idx="3">
                  <c:v>287.5</c:v>
                </c:pt>
                <c:pt idx="4">
                  <c:v>460.5</c:v>
                </c:pt>
                <c:pt idx="5">
                  <c:v>747.5</c:v>
                </c:pt>
              </c:numCache>
            </c:numRef>
          </c:val>
        </c:ser>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 of total IT spend</a:t>
            </a:r>
          </a:p>
        </c:rich>
      </c:tx>
      <c:layout/>
      <c:overlay val="0"/>
    </c:title>
    <c:autoTitleDeleted val="0"/>
    <c:plotArea>
      <c:layout/>
      <c:barChart>
        <c:barDir val="bar"/>
        <c:grouping val="clustered"/>
        <c:varyColors val="0"/>
        <c:ser>
          <c:idx val="0"/>
          <c:order val="0"/>
          <c:tx>
            <c:strRef>
              <c:f>Sheet1!$B$1</c:f>
              <c:strCache>
                <c:ptCount val="1"/>
                <c:pt idx="0">
                  <c:v>Client FY26E</c:v>
                </c:pt>
              </c:strCache>
            </c:strRef>
          </c:tx>
          <c:spPr>
            <a:solidFill>
              <a:srgbClr val="C8102E"/>
            </a:solidFill>
            <a:effectLst/>
          </c:spPr>
          <c:invertIfNegative val="0"/>
          <c:dLbls>
            <c:numFmt formatCode="0.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cat>
            <c:multiLvlStrRef>
              <c:f>Sheet1!$A$2:$A$6</c:f>
              <c:multiLvlStrCache>
                <c:ptCount val="5"/>
                <c:lvl>
                  <c:pt idx="0">
                    <c:v>Run spend</c:v>
                  </c:pt>
                  <c:pt idx="1">
                    <c:v>External labour</c:v>
                  </c:pt>
                  <c:pt idx="2">
                    <c:v>Internal labour</c:v>
                  </c:pt>
                  <c:pt idx="3">
                    <c:v>Infrastructure</c:v>
                  </c:pt>
                  <c:pt idx="4">
                    <c:v>Cloud</c:v>
                  </c:pt>
                </c:lvl>
              </c:multiLvlStrCache>
            </c:multiLvlStrRef>
          </c:cat>
          <c:val>
            <c:numRef>
              <c:f>Sheet1!$B$2:$B$6</c:f>
              <c:numCache>
                <c:formatCode>General</c:formatCode>
                <c:ptCount val="5"/>
                <c:pt idx="0">
                  <c:v>26.5</c:v>
                </c:pt>
                <c:pt idx="1">
                  <c:v>37.2</c:v>
                </c:pt>
                <c:pt idx="2">
                  <c:v>36.3</c:v>
                </c:pt>
                <c:pt idx="3">
                  <c:v>16.8</c:v>
                </c:pt>
                <c:pt idx="4">
                  <c:v>1.8</c:v>
                </c:pt>
              </c:numCache>
            </c:numRef>
          </c:val>
        </c:ser>
        <c:ser>
          <c:idx val="1"/>
          <c:order val="1"/>
          <c:tx>
            <c:strRef>
              <c:f>Sheet1!$C$1</c:f>
              <c:strCache>
                <c:ptCount val="1"/>
                <c:pt idx="0">
                  <c:v>Peer avg (AIA/Pru/Manulife)</c:v>
                </c:pt>
              </c:strCache>
            </c:strRef>
          </c:tx>
          <c:spPr>
            <a:solidFill>
              <a:srgbClr val="BFBFBF"/>
            </a:solidFill>
            <a:effectLst/>
          </c:spPr>
          <c:invertIfNegative val="0"/>
          <c:dLbls>
            <c:numFmt formatCode="0.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cat>
            <c:multiLvlStrRef>
              <c:f>Sheet1!$A$2:$A$6</c:f>
              <c:multiLvlStrCache>
                <c:ptCount val="5"/>
                <c:lvl>
                  <c:pt idx="0">
                    <c:v>Run spend</c:v>
                  </c:pt>
                  <c:pt idx="1">
                    <c:v>External labour</c:v>
                  </c:pt>
                  <c:pt idx="2">
                    <c:v>Internal labour</c:v>
                  </c:pt>
                  <c:pt idx="3">
                    <c:v>Infrastructure</c:v>
                  </c:pt>
                  <c:pt idx="4">
                    <c:v>Cloud</c:v>
                  </c:pt>
                </c:lvl>
              </c:multiLvlStrCache>
            </c:multiLvlStrRef>
          </c:cat>
          <c:val>
            <c:numRef>
              <c:f>Sheet1!$C$2:$C$6</c:f>
              <c:numCache>
                <c:formatCode>General</c:formatCode>
                <c:ptCount val="5"/>
                <c:pt idx="0">
                  <c:v>75</c:v>
                </c:pt>
                <c:pt idx="1">
                  <c:v>19</c:v>
                </c:pt>
                <c:pt idx="2">
                  <c:v>56</c:v>
                </c:pt>
                <c:pt idx="3">
                  <c:v>6.4</c:v>
                </c:pt>
                <c:pt idx="4">
                  <c:v>16.7</c:v>
                </c:pt>
              </c:numCache>
            </c:numRef>
          </c:val>
        </c:ser>
        <c:dLbls>
          <c:numFmt formatCode="0.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PAS transactions (000s)</a:t>
            </a:r>
          </a:p>
        </c:rich>
      </c:tx>
      <c:layout/>
      <c:overlay val="0"/>
    </c:title>
    <c:autoTitleDeleted val="0"/>
    <c:plotArea>
      <c:layout/>
      <c:barChart>
        <c:barDir val="col"/>
        <c:grouping val="clustered"/>
        <c:varyColors val="0"/>
        <c:ser>
          <c:idx val="0"/>
          <c:order val="0"/>
          <c:tx>
            <c:strRef>
              <c:f>Sheet1!$B$1</c:f>
              <c:strCache>
                <c:ptCount val="1"/>
                <c:pt idx="0">
                  <c:v>PAS transactions (000s)</c:v>
                </c:pt>
              </c:strCache>
            </c:strRef>
          </c:tx>
          <c:spPr>
            <a:solidFill>
              <a:srgbClr val="C8102E"/>
            </a:solidFill>
            <a:effectLst/>
          </c:spPr>
          <c:invertIfNegative val="0"/>
          <c:dLbls>
            <c:numFmt formatCode="#,##0.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C8102E"/>
              </a:solidFill>
              <a:effectLst/>
            </c:spPr>
          </c:dPt>
          <c:dPt>
            <c:idx val="1"/>
            <c:invertIfNegative val="0"/>
            <c:bubble3D val="0"/>
            <c:spPr>
              <a:solidFill>
                <a:srgbClr val="C8102E"/>
              </a:solidFill>
              <a:effectLst/>
            </c:spPr>
          </c:dPt>
          <c:dPt>
            <c:idx val="2"/>
            <c:invertIfNegative val="0"/>
            <c:bubble3D val="0"/>
            <c:spPr>
              <a:solidFill>
                <a:srgbClr val="BFBFBF"/>
              </a:solidFill>
              <a:effectLst/>
            </c:spPr>
          </c:dPt>
          <c:cat>
            <c:multiLvlStrRef>
              <c:f>Sheet1!$A$2:$A$4</c:f>
              <c:multiLvlStrCache>
                <c:ptCount val="3"/>
                <c:lvl>
                  <c:pt idx="0">
                    <c:v>Client FY25</c:v>
                  </c:pt>
                  <c:pt idx="1">
                    <c:v>Client FY26E</c:v>
                  </c:pt>
                  <c:pt idx="2">
                    <c:v>Sun Life</c:v>
                  </c:pt>
                </c:lvl>
              </c:multiLvlStrCache>
            </c:multiLvlStrRef>
          </c:cat>
          <c:val>
            <c:numRef>
              <c:f>Sheet1!$B$2:$B$4</c:f>
              <c:numCache>
                <c:formatCode>General</c:formatCode>
                <c:ptCount val="3"/>
                <c:pt idx="0">
                  <c:v>278</c:v>
                </c:pt>
                <c:pt idx="1">
                  <c:v>282.1</c:v>
                </c:pt>
                <c:pt idx="2">
                  <c:v>424</c:v>
                </c:pt>
              </c:numCache>
            </c:numRef>
          </c:val>
        </c:ser>
        <c:dLbls>
          <c:numFmt formatCode="#,##0.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PAS transactions per IT FTE</a:t>
            </a:r>
          </a:p>
        </c:rich>
      </c:tx>
      <c:layout/>
      <c:overlay val="0"/>
    </c:title>
    <c:autoTitleDeleted val="0"/>
    <c:plotArea>
      <c:layout/>
      <c:barChart>
        <c:barDir val="col"/>
        <c:grouping val="clustered"/>
        <c:varyColors val="0"/>
        <c:ser>
          <c:idx val="0"/>
          <c:order val="0"/>
          <c:tx>
            <c:strRef>
              <c:f>Sheet1!$B$1</c:f>
              <c:strCache>
                <c:ptCount val="1"/>
                <c:pt idx="0">
                  <c:v>PAS transactions per IT FTE</c:v>
                </c:pt>
              </c:strCache>
            </c:strRef>
          </c:tx>
          <c:spPr>
            <a:solidFill>
              <a:srgbClr val="C8102E"/>
            </a:solidFill>
            <a:effectLst/>
          </c:spPr>
          <c:invertIfNegative val="0"/>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C8102E"/>
              </a:solidFill>
              <a:effectLst/>
            </c:spPr>
          </c:dPt>
          <c:dPt>
            <c:idx val="1"/>
            <c:invertIfNegative val="0"/>
            <c:bubble3D val="0"/>
            <c:spPr>
              <a:solidFill>
                <a:srgbClr val="C8102E"/>
              </a:solidFill>
              <a:effectLst/>
            </c:spPr>
          </c:dPt>
          <c:dPt>
            <c:idx val="2"/>
            <c:invertIfNegative val="0"/>
            <c:bubble3D val="0"/>
            <c:spPr>
              <a:solidFill>
                <a:srgbClr val="BFBFBF"/>
              </a:solidFill>
              <a:effectLst/>
            </c:spPr>
          </c:dPt>
          <c:cat>
            <c:multiLvlStrRef>
              <c:f>Sheet1!$A$2:$A$4</c:f>
              <c:multiLvlStrCache>
                <c:ptCount val="3"/>
                <c:lvl>
                  <c:pt idx="0">
                    <c:v>Client FY25</c:v>
                  </c:pt>
                  <c:pt idx="1">
                    <c:v>Client FY26E</c:v>
                  </c:pt>
                  <c:pt idx="2">
                    <c:v>Sun Life</c:v>
                  </c:pt>
                </c:lvl>
              </c:multiLvlStrCache>
            </c:multiLvlStrRef>
          </c:cat>
          <c:val>
            <c:numRef>
              <c:f>Sheet1!$B$2:$B$4</c:f>
              <c:numCache>
                <c:formatCode>General</c:formatCode>
                <c:ptCount val="3"/>
                <c:pt idx="0">
                  <c:v>4213</c:v>
                </c:pt>
                <c:pt idx="1">
                  <c:v>3319</c:v>
                </c:pt>
                <c:pt idx="2">
                  <c:v>4240</c:v>
                </c:pt>
              </c:numCache>
            </c:numRef>
          </c:val>
        </c:ser>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In-force policies per IT FTE (000s)</a:t>
            </a:r>
          </a:p>
        </c:rich>
      </c:tx>
      <c:layout/>
      <c:overlay val="0"/>
    </c:title>
    <c:autoTitleDeleted val="0"/>
    <c:plotArea>
      <c:layout/>
      <c:barChart>
        <c:barDir val="col"/>
        <c:grouping val="clustered"/>
        <c:varyColors val="0"/>
        <c:ser>
          <c:idx val="0"/>
          <c:order val="0"/>
          <c:tx>
            <c:strRef>
              <c:f>Sheet1!$B$1</c:f>
              <c:strCache>
                <c:ptCount val="1"/>
                <c:pt idx="0">
                  <c:v>In-force policies per IT FTE (000s)</c:v>
                </c:pt>
              </c:strCache>
            </c:strRef>
          </c:tx>
          <c:spPr>
            <a:solidFill>
              <a:srgbClr val="C8102E"/>
            </a:solidFill>
            <a:effectLst/>
          </c:spPr>
          <c:invertIfNegative val="0"/>
          <c:dLbls>
            <c:numFmt formatCode="0.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C8102E"/>
              </a:solidFill>
              <a:effectLst/>
            </c:spPr>
          </c:dPt>
          <c:dPt>
            <c:idx val="1"/>
            <c:invertIfNegative val="0"/>
            <c:bubble3D val="0"/>
            <c:spPr>
              <a:solidFill>
                <a:srgbClr val="C8102E"/>
              </a:solidFill>
              <a:effectLst/>
            </c:spPr>
          </c:dPt>
          <c:dPt>
            <c:idx val="2"/>
            <c:invertIfNegative val="0"/>
            <c:bubble3D val="0"/>
            <c:spPr>
              <a:solidFill>
                <a:srgbClr val="BFBFBF"/>
              </a:solidFill>
              <a:effectLst/>
            </c:spPr>
          </c:dPt>
          <c:cat>
            <c:multiLvlStrRef>
              <c:f>Sheet1!$A$2:$A$4</c:f>
              <c:multiLvlStrCache>
                <c:ptCount val="3"/>
                <c:lvl>
                  <c:pt idx="0">
                    <c:v>Client FY25</c:v>
                  </c:pt>
                  <c:pt idx="1">
                    <c:v>Client FY26E</c:v>
                  </c:pt>
                  <c:pt idx="2">
                    <c:v>Sun Life</c:v>
                  </c:pt>
                </c:lvl>
              </c:multiLvlStrCache>
            </c:multiLvlStrRef>
          </c:cat>
          <c:val>
            <c:numRef>
              <c:f>Sheet1!$B$2:$B$4</c:f>
              <c:numCache>
                <c:formatCode>General</c:formatCode>
                <c:ptCount val="3"/>
                <c:pt idx="0">
                  <c:v>11.3</c:v>
                </c:pt>
                <c:pt idx="1">
                  <c:v>9.1</c:v>
                </c:pt>
                <c:pt idx="2">
                  <c:v>47.9</c:v>
                </c:pt>
              </c:numCache>
            </c:numRef>
          </c:val>
        </c:ser>
        <c:dLbls>
          <c:numFmt formatCode="0.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Straight-through processing (STP) rate</a:t>
            </a:r>
          </a:p>
        </c:rich>
      </c:tx>
      <c:layout/>
      <c:overlay val="0"/>
    </c:title>
    <c:autoTitleDeleted val="0"/>
    <c:plotArea>
      <c:layout/>
      <c:barChart>
        <c:barDir val="bar"/>
        <c:grouping val="clustered"/>
        <c:varyColors val="0"/>
        <c:ser>
          <c:idx val="0"/>
          <c:order val="0"/>
          <c:tx>
            <c:strRef>
              <c:f>Sheet1!$B$1</c:f>
              <c:strCache>
                <c:ptCount val="1"/>
                <c:pt idx="0">
                  <c:v>STP rate (%)</c:v>
                </c:pt>
              </c:strCache>
            </c:strRef>
          </c:tx>
          <c:spPr>
            <a:solidFill>
              <a:srgbClr val="C8102E"/>
            </a:solidFill>
            <a:effectLst/>
          </c:spPr>
          <c:invertIfNegative val="0"/>
          <c:dLbls>
            <c:numFmt formatCode="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C8102E"/>
              </a:solidFill>
              <a:effectLst/>
            </c:spPr>
          </c:dPt>
          <c:dPt>
            <c:idx val="1"/>
            <c:invertIfNegative val="0"/>
            <c:bubble3D val="0"/>
            <c:spPr>
              <a:solidFill>
                <a:srgbClr val="BFBFBF"/>
              </a:solidFill>
              <a:effectLst/>
            </c:spPr>
          </c:dPt>
          <c:dPt>
            <c:idx val="2"/>
            <c:invertIfNegative val="0"/>
            <c:bubble3D val="0"/>
            <c:spPr>
              <a:solidFill>
                <a:srgbClr val="BFBFBF"/>
              </a:solidFill>
              <a:effectLst/>
            </c:spPr>
          </c:dPt>
          <c:dPt>
            <c:idx val="3"/>
            <c:invertIfNegative val="0"/>
            <c:bubble3D val="0"/>
            <c:spPr>
              <a:solidFill>
                <a:srgbClr val="BFBFBF"/>
              </a:solidFill>
              <a:effectLst/>
            </c:spPr>
          </c:dPt>
          <c:dPt>
            <c:idx val="4"/>
            <c:invertIfNegative val="0"/>
            <c:bubble3D val="0"/>
            <c:spPr>
              <a:solidFill>
                <a:srgbClr val="BFBFBF"/>
              </a:solidFill>
              <a:effectLst/>
            </c:spPr>
          </c:dPt>
          <c:cat>
            <c:multiLvlStrRef>
              <c:f>Sheet1!$A$2:$A$6</c:f>
              <c:multiLvlStrCache>
                <c:ptCount val="5"/>
                <c:lvl>
                  <c:pt idx="0">
                    <c:v>Client</c:v>
                  </c:pt>
                  <c:pt idx="1">
                    <c:v>Sun Life</c:v>
                  </c:pt>
                  <c:pt idx="2">
                    <c:v>Manulife (&gt;)</c:v>
                  </c:pt>
                  <c:pt idx="3">
                    <c:v>Prudential (&gt;)</c:v>
                  </c:pt>
                  <c:pt idx="4">
                    <c:v>AIA (&gt;)</c:v>
                  </c:pt>
                </c:lvl>
              </c:multiLvlStrCache>
            </c:multiLvlStrRef>
          </c:cat>
          <c:val>
            <c:numRef>
              <c:f>Sheet1!$B$2:$B$6</c:f>
              <c:numCache>
                <c:formatCode>General</c:formatCode>
                <c:ptCount val="5"/>
                <c:pt idx="0">
                  <c:v>0</c:v>
                </c:pt>
                <c:pt idx="1">
                  <c:v>13.7</c:v>
                </c:pt>
                <c:pt idx="2">
                  <c:v>10</c:v>
                </c:pt>
                <c:pt idx="3">
                  <c:v>50</c:v>
                </c:pt>
                <c:pt idx="4">
                  <c:v>70</c:v>
                </c:pt>
              </c:numCache>
            </c:numRef>
          </c:val>
        </c:ser>
        <c:dLbls>
          <c:numFmt formatCode="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Growth FY25 → FY26E (%)</a:t>
            </a:r>
          </a:p>
        </c:rich>
      </c:tx>
      <c:layout/>
      <c:overlay val="0"/>
    </c:title>
    <c:autoTitleDeleted val="0"/>
    <c:plotArea>
      <c:layout/>
      <c:barChart>
        <c:barDir val="bar"/>
        <c:grouping val="clustered"/>
        <c:varyColors val="0"/>
        <c:ser>
          <c:idx val="0"/>
          <c:order val="0"/>
          <c:tx>
            <c:strRef>
              <c:f>Sheet1!$B$1</c:f>
              <c:strCache>
                <c:ptCount val="1"/>
                <c:pt idx="0">
                  <c:v>Growth FY25→FY26E</c:v>
                </c:pt>
              </c:strCache>
            </c:strRef>
          </c:tx>
          <c:spPr>
            <a:solidFill>
              <a:srgbClr val="C8102E"/>
            </a:solidFill>
            <a:effectLst/>
          </c:spPr>
          <c:invertIfNegative val="0"/>
          <c:dLbls>
            <c:numFmt formatCode="0.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C8102E"/>
              </a:solidFill>
              <a:effectLst/>
            </c:spPr>
          </c:dPt>
          <c:dPt>
            <c:idx val="1"/>
            <c:invertIfNegative val="0"/>
            <c:bubble3D val="0"/>
            <c:spPr>
              <a:solidFill>
                <a:srgbClr val="BFBFBF"/>
              </a:solidFill>
              <a:effectLst/>
            </c:spPr>
          </c:dPt>
          <c:dPt>
            <c:idx val="2"/>
            <c:invertIfNegative val="0"/>
            <c:bubble3D val="0"/>
            <c:spPr>
              <a:solidFill>
                <a:srgbClr val="BFBFBF"/>
              </a:solidFill>
              <a:effectLst/>
            </c:spPr>
          </c:dPt>
          <c:dPt>
            <c:idx val="3"/>
            <c:invertIfNegative val="0"/>
            <c:bubble3D val="0"/>
            <c:spPr>
              <a:solidFill>
                <a:srgbClr val="C8102E"/>
              </a:solidFill>
              <a:effectLst/>
            </c:spPr>
          </c:dPt>
          <c:dPt>
            <c:idx val="4"/>
            <c:invertIfNegative val="0"/>
            <c:bubble3D val="0"/>
            <c:spPr>
              <a:solidFill>
                <a:srgbClr val="C8102E"/>
              </a:solidFill>
              <a:effectLst/>
            </c:spPr>
          </c:dPt>
          <c:dPt>
            <c:idx val="5"/>
            <c:invertIfNegative val="0"/>
            <c:bubble3D val="0"/>
            <c:spPr>
              <a:solidFill>
                <a:srgbClr val="BFBFBF"/>
              </a:solidFill>
              <a:effectLst/>
            </c:spPr>
          </c:dPt>
          <c:dPt>
            <c:idx val="6"/>
            <c:invertIfNegative val="0"/>
            <c:bubble3D val="0"/>
            <c:spPr>
              <a:solidFill>
                <a:srgbClr val="BFBFBF"/>
              </a:solidFill>
              <a:effectLst/>
            </c:spPr>
          </c:dPt>
          <c:dPt>
            <c:idx val="7"/>
            <c:invertIfNegative val="0"/>
            <c:bubble3D val="0"/>
            <c:spPr>
              <a:solidFill>
                <a:srgbClr val="BFBFBF"/>
              </a:solidFill>
              <a:effectLst/>
            </c:spPr>
          </c:dPt>
          <c:cat>
            <c:multiLvlStrRef>
              <c:f>Sheet1!$A$2:$A$9</c:f>
              <c:multiLvlStrCache>
                <c:ptCount val="8"/>
                <c:lvl>
                  <c:pt idx="0">
                    <c:v>Premium (GWP)</c:v>
                  </c:pt>
                  <c:pt idx="1">
                    <c:v>IT spend</c:v>
                  </c:pt>
                  <c:pt idx="2">
                    <c:v>IT FTE</c:v>
                  </c:pt>
                  <c:pt idx="3">
                    <c:v>Digital submissions</c:v>
                  </c:pt>
                  <c:pt idx="4">
                    <c:v>New policies</c:v>
                  </c:pt>
                  <c:pt idx="5">
                    <c:v>Policies</c:v>
                  </c:pt>
                  <c:pt idx="6">
                    <c:v>Customers</c:v>
                  </c:pt>
                  <c:pt idx="7">
                    <c:v>PAS transactions</c:v>
                  </c:pt>
                </c:lvl>
              </c:multiLvlStrCache>
            </c:multiLvlStrRef>
          </c:cat>
          <c:val>
            <c:numRef>
              <c:f>Sheet1!$B$2:$B$9</c:f>
              <c:numCache>
                <c:formatCode>General</c:formatCode>
                <c:ptCount val="8"/>
                <c:pt idx="0">
                  <c:v>166.6</c:v>
                </c:pt>
                <c:pt idx="1">
                  <c:v>71.2</c:v>
                </c:pt>
                <c:pt idx="2">
                  <c:v>28.8</c:v>
                </c:pt>
                <c:pt idx="3">
                  <c:v>22.2</c:v>
                </c:pt>
                <c:pt idx="4">
                  <c:v>19.5</c:v>
                </c:pt>
                <c:pt idx="5">
                  <c:v>3.9</c:v>
                </c:pt>
                <c:pt idx="6">
                  <c:v>3</c:v>
                </c:pt>
                <c:pt idx="7">
                  <c:v>1.5</c:v>
                </c:pt>
              </c:numCache>
            </c:numRef>
          </c:val>
        </c:ser>
        <c:dLbls>
          <c:numFmt formatCode="0.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Storyline: (1) IT cost headline, (2) IT cost structure, (3) PAS productivity, (4) PAS unit cost and automation, (5) cost to business outcome, (6) mapping to the four Option 3+ lenses, (7) data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01 </a:t>
            </a:r>
            <a:pPr indent="0" marL="0">
              <a:buNone/>
            </a:pPr>
            <a:r>
              <a:rPr lang="en-US" sz="1300" dirty="0">
                <a:solidFill>
                  <a:srgbClr val="C8102E"/>
                </a:solidFill>
                <a:latin typeface="Arial" pitchFamily="34" charset="0"/>
                <a:ea typeface="Arial" pitchFamily="34" charset="-122"/>
                <a:cs typeface="Arial" pitchFamily="34" charset="-120"/>
              </a:rPr>
              <a:t>| Benchmark Analysis – Executive Summary</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Benchmarks support Option 3: modernise step by step, guided by four lenses</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IT cost is not the problem, since the client spends far less of its premium on IT than peers do. The problems are how the money is spent and a Policy Administration System (PAS) that costs a lot per transaction and is not automated. A big-bang replacement is hard to justify. Step-by-step modernisation aimed at specific outcomes is.</a:t>
            </a:r>
            <a:endParaRPr lang="en-US" sz="1250" dirty="0"/>
          </a:p>
        </p:txBody>
      </p:sp>
      <p:sp>
        <p:nvSpPr>
          <p:cNvPr id="5" name="Text 3"/>
          <p:cNvSpPr txBox="1"/>
          <p:nvPr/>
        </p:nvSpPr>
        <p:spPr>
          <a:xfrm>
            <a:off x="457200" y="1719072"/>
            <a:ext cx="2834640" cy="274320"/>
          </a:xfrm>
          <a:prstGeom prst="rect">
            <a:avLst/>
          </a:prstGeom>
          <a:noFill/>
          <a:ln/>
        </p:spPr>
        <p:txBody>
          <a:bodyPr wrap="square" lIns="0" tIns="0" rIns="0" bIns="0" rtlCol="0" anchor="ctr"/>
          <a:lstStyle/>
          <a:p>
            <a:pPr indent="0" marL="0">
              <a:buNone/>
            </a:pPr>
            <a:r>
              <a:rPr lang="en-US" sz="1000" b="1" dirty="0">
                <a:solidFill>
                  <a:srgbClr val="7F7F7F"/>
                </a:solidFill>
                <a:latin typeface="Arial" pitchFamily="34" charset="0"/>
                <a:ea typeface="Arial" pitchFamily="34" charset="-122"/>
                <a:cs typeface="Arial" pitchFamily="34" charset="-120"/>
              </a:rPr>
              <a:t>Benchmark area</a:t>
            </a:r>
            <a:endParaRPr lang="en-US" sz="1000" dirty="0"/>
          </a:p>
        </p:txBody>
      </p:sp>
      <p:sp>
        <p:nvSpPr>
          <p:cNvPr id="6" name="Text 4"/>
          <p:cNvSpPr txBox="1"/>
          <p:nvPr/>
        </p:nvSpPr>
        <p:spPr>
          <a:xfrm>
            <a:off x="3429000" y="1719072"/>
            <a:ext cx="4846320" cy="274320"/>
          </a:xfrm>
          <a:prstGeom prst="rect">
            <a:avLst/>
          </a:prstGeom>
          <a:noFill/>
          <a:ln/>
        </p:spPr>
        <p:txBody>
          <a:bodyPr wrap="square" lIns="0" tIns="0" rIns="0" bIns="0" rtlCol="0" anchor="ctr"/>
          <a:lstStyle/>
          <a:p>
            <a:pPr indent="0" marL="0">
              <a:buNone/>
            </a:pPr>
            <a:r>
              <a:rPr lang="en-US" sz="1000" b="1" dirty="0">
                <a:solidFill>
                  <a:srgbClr val="7F7F7F"/>
                </a:solidFill>
                <a:latin typeface="Arial" pitchFamily="34" charset="0"/>
                <a:ea typeface="Arial" pitchFamily="34" charset="-122"/>
                <a:cs typeface="Arial" pitchFamily="34" charset="-120"/>
              </a:rPr>
              <a:t>What the data shows</a:t>
            </a:r>
            <a:endParaRPr lang="en-US" sz="1000" dirty="0"/>
          </a:p>
        </p:txBody>
      </p:sp>
      <p:sp>
        <p:nvSpPr>
          <p:cNvPr id="7" name="Text 5"/>
          <p:cNvSpPr txBox="1"/>
          <p:nvPr/>
        </p:nvSpPr>
        <p:spPr>
          <a:xfrm>
            <a:off x="8412480" y="1719072"/>
            <a:ext cx="3319272" cy="274320"/>
          </a:xfrm>
          <a:prstGeom prst="rect">
            <a:avLst/>
          </a:prstGeom>
          <a:noFill/>
          <a:ln/>
        </p:spPr>
        <p:txBody>
          <a:bodyPr wrap="square" lIns="0" tIns="0" rIns="0" bIns="0" rtlCol="0" anchor="ctr"/>
          <a:lstStyle/>
          <a:p>
            <a:pPr indent="0" marL="0">
              <a:buNone/>
            </a:pPr>
            <a:r>
              <a:rPr lang="en-US" sz="1000" b="1" dirty="0">
                <a:solidFill>
                  <a:srgbClr val="7F7F7F"/>
                </a:solidFill>
                <a:latin typeface="Arial" pitchFamily="34" charset="0"/>
                <a:ea typeface="Arial" pitchFamily="34" charset="-122"/>
                <a:cs typeface="Arial" pitchFamily="34" charset="-120"/>
              </a:rPr>
              <a:t>So what for Option 3+</a:t>
            </a:r>
            <a:endParaRPr lang="en-US" sz="1000" dirty="0"/>
          </a:p>
        </p:txBody>
      </p:sp>
      <p:sp>
        <p:nvSpPr>
          <p:cNvPr id="8" name="Shape 6"/>
          <p:cNvSpPr/>
          <p:nvPr/>
        </p:nvSpPr>
        <p:spPr>
          <a:xfrm>
            <a:off x="457200" y="2011680"/>
            <a:ext cx="2834640" cy="1280160"/>
          </a:xfrm>
          <a:prstGeom prst="rect">
            <a:avLst/>
          </a:prstGeom>
          <a:solidFill>
            <a:srgbClr val="C8102E"/>
          </a:solidFill>
          <a:ln w="12700">
            <a:solidFill>
              <a:srgbClr val="C8102E"/>
            </a:solidFill>
            <a:prstDash val="solid"/>
          </a:ln>
        </p:spPr>
      </p:sp>
      <p:sp>
        <p:nvSpPr>
          <p:cNvPr id="9" name="Text 7"/>
          <p:cNvSpPr txBox="1"/>
          <p:nvPr/>
        </p:nvSpPr>
        <p:spPr>
          <a:xfrm>
            <a:off x="548640" y="2011680"/>
            <a:ext cx="2651760" cy="1280160"/>
          </a:xfrm>
          <a:prstGeom prst="rect">
            <a:avLst/>
          </a:prstGeom>
          <a:noFill/>
          <a:ln/>
        </p:spPr>
        <p:txBody>
          <a:bodyPr wrap="square" lIns="635" tIns="635" rIns="635" bIns="635"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IT cost: lean overall, but spent in the wrong places</a:t>
            </a:r>
            <a:endParaRPr lang="en-US" sz="1300" dirty="0"/>
          </a:p>
        </p:txBody>
      </p:sp>
      <p:sp>
        <p:nvSpPr>
          <p:cNvPr id="10" name="Shape 8"/>
          <p:cNvSpPr/>
          <p:nvPr/>
        </p:nvSpPr>
        <p:spPr>
          <a:xfrm>
            <a:off x="3429000" y="2011680"/>
            <a:ext cx="4846320" cy="1280160"/>
          </a:xfrm>
          <a:prstGeom prst="rect">
            <a:avLst/>
          </a:prstGeom>
          <a:solidFill>
            <a:srgbClr val="EDEDED"/>
          </a:solidFill>
          <a:ln w="12700">
            <a:solidFill>
              <a:srgbClr val="EDEDED"/>
            </a:solidFill>
            <a:prstDash val="solid"/>
          </a:ln>
        </p:spPr>
      </p:sp>
      <p:sp>
        <p:nvSpPr>
          <p:cNvPr id="11" name="Text 9"/>
          <p:cNvSpPr txBox="1"/>
          <p:nvPr/>
        </p:nvSpPr>
        <p:spPr>
          <a:xfrm>
            <a:off x="3520440" y="2011680"/>
            <a:ext cx="4663440" cy="1280160"/>
          </a:xfrm>
          <a:prstGeom prst="rect">
            <a:avLst/>
          </a:prstGeom>
          <a:noFill/>
          <a:ln/>
        </p:spPr>
        <p:txBody>
          <a:bodyPr wrap="square" lIns="635" tIns="635" rIns="635" bIns="635" rtlCol="0" anchor="ctr"/>
          <a:lstStyle/>
          <a:p>
            <a:pPr indent="0" marL="0">
              <a:buNone/>
            </a:pPr>
            <a:r>
              <a:rPr lang="en-US" sz="1100" dirty="0">
                <a:solidFill>
                  <a:srgbClr val="222222"/>
                </a:solidFill>
                <a:latin typeface="Arial" pitchFamily="34" charset="0"/>
                <a:ea typeface="Arial" pitchFamily="34" charset="-122"/>
                <a:cs typeface="Arial" pitchFamily="34" charset="-120"/>
              </a:rPr>
              <a:t>IT spend / GWP is 0.09% against 0.6–0.7% for peers. Only 26% of spend is run, against 64% for the market. External labour is 37% of IT spend (market 16%) and cloud is 1.8% (peers 16–17%).</a:t>
            </a:r>
            <a:endParaRPr lang="en-US" sz="1100" dirty="0"/>
          </a:p>
        </p:txBody>
      </p:sp>
      <p:sp>
        <p:nvSpPr>
          <p:cNvPr id="12" name="Shape 10"/>
          <p:cNvSpPr/>
          <p:nvPr/>
        </p:nvSpPr>
        <p:spPr>
          <a:xfrm>
            <a:off x="8412480" y="2011680"/>
            <a:ext cx="3319272" cy="1280160"/>
          </a:xfrm>
          <a:prstGeom prst="rect">
            <a:avLst/>
          </a:prstGeom>
          <a:solidFill>
            <a:srgbClr val="8C8C8C"/>
          </a:solidFill>
          <a:ln w="12700">
            <a:solidFill>
              <a:srgbClr val="8C8C8C"/>
            </a:solidFill>
            <a:prstDash val="solid"/>
          </a:ln>
        </p:spPr>
      </p:sp>
      <p:sp>
        <p:nvSpPr>
          <p:cNvPr id="13" name="Text 11"/>
          <p:cNvSpPr txBox="1"/>
          <p:nvPr/>
        </p:nvSpPr>
        <p:spPr>
          <a:xfrm>
            <a:off x="8503920" y="2011680"/>
            <a:ext cx="3136392" cy="1280160"/>
          </a:xfrm>
          <a:prstGeom prst="rect">
            <a:avLst/>
          </a:prstGeom>
          <a:noFill/>
          <a:ln/>
        </p:spPr>
        <p:txBody>
          <a:bodyPr wrap="square" lIns="635" tIns="635" rIns="635" bIns="635" rtlCol="0" anchor="ctr"/>
          <a:lstStyle/>
          <a:p>
            <a:pPr indent="0" marL="0">
              <a:buNone/>
            </a:pPr>
            <a:r>
              <a:rPr lang="en-US" sz="1100" dirty="0">
                <a:solidFill>
                  <a:srgbClr val="FFFFFF"/>
                </a:solidFill>
                <a:latin typeface="Arial" pitchFamily="34" charset="0"/>
                <a:ea typeface="Arial" pitchFamily="34" charset="-122"/>
                <a:cs typeface="Arial" pitchFamily="34" charset="-120"/>
              </a:rPr>
              <a:t>There is room to fund modernisation. Priorities are to reduce vendor concentration and to stop change spend turning into run cost.</a:t>
            </a:r>
            <a:endParaRPr lang="en-US" sz="1100" dirty="0"/>
          </a:p>
        </p:txBody>
      </p:sp>
      <p:sp>
        <p:nvSpPr>
          <p:cNvPr id="14" name="Shape 12"/>
          <p:cNvSpPr/>
          <p:nvPr/>
        </p:nvSpPr>
        <p:spPr>
          <a:xfrm>
            <a:off x="457200" y="3429000"/>
            <a:ext cx="2834640" cy="1280160"/>
          </a:xfrm>
          <a:prstGeom prst="rect">
            <a:avLst/>
          </a:prstGeom>
          <a:solidFill>
            <a:srgbClr val="C8102E"/>
          </a:solidFill>
          <a:ln w="12700">
            <a:solidFill>
              <a:srgbClr val="C8102E"/>
            </a:solidFill>
            <a:prstDash val="solid"/>
          </a:ln>
        </p:spPr>
      </p:sp>
      <p:sp>
        <p:nvSpPr>
          <p:cNvPr id="15" name="Text 13"/>
          <p:cNvSpPr txBox="1"/>
          <p:nvPr/>
        </p:nvSpPr>
        <p:spPr>
          <a:xfrm>
            <a:off x="548640" y="3429000"/>
            <a:ext cx="2651760" cy="1280160"/>
          </a:xfrm>
          <a:prstGeom prst="rect">
            <a:avLst/>
          </a:prstGeom>
          <a:noFill/>
          <a:ln/>
        </p:spPr>
        <p:txBody>
          <a:bodyPr wrap="square" lIns="635" tIns="635" rIns="635" bIns="635"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PAS: small scale, high unit cost, automation not measured</a:t>
            </a:r>
            <a:endParaRPr lang="en-US" sz="1300" dirty="0"/>
          </a:p>
        </p:txBody>
      </p:sp>
      <p:sp>
        <p:nvSpPr>
          <p:cNvPr id="16" name="Shape 14"/>
          <p:cNvSpPr/>
          <p:nvPr/>
        </p:nvSpPr>
        <p:spPr>
          <a:xfrm>
            <a:off x="3429000" y="3429000"/>
            <a:ext cx="4846320" cy="1280160"/>
          </a:xfrm>
          <a:prstGeom prst="rect">
            <a:avLst/>
          </a:prstGeom>
          <a:solidFill>
            <a:srgbClr val="EDEDED"/>
          </a:solidFill>
          <a:ln w="12700">
            <a:solidFill>
              <a:srgbClr val="EDEDED"/>
            </a:solidFill>
            <a:prstDash val="solid"/>
          </a:ln>
        </p:spPr>
      </p:sp>
      <p:sp>
        <p:nvSpPr>
          <p:cNvPr id="17" name="Text 15"/>
          <p:cNvSpPr txBox="1"/>
          <p:nvPr/>
        </p:nvSpPr>
        <p:spPr>
          <a:xfrm>
            <a:off x="3520440" y="3429000"/>
            <a:ext cx="4663440" cy="1280160"/>
          </a:xfrm>
          <a:prstGeom prst="rect">
            <a:avLst/>
          </a:prstGeom>
          <a:noFill/>
          <a:ln/>
        </p:spPr>
        <p:txBody>
          <a:bodyPr wrap="square" lIns="635" tIns="635" rIns="635" bIns="635" rtlCol="0" anchor="ctr"/>
          <a:lstStyle/>
          <a:p>
            <a:pPr indent="0" marL="0">
              <a:buNone/>
            </a:pPr>
            <a:r>
              <a:rPr lang="en-US" sz="1100" dirty="0">
                <a:solidFill>
                  <a:srgbClr val="222222"/>
                </a:solidFill>
                <a:latin typeface="Arial" pitchFamily="34" charset="0"/>
                <a:ea typeface="Arial" pitchFamily="34" charset="-122"/>
                <a:cs typeface="Arial" pitchFamily="34" charset="-120"/>
              </a:rPr>
              <a:t>282k transactions (+1.5%) while IT FTE grows 29%. PAS cost per transaction is HKD 545 against HKD 27 at Sun Life. STP is not measured; peers report &gt;10% to &gt;70%.</a:t>
            </a:r>
            <a:endParaRPr lang="en-US" sz="1100" dirty="0"/>
          </a:p>
        </p:txBody>
      </p:sp>
      <p:sp>
        <p:nvSpPr>
          <p:cNvPr id="18" name="Shape 16"/>
          <p:cNvSpPr/>
          <p:nvPr/>
        </p:nvSpPr>
        <p:spPr>
          <a:xfrm>
            <a:off x="8412480" y="3429000"/>
            <a:ext cx="3319272" cy="1280160"/>
          </a:xfrm>
          <a:prstGeom prst="rect">
            <a:avLst/>
          </a:prstGeom>
          <a:solidFill>
            <a:srgbClr val="8C8C8C"/>
          </a:solidFill>
          <a:ln w="12700">
            <a:solidFill>
              <a:srgbClr val="8C8C8C"/>
            </a:solidFill>
            <a:prstDash val="solid"/>
          </a:ln>
        </p:spPr>
      </p:sp>
      <p:sp>
        <p:nvSpPr>
          <p:cNvPr id="19" name="Text 17"/>
          <p:cNvSpPr txBox="1"/>
          <p:nvPr/>
        </p:nvSpPr>
        <p:spPr>
          <a:xfrm>
            <a:off x="8503920" y="3429000"/>
            <a:ext cx="3136392" cy="1280160"/>
          </a:xfrm>
          <a:prstGeom prst="rect">
            <a:avLst/>
          </a:prstGeom>
          <a:noFill/>
          <a:ln/>
        </p:spPr>
        <p:txBody>
          <a:bodyPr wrap="square" lIns="635" tIns="635" rIns="635" bIns="635" rtlCol="0" anchor="ctr"/>
          <a:lstStyle/>
          <a:p>
            <a:pPr indent="0" marL="0">
              <a:buNone/>
            </a:pPr>
            <a:r>
              <a:rPr lang="en-US" sz="1100" dirty="0">
                <a:solidFill>
                  <a:srgbClr val="FFFFFF"/>
                </a:solidFill>
                <a:latin typeface="Arial" pitchFamily="34" charset="0"/>
                <a:ea typeface="Arial" pitchFamily="34" charset="-122"/>
                <a:cs typeface="Arial" pitchFamily="34" charset="-120"/>
              </a:rPr>
              <a:t>The PAS is where the cost and automation problem sits. Volumes are low, so replace it in modules rather than all at once.</a:t>
            </a:r>
            <a:endParaRPr lang="en-US" sz="1100" dirty="0"/>
          </a:p>
        </p:txBody>
      </p:sp>
      <p:sp>
        <p:nvSpPr>
          <p:cNvPr id="20" name="Shape 18"/>
          <p:cNvSpPr/>
          <p:nvPr/>
        </p:nvSpPr>
        <p:spPr>
          <a:xfrm>
            <a:off x="457200" y="4846320"/>
            <a:ext cx="2834640" cy="1280160"/>
          </a:xfrm>
          <a:prstGeom prst="rect">
            <a:avLst/>
          </a:prstGeom>
          <a:solidFill>
            <a:srgbClr val="C8102E"/>
          </a:solidFill>
          <a:ln w="12700">
            <a:solidFill>
              <a:srgbClr val="C8102E"/>
            </a:solidFill>
            <a:prstDash val="solid"/>
          </a:ln>
        </p:spPr>
      </p:sp>
      <p:sp>
        <p:nvSpPr>
          <p:cNvPr id="21" name="Text 19"/>
          <p:cNvSpPr txBox="1"/>
          <p:nvPr/>
        </p:nvSpPr>
        <p:spPr>
          <a:xfrm>
            <a:off x="548640" y="4846320"/>
            <a:ext cx="2651760" cy="1280160"/>
          </a:xfrm>
          <a:prstGeom prst="rect">
            <a:avLst/>
          </a:prstGeom>
          <a:noFill/>
          <a:ln/>
        </p:spPr>
        <p:txBody>
          <a:bodyPr wrap="square" lIns="635" tIns="635" rIns="635" bIns="635"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Business outcome: growth comes from policy value, not policy count</a:t>
            </a:r>
            <a:endParaRPr lang="en-US" sz="1300" dirty="0"/>
          </a:p>
        </p:txBody>
      </p:sp>
      <p:sp>
        <p:nvSpPr>
          <p:cNvPr id="22" name="Shape 20"/>
          <p:cNvSpPr/>
          <p:nvPr/>
        </p:nvSpPr>
        <p:spPr>
          <a:xfrm>
            <a:off x="3429000" y="4846320"/>
            <a:ext cx="4846320" cy="1280160"/>
          </a:xfrm>
          <a:prstGeom prst="rect">
            <a:avLst/>
          </a:prstGeom>
          <a:solidFill>
            <a:srgbClr val="EDEDED"/>
          </a:solidFill>
          <a:ln w="12700">
            <a:solidFill>
              <a:srgbClr val="EDEDED"/>
            </a:solidFill>
            <a:prstDash val="solid"/>
          </a:ln>
        </p:spPr>
      </p:sp>
      <p:sp>
        <p:nvSpPr>
          <p:cNvPr id="23" name="Text 21"/>
          <p:cNvSpPr txBox="1"/>
          <p:nvPr/>
        </p:nvSpPr>
        <p:spPr>
          <a:xfrm>
            <a:off x="3520440" y="4846320"/>
            <a:ext cx="4663440" cy="1280160"/>
          </a:xfrm>
          <a:prstGeom prst="rect">
            <a:avLst/>
          </a:prstGeom>
          <a:noFill/>
          <a:ln/>
        </p:spPr>
        <p:txBody>
          <a:bodyPr wrap="square" lIns="635" tIns="635" rIns="635" bIns="635" rtlCol="0" anchor="ctr"/>
          <a:lstStyle/>
          <a:p>
            <a:pPr indent="0" marL="0">
              <a:buNone/>
            </a:pPr>
            <a:r>
              <a:rPr lang="en-US" sz="1100" dirty="0">
                <a:solidFill>
                  <a:srgbClr val="222222"/>
                </a:solidFill>
                <a:latin typeface="Arial" pitchFamily="34" charset="0"/>
                <a:ea typeface="Arial" pitchFamily="34" charset="-122"/>
                <a:cs typeface="Arial" pitchFamily="34" charset="-120"/>
              </a:rPr>
              <a:t>GWP +167% while policies grow +3.9%. Premium per policy rises from HKD 71k to 183k. Digital adoption is 20% against a market range of 30–70%, and IT cost per digital submission is 5× the cost per submission.</a:t>
            </a:r>
            <a:endParaRPr lang="en-US" sz="1100" dirty="0"/>
          </a:p>
        </p:txBody>
      </p:sp>
      <p:sp>
        <p:nvSpPr>
          <p:cNvPr id="24" name="Shape 22"/>
          <p:cNvSpPr/>
          <p:nvPr/>
        </p:nvSpPr>
        <p:spPr>
          <a:xfrm>
            <a:off x="8412480" y="4846320"/>
            <a:ext cx="3319272" cy="1280160"/>
          </a:xfrm>
          <a:prstGeom prst="rect">
            <a:avLst/>
          </a:prstGeom>
          <a:solidFill>
            <a:srgbClr val="8C8C8C"/>
          </a:solidFill>
          <a:ln w="12700">
            <a:solidFill>
              <a:srgbClr val="8C8C8C"/>
            </a:solidFill>
            <a:prstDash val="solid"/>
          </a:ln>
        </p:spPr>
      </p:sp>
      <p:sp>
        <p:nvSpPr>
          <p:cNvPr id="25" name="Text 23"/>
          <p:cNvSpPr txBox="1"/>
          <p:nvPr/>
        </p:nvSpPr>
        <p:spPr>
          <a:xfrm>
            <a:off x="8503920" y="4846320"/>
            <a:ext cx="3136392" cy="1280160"/>
          </a:xfrm>
          <a:prstGeom prst="rect">
            <a:avLst/>
          </a:prstGeom>
          <a:noFill/>
          <a:ln/>
        </p:spPr>
        <p:txBody>
          <a:bodyPr wrap="square" lIns="635" tIns="635" rIns="635" bIns="635" rtlCol="0" anchor="ctr"/>
          <a:lstStyle/>
          <a:p>
            <a:pPr indent="0" marL="0">
              <a:buNone/>
            </a:pPr>
            <a:r>
              <a:rPr lang="en-US" sz="1100" dirty="0">
                <a:solidFill>
                  <a:srgbClr val="FFFFFF"/>
                </a:solidFill>
                <a:latin typeface="Arial" pitchFamily="34" charset="0"/>
                <a:ea typeface="Arial" pitchFamily="34" charset="-122"/>
                <a:cs typeface="Arial" pitchFamily="34" charset="-120"/>
              </a:rPr>
              <a:t>Link IT spend to the segments that drive growth (HNW compared with mass market) and to digital adoption.</a:t>
            </a:r>
            <a:endParaRPr lang="en-US" sz="1100" dirty="0"/>
          </a:p>
        </p:txBody>
      </p:sp>
      <p:sp>
        <p:nvSpPr>
          <p:cNvPr id="26" name="Text 24"/>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Client FY2025 actuals and FY2026E budget; Sun Life HK current; peer benchmarks (AIA, Prudential, Manulife) and market ranges from IT cost breakdown, RGT mix and technology category studies.</a:t>
            </a:r>
            <a:endParaRPr lang="en-US" sz="850" dirty="0"/>
          </a:p>
        </p:txBody>
      </p:sp>
      <p:sp>
        <p:nvSpPr>
          <p:cNvPr id="27" name="Text 25"/>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02 </a:t>
            </a:r>
            <a:pPr indent="0" marL="0">
              <a:buNone/>
            </a:pPr>
            <a:r>
              <a:rPr lang="en-US" sz="1300" dirty="0">
                <a:solidFill>
                  <a:srgbClr val="C8102E"/>
                </a:solidFill>
                <a:latin typeface="Arial" pitchFamily="34" charset="0"/>
                <a:ea typeface="Arial" pitchFamily="34" charset="-122"/>
                <a:cs typeface="Arial" pitchFamily="34" charset="-120"/>
              </a:rPr>
              <a:t>| IT Cost – Headline</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A lean IT function: IT spend grows 71% while premiums grow 167%</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IT intensity falls from 0.15% to 0.09% of GWP, well below the peer level of about 0.7%. The client can afford more investment. What matters is where that investment goes.</a:t>
            </a:r>
            <a:endParaRPr lang="en-US" sz="1250" dirty="0"/>
          </a:p>
        </p:txBody>
      </p:sp>
      <p:graphicFrame>
        <p:nvGraphicFramePr>
          <p:cNvPr id="5" name="Chart 0" descr=""/>
          <p:cNvGraphicFramePr/>
          <p:nvPr/>
        </p:nvGraphicFramePr>
        <p:xfrm>
          <a:off x="457200" y="169164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6126480"/>
            <a:ext cx="6035040" cy="228600"/>
          </a:xfrm>
          <a:prstGeom prst="rect">
            <a:avLst/>
          </a:prstGeom>
          <a:noFill/>
          <a:ln/>
        </p:spPr>
        <p:txBody>
          <a:bodyPr wrap="square" lIns="0" tIns="0" rIns="0" bIns="0" rtlCol="0" anchor="ctr"/>
          <a:lstStyle/>
          <a:p>
            <a:pPr indent="0" marL="0">
              <a:buNone/>
            </a:pPr>
            <a:r>
              <a:rPr lang="en-US" sz="850" i="1" dirty="0">
                <a:solidFill>
                  <a:srgbClr val="7F7F7F"/>
                </a:solidFill>
                <a:latin typeface="Arial" pitchFamily="34" charset="0"/>
                <a:ea typeface="Arial" pitchFamily="34" charset="-122"/>
                <a:cs typeface="Arial" pitchFamily="34" charset="-120"/>
              </a:rPr>
              <a:t>*Mid-point of peer range (AIA 690–805, Pru 403–518, Manulife 230–345)</a:t>
            </a:r>
            <a:endParaRPr lang="en-US" sz="850" dirty="0"/>
          </a:p>
        </p:txBody>
      </p:sp>
      <p:sp>
        <p:nvSpPr>
          <p:cNvPr id="7" name="Shape 4"/>
          <p:cNvSpPr/>
          <p:nvPr/>
        </p:nvSpPr>
        <p:spPr>
          <a:xfrm>
            <a:off x="6858000" y="1691640"/>
            <a:ext cx="4873752" cy="347472"/>
          </a:xfrm>
          <a:prstGeom prst="rect">
            <a:avLst/>
          </a:prstGeom>
          <a:solidFill>
            <a:srgbClr val="C8102E"/>
          </a:solidFill>
          <a:ln w="12700">
            <a:solidFill>
              <a:srgbClr val="C8102E"/>
            </a:solidFill>
            <a:prstDash val="solid"/>
          </a:ln>
        </p:spPr>
      </p:sp>
      <p:sp>
        <p:nvSpPr>
          <p:cNvPr id="8" name="Text 5"/>
          <p:cNvSpPr txBox="1"/>
          <p:nvPr/>
        </p:nvSpPr>
        <p:spPr>
          <a:xfrm>
            <a:off x="6949440" y="1691640"/>
            <a:ext cx="469087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IT intensity: IT spend as % of GWP</a:t>
            </a:r>
            <a:endParaRPr lang="en-US" sz="1200" dirty="0"/>
          </a:p>
        </p:txBody>
      </p:sp>
      <p:sp>
        <p:nvSpPr>
          <p:cNvPr id="9" name="Text 6"/>
          <p:cNvSpPr txBox="1"/>
          <p:nvPr/>
        </p:nvSpPr>
        <p:spPr>
          <a:xfrm>
            <a:off x="6903720" y="2148840"/>
            <a:ext cx="2345436"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0.15%</a:t>
            </a:r>
            <a:endParaRPr lang="en-US" sz="3000" dirty="0"/>
          </a:p>
        </p:txBody>
      </p:sp>
      <p:sp>
        <p:nvSpPr>
          <p:cNvPr id="10" name="Text 7"/>
          <p:cNvSpPr txBox="1"/>
          <p:nvPr/>
        </p:nvSpPr>
        <p:spPr>
          <a:xfrm>
            <a:off x="6903720" y="2715768"/>
            <a:ext cx="234543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Client FY25</a:t>
            </a:r>
            <a:endParaRPr lang="en-US" sz="1050" dirty="0"/>
          </a:p>
        </p:txBody>
      </p:sp>
      <p:sp>
        <p:nvSpPr>
          <p:cNvPr id="11" name="Text 8"/>
          <p:cNvSpPr txBox="1"/>
          <p:nvPr/>
        </p:nvSpPr>
        <p:spPr>
          <a:xfrm>
            <a:off x="9340596" y="2148840"/>
            <a:ext cx="2345436"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0.09%</a:t>
            </a:r>
            <a:endParaRPr lang="en-US" sz="3000" dirty="0"/>
          </a:p>
        </p:txBody>
      </p:sp>
      <p:sp>
        <p:nvSpPr>
          <p:cNvPr id="12" name="Text 9"/>
          <p:cNvSpPr txBox="1"/>
          <p:nvPr/>
        </p:nvSpPr>
        <p:spPr>
          <a:xfrm>
            <a:off x="9340596" y="2715768"/>
            <a:ext cx="234543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Client FY26E</a:t>
            </a:r>
            <a:endParaRPr lang="en-US" sz="1050" dirty="0"/>
          </a:p>
        </p:txBody>
      </p:sp>
      <p:sp>
        <p:nvSpPr>
          <p:cNvPr id="13" name="Text 10"/>
          <p:cNvSpPr txBox="1"/>
          <p:nvPr/>
        </p:nvSpPr>
        <p:spPr>
          <a:xfrm>
            <a:off x="6903720" y="3246120"/>
            <a:ext cx="2345436" cy="548640"/>
          </a:xfrm>
          <a:prstGeom prst="rect">
            <a:avLst/>
          </a:prstGeom>
          <a:noFill/>
          <a:ln/>
        </p:spPr>
        <p:txBody>
          <a:bodyPr wrap="square" lIns="0" tIns="0" rIns="0" bIns="0" rtlCol="0" anchor="ctr"/>
          <a:lstStyle/>
          <a:p>
            <a:pPr indent="0" marL="0">
              <a:buNone/>
            </a:pPr>
            <a:r>
              <a:rPr lang="en-US" sz="3000" b="1" dirty="0">
                <a:solidFill>
                  <a:srgbClr val="595959"/>
                </a:solidFill>
                <a:latin typeface="Arial" pitchFamily="34" charset="0"/>
                <a:ea typeface="Arial" pitchFamily="34" charset="-122"/>
                <a:cs typeface="Arial" pitchFamily="34" charset="-120"/>
              </a:rPr>
              <a:t>0.7%</a:t>
            </a:r>
            <a:endParaRPr lang="en-US" sz="3000" dirty="0"/>
          </a:p>
        </p:txBody>
      </p:sp>
      <p:sp>
        <p:nvSpPr>
          <p:cNvPr id="14" name="Text 11"/>
          <p:cNvSpPr txBox="1"/>
          <p:nvPr/>
        </p:nvSpPr>
        <p:spPr>
          <a:xfrm>
            <a:off x="6903720" y="3813048"/>
            <a:ext cx="234543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AIA / Manulife</a:t>
            </a:r>
            <a:endParaRPr lang="en-US" sz="1050" dirty="0"/>
          </a:p>
        </p:txBody>
      </p:sp>
      <p:sp>
        <p:nvSpPr>
          <p:cNvPr id="15" name="Text 12"/>
          <p:cNvSpPr txBox="1"/>
          <p:nvPr/>
        </p:nvSpPr>
        <p:spPr>
          <a:xfrm>
            <a:off x="9340596" y="3246120"/>
            <a:ext cx="2345436" cy="548640"/>
          </a:xfrm>
          <a:prstGeom prst="rect">
            <a:avLst/>
          </a:prstGeom>
          <a:noFill/>
          <a:ln/>
        </p:spPr>
        <p:txBody>
          <a:bodyPr wrap="square" lIns="0" tIns="0" rIns="0" bIns="0" rtlCol="0" anchor="ctr"/>
          <a:lstStyle/>
          <a:p>
            <a:pPr indent="0" marL="0">
              <a:buNone/>
            </a:pPr>
            <a:r>
              <a:rPr lang="en-US" sz="3000" b="1" dirty="0">
                <a:solidFill>
                  <a:srgbClr val="595959"/>
                </a:solidFill>
                <a:latin typeface="Arial" pitchFamily="34" charset="0"/>
                <a:ea typeface="Arial" pitchFamily="34" charset="-122"/>
                <a:cs typeface="Arial" pitchFamily="34" charset="-120"/>
              </a:rPr>
              <a:t>0.6%</a:t>
            </a:r>
            <a:endParaRPr lang="en-US" sz="3000" dirty="0"/>
          </a:p>
        </p:txBody>
      </p:sp>
      <p:sp>
        <p:nvSpPr>
          <p:cNvPr id="16" name="Text 13"/>
          <p:cNvSpPr txBox="1"/>
          <p:nvPr/>
        </p:nvSpPr>
        <p:spPr>
          <a:xfrm>
            <a:off x="9340596" y="3813048"/>
            <a:ext cx="234543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Prudential</a:t>
            </a:r>
            <a:endParaRPr lang="en-US" sz="1050" dirty="0"/>
          </a:p>
        </p:txBody>
      </p:sp>
      <p:sp>
        <p:nvSpPr>
          <p:cNvPr id="17" name="Shape 14"/>
          <p:cNvSpPr/>
          <p:nvPr/>
        </p:nvSpPr>
        <p:spPr>
          <a:xfrm>
            <a:off x="6858000" y="4434840"/>
            <a:ext cx="4873752" cy="1691640"/>
          </a:xfrm>
          <a:prstGeom prst="rect">
            <a:avLst/>
          </a:prstGeom>
          <a:solidFill>
            <a:srgbClr val="8C8C8C"/>
          </a:solidFill>
          <a:ln w="12700">
            <a:solidFill>
              <a:srgbClr val="8C8C8C"/>
            </a:solidFill>
            <a:prstDash val="solid"/>
          </a:ln>
        </p:spPr>
      </p:sp>
      <p:sp>
        <p:nvSpPr>
          <p:cNvPr id="18" name="Text 15"/>
          <p:cNvSpPr txBox="1"/>
          <p:nvPr/>
        </p:nvSpPr>
        <p:spPr>
          <a:xfrm>
            <a:off x="6949440" y="4434840"/>
            <a:ext cx="4690872" cy="1691640"/>
          </a:xfrm>
          <a:prstGeom prst="rect">
            <a:avLst/>
          </a:prstGeom>
          <a:noFill/>
          <a:ln/>
        </p:spPr>
        <p:txBody>
          <a:bodyPr wrap="square" lIns="635" tIns="635" rIns="635" bIns="635" rtlCol="0" anchor="ctr"/>
          <a:lstStyle/>
          <a:p>
            <a:pPr indent="0" marL="0">
              <a:buNone/>
            </a:pPr>
            <a:r>
              <a:rPr lang="en-US" sz="1100" dirty="0">
                <a:solidFill>
                  <a:srgbClr val="FFFFFF"/>
                </a:solidFill>
                <a:latin typeface="Arial" pitchFamily="34" charset="0"/>
                <a:ea typeface="Arial" pitchFamily="34" charset="-122"/>
                <a:cs typeface="Arial" pitchFamily="34" charset="-120"/>
              </a:rPr>
              <a:t>Growth is coming through premium size, not headcount or volume. IT FTE rises from 66 to 85 (+29%) and IT spend per FTE from HKD 1.17m to 1.56m. Peers run 100–300 IT FTE. Because the base is small and growing fast, the choices made now will set the future run cost.</a:t>
            </a:r>
            <a:endParaRPr lang="en-US" sz="1100" dirty="0"/>
          </a:p>
        </p:txBody>
      </p:sp>
      <p:sp>
        <p:nvSpPr>
          <p:cNvPr id="19" name="Text 16"/>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Client FY2025 actuals and FY2026E budget; Sun Life HK current; peer benchmarks (AIA, Prudential, Manulife) and market ranges from IT cost breakdown, RGT mix and technology category studies. Sun Life IT/GWP (16.8%) excluded as the premium base looks inconsistent. See data gaps.</a:t>
            </a:r>
            <a:endParaRPr lang="en-US" sz="850" dirty="0"/>
          </a:p>
        </p:txBody>
      </p:sp>
      <p:sp>
        <p:nvSpPr>
          <p:cNvPr id="20" name="Text 17"/>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03 </a:t>
            </a:r>
            <a:pPr indent="0" marL="0">
              <a:buNone/>
            </a:pPr>
            <a:r>
              <a:rPr lang="en-US" sz="1300" dirty="0">
                <a:solidFill>
                  <a:srgbClr val="C8102E"/>
                </a:solidFill>
                <a:latin typeface="Arial" pitchFamily="34" charset="0"/>
                <a:ea typeface="Arial" pitchFamily="34" charset="-122"/>
                <a:cs typeface="Arial" pitchFamily="34" charset="-120"/>
              </a:rPr>
              <a:t>| IT Cost – Structure</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How IT money is spent, not how much, is what supports the Option 3+ lenses</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74% of IT spend already goes on change, but mostly through external labour and on-premise infrastructure. Without resilience and acceleration guardrails, today's change spend will turn into tomorrow's run cost and vendor lock-in.</a:t>
            </a:r>
            <a:endParaRPr lang="en-US" sz="1250" dirty="0"/>
          </a:p>
        </p:txBody>
      </p:sp>
      <p:graphicFrame>
        <p:nvGraphicFramePr>
          <p:cNvPr id="5" name="Chart 0" descr=""/>
          <p:cNvGraphicFramePr/>
          <p:nvPr/>
        </p:nvGraphicFramePr>
        <p:xfrm>
          <a:off x="457200" y="169164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98080" y="1691640"/>
            <a:ext cx="4233672" cy="347472"/>
          </a:xfrm>
          <a:prstGeom prst="rect">
            <a:avLst/>
          </a:prstGeom>
          <a:solidFill>
            <a:srgbClr val="C8102E"/>
          </a:solidFill>
          <a:ln w="12700">
            <a:solidFill>
              <a:srgbClr val="C8102E"/>
            </a:solidFill>
            <a:prstDash val="solid"/>
          </a:ln>
        </p:spPr>
      </p:sp>
      <p:sp>
        <p:nvSpPr>
          <p:cNvPr id="7" name="Text 4"/>
          <p:cNvSpPr txBox="1"/>
          <p:nvPr/>
        </p:nvSpPr>
        <p:spPr>
          <a:xfrm>
            <a:off x="7589520" y="1691640"/>
            <a:ext cx="405079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Change-heavy mix</a:t>
            </a:r>
            <a:endParaRPr lang="en-US" sz="1200" dirty="0"/>
          </a:p>
        </p:txBody>
      </p:sp>
      <p:sp>
        <p:nvSpPr>
          <p:cNvPr id="8" name="Shape 5"/>
          <p:cNvSpPr/>
          <p:nvPr/>
        </p:nvSpPr>
        <p:spPr>
          <a:xfrm>
            <a:off x="7498080" y="2039112"/>
            <a:ext cx="4233672" cy="1051560"/>
          </a:xfrm>
          <a:prstGeom prst="rect">
            <a:avLst/>
          </a:prstGeom>
          <a:solidFill>
            <a:srgbClr val="EDEDED"/>
          </a:solidFill>
          <a:ln w="12700">
            <a:solidFill>
              <a:srgbClr val="EDEDED"/>
            </a:solidFill>
            <a:prstDash val="solid"/>
          </a:ln>
        </p:spPr>
      </p:sp>
      <p:sp>
        <p:nvSpPr>
          <p:cNvPr id="9" name="Text 6"/>
          <p:cNvSpPr txBox="1"/>
          <p:nvPr/>
        </p:nvSpPr>
        <p:spPr>
          <a:xfrm>
            <a:off x="7589520" y="2039112"/>
            <a:ext cx="4050792" cy="1051560"/>
          </a:xfrm>
          <a:prstGeom prst="rect">
            <a:avLst/>
          </a:prstGeom>
          <a:noFill/>
          <a:ln/>
        </p:spPr>
        <p:txBody>
          <a:bodyPr wrap="square" lIns="635" tIns="635" rIns="635" bIns="635" rtlCol="0" anchor="ctr"/>
          <a:lstStyle/>
          <a:p>
            <a:pPr indent="0" marL="0">
              <a:buNone/>
            </a:pPr>
            <a:r>
              <a:rPr lang="en-US" sz="1100" dirty="0">
                <a:solidFill>
                  <a:srgbClr val="222222"/>
                </a:solidFill>
                <a:latin typeface="Arial" pitchFamily="34" charset="0"/>
                <a:ea typeface="Arial" pitchFamily="34" charset="-122"/>
                <a:cs typeface="Arial" pitchFamily="34" charset="-120"/>
              </a:rPr>
              <a:t>Run is 26% against 64% for the market. The client is building, and must make sure new builds are modular and cheap to run.</a:t>
            </a:r>
            <a:endParaRPr lang="en-US" sz="1100" dirty="0"/>
          </a:p>
        </p:txBody>
      </p:sp>
      <p:sp>
        <p:nvSpPr>
          <p:cNvPr id="10" name="Shape 7"/>
          <p:cNvSpPr/>
          <p:nvPr/>
        </p:nvSpPr>
        <p:spPr>
          <a:xfrm>
            <a:off x="7498080" y="3246120"/>
            <a:ext cx="4233672" cy="347472"/>
          </a:xfrm>
          <a:prstGeom prst="rect">
            <a:avLst/>
          </a:prstGeom>
          <a:solidFill>
            <a:srgbClr val="C8102E"/>
          </a:solidFill>
          <a:ln w="12700">
            <a:solidFill>
              <a:srgbClr val="C8102E"/>
            </a:solidFill>
            <a:prstDash val="solid"/>
          </a:ln>
        </p:spPr>
      </p:sp>
      <p:sp>
        <p:nvSpPr>
          <p:cNvPr id="11" name="Text 8"/>
          <p:cNvSpPr txBox="1"/>
          <p:nvPr/>
        </p:nvSpPr>
        <p:spPr>
          <a:xfrm>
            <a:off x="7589520" y="3246120"/>
            <a:ext cx="405079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Vendor dependency</a:t>
            </a:r>
            <a:endParaRPr lang="en-US" sz="1200" dirty="0"/>
          </a:p>
        </p:txBody>
      </p:sp>
      <p:sp>
        <p:nvSpPr>
          <p:cNvPr id="12" name="Shape 9"/>
          <p:cNvSpPr/>
          <p:nvPr/>
        </p:nvSpPr>
        <p:spPr>
          <a:xfrm>
            <a:off x="7498080" y="3593592"/>
            <a:ext cx="4233672" cy="1051560"/>
          </a:xfrm>
          <a:prstGeom prst="rect">
            <a:avLst/>
          </a:prstGeom>
          <a:solidFill>
            <a:srgbClr val="EDEDED"/>
          </a:solidFill>
          <a:ln w="12700">
            <a:solidFill>
              <a:srgbClr val="EDEDED"/>
            </a:solidFill>
            <a:prstDash val="solid"/>
          </a:ln>
        </p:spPr>
      </p:sp>
      <p:sp>
        <p:nvSpPr>
          <p:cNvPr id="13" name="Text 10"/>
          <p:cNvSpPr txBox="1"/>
          <p:nvPr/>
        </p:nvSpPr>
        <p:spPr>
          <a:xfrm>
            <a:off x="7589520" y="3593592"/>
            <a:ext cx="4050792" cy="1051560"/>
          </a:xfrm>
          <a:prstGeom prst="rect">
            <a:avLst/>
          </a:prstGeom>
          <a:noFill/>
          <a:ln/>
        </p:spPr>
        <p:txBody>
          <a:bodyPr wrap="square" lIns="635" tIns="635" rIns="635" bIns="635" rtlCol="0" anchor="ctr"/>
          <a:lstStyle/>
          <a:p>
            <a:pPr indent="0" marL="0">
              <a:buNone/>
            </a:pPr>
            <a:r>
              <a:rPr lang="en-US" sz="1100" dirty="0">
                <a:solidFill>
                  <a:srgbClr val="222222"/>
                </a:solidFill>
                <a:latin typeface="Arial" pitchFamily="34" charset="0"/>
                <a:ea typeface="Arial" pitchFamily="34" charset="-122"/>
                <a:cs typeface="Arial" pitchFamily="34" charset="-120"/>
              </a:rPr>
              <a:t>External labour is 37% against a 16% market benchmark. This is the concentration and portability risk the geo-political resilience lens covers.</a:t>
            </a:r>
            <a:endParaRPr lang="en-US" sz="1100" dirty="0"/>
          </a:p>
        </p:txBody>
      </p:sp>
      <p:sp>
        <p:nvSpPr>
          <p:cNvPr id="14" name="Shape 11"/>
          <p:cNvSpPr/>
          <p:nvPr/>
        </p:nvSpPr>
        <p:spPr>
          <a:xfrm>
            <a:off x="7498080" y="4800600"/>
            <a:ext cx="4233672" cy="347472"/>
          </a:xfrm>
          <a:prstGeom prst="rect">
            <a:avLst/>
          </a:prstGeom>
          <a:solidFill>
            <a:srgbClr val="C8102E"/>
          </a:solidFill>
          <a:ln w="12700">
            <a:solidFill>
              <a:srgbClr val="C8102E"/>
            </a:solidFill>
            <a:prstDash val="solid"/>
          </a:ln>
        </p:spPr>
      </p:sp>
      <p:sp>
        <p:nvSpPr>
          <p:cNvPr id="15" name="Text 12"/>
          <p:cNvSpPr txBox="1"/>
          <p:nvPr/>
        </p:nvSpPr>
        <p:spPr>
          <a:xfrm>
            <a:off x="7589520" y="4800600"/>
            <a:ext cx="405079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Legacy infrastructure</a:t>
            </a:r>
            <a:endParaRPr lang="en-US" sz="1200" dirty="0"/>
          </a:p>
        </p:txBody>
      </p:sp>
      <p:sp>
        <p:nvSpPr>
          <p:cNvPr id="16" name="Shape 13"/>
          <p:cNvSpPr/>
          <p:nvPr/>
        </p:nvSpPr>
        <p:spPr>
          <a:xfrm>
            <a:off x="7498080" y="5148072"/>
            <a:ext cx="4233672" cy="1051560"/>
          </a:xfrm>
          <a:prstGeom prst="rect">
            <a:avLst/>
          </a:prstGeom>
          <a:solidFill>
            <a:srgbClr val="EDEDED"/>
          </a:solidFill>
          <a:ln w="12700">
            <a:solidFill>
              <a:srgbClr val="EDEDED"/>
            </a:solidFill>
            <a:prstDash val="solid"/>
          </a:ln>
        </p:spPr>
      </p:sp>
      <p:sp>
        <p:nvSpPr>
          <p:cNvPr id="17" name="Text 14"/>
          <p:cNvSpPr txBox="1"/>
          <p:nvPr/>
        </p:nvSpPr>
        <p:spPr>
          <a:xfrm>
            <a:off x="7589520" y="5148072"/>
            <a:ext cx="4050792" cy="1051560"/>
          </a:xfrm>
          <a:prstGeom prst="rect">
            <a:avLst/>
          </a:prstGeom>
          <a:noFill/>
          <a:ln/>
        </p:spPr>
        <p:txBody>
          <a:bodyPr wrap="square" lIns="635" tIns="635" rIns="635" bIns="635" rtlCol="0" anchor="ctr"/>
          <a:lstStyle/>
          <a:p>
            <a:pPr indent="0" marL="0">
              <a:buNone/>
            </a:pPr>
            <a:r>
              <a:rPr lang="en-US" sz="1100" dirty="0">
                <a:solidFill>
                  <a:srgbClr val="222222"/>
                </a:solidFill>
                <a:latin typeface="Arial" pitchFamily="34" charset="0"/>
                <a:ea typeface="Arial" pitchFamily="34" charset="-122"/>
                <a:cs typeface="Arial" pitchFamily="34" charset="-120"/>
              </a:rPr>
              <a:t>Infrastructure is 17% against 4–10% for peers, and cloud is 1.8% against 16–17%. This is the room technology acceleration can use.</a:t>
            </a:r>
            <a:endParaRPr lang="en-US" sz="1100" dirty="0"/>
          </a:p>
        </p:txBody>
      </p:sp>
      <p:sp>
        <p:nvSpPr>
          <p:cNvPr id="18" name="Text 15"/>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Client FY2025 actuals and FY2026E budget; Sun Life HK current; peer benchmarks (AIA, Prudential, Manulife) and market ranges from IT cost breakdown, RGT mix and technology category studies. Peer average is the simple mean of AIA, Prudential and Manulife. Market: run 64%, external labour 16%, internal labour 40%.</a:t>
            </a:r>
            <a:endParaRPr lang="en-US" sz="850" dirty="0"/>
          </a:p>
        </p:txBody>
      </p:sp>
      <p:sp>
        <p:nvSpPr>
          <p:cNvPr id="19" name="Text 16"/>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04 </a:t>
            </a:r>
            <a:pPr indent="0" marL="0">
              <a:buNone/>
            </a:pPr>
            <a:r>
              <a:rPr lang="en-US" sz="1300" dirty="0">
                <a:solidFill>
                  <a:srgbClr val="C8102E"/>
                </a:solidFill>
                <a:latin typeface="Arial" pitchFamily="34" charset="0"/>
                <a:ea typeface="Arial" pitchFamily="34" charset="-122"/>
                <a:cs typeface="Arial" pitchFamily="34" charset="-120"/>
              </a:rPr>
              <a:t>| PAS Deep Dive – Scale &amp; Productivity</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PAS volumes are flat while IT capacity grows, so productivity is falling</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PAS transactions grow 1.5% while IT FTE grows 29%, so transactions per FTE fall 21%. The client handles two-thirds of Sun Life's PAS volume. A full replacement sized for a larger book would be hard to justify.</a:t>
            </a:r>
            <a:endParaRPr lang="en-US" sz="1250" dirty="0"/>
          </a:p>
        </p:txBody>
      </p:sp>
      <p:graphicFrame>
        <p:nvGraphicFramePr>
          <p:cNvPr id="5" name="Chart 0" descr=""/>
          <p:cNvGraphicFramePr/>
          <p:nvPr/>
        </p:nvGraphicFramePr>
        <p:xfrm>
          <a:off x="457200" y="1691640"/>
          <a:ext cx="3636264"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276344" y="1691640"/>
          <a:ext cx="3636264" cy="292608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8095488" y="1691640"/>
          <a:ext cx="3636264" cy="2926080"/>
        </p:xfrm>
        <a:graphic xmlns:a="http://schemas.openxmlformats.org/drawingml/2006/main">
          <a:graphicData uri="http://schemas.openxmlformats.org/drawingml/2006/chart">
            <c:chart xmlns:c="http://schemas.openxmlformats.org/drawingml/2006/chart" r:id="rId3"/>
          </a:graphicData>
        </a:graphic>
      </p:graphicFrame>
      <p:sp>
        <p:nvSpPr>
          <p:cNvPr id="8" name="Shape 3"/>
          <p:cNvSpPr/>
          <p:nvPr/>
        </p:nvSpPr>
        <p:spPr>
          <a:xfrm>
            <a:off x="457200" y="4800600"/>
            <a:ext cx="3636264" cy="1417320"/>
          </a:xfrm>
          <a:prstGeom prst="rect">
            <a:avLst/>
          </a:prstGeom>
          <a:solidFill>
            <a:srgbClr val="EDEDED"/>
          </a:solidFill>
          <a:ln w="12700">
            <a:solidFill>
              <a:srgbClr val="EDEDED"/>
            </a:solidFill>
            <a:prstDash val="solid"/>
          </a:ln>
        </p:spPr>
      </p:sp>
      <p:sp>
        <p:nvSpPr>
          <p:cNvPr id="9" name="Text 4"/>
          <p:cNvSpPr txBox="1"/>
          <p:nvPr/>
        </p:nvSpPr>
        <p:spPr>
          <a:xfrm>
            <a:off x="548640" y="4800600"/>
            <a:ext cx="3453384" cy="1417320"/>
          </a:xfrm>
          <a:prstGeom prst="rect">
            <a:avLst/>
          </a:prstGeom>
          <a:noFill/>
          <a:ln/>
        </p:spPr>
        <p:txBody>
          <a:bodyPr wrap="square" lIns="635" tIns="635" rIns="635" bIns="635" rtlCol="0" anchor="ctr"/>
          <a:lstStyle/>
          <a:p>
            <a:pPr indent="0" marL="0">
              <a:buNone/>
            </a:pPr>
            <a:r>
              <a:rPr lang="en-US" sz="1100" b="1" dirty="0">
                <a:solidFill>
                  <a:srgbClr val="C8102E"/>
                </a:solidFill>
                <a:latin typeface="Arial" pitchFamily="34" charset="0"/>
                <a:ea typeface="Arial" pitchFamily="34" charset="-122"/>
                <a:cs typeface="Arial" pitchFamily="34" charset="-120"/>
              </a:rPr>
              <a:t>Statements per IT FTE</a:t>
            </a:r>
            <a:endParaRPr lang="en-US" sz="1100" dirty="0"/>
          </a:p>
          <a:p>
            <a:pPr indent="0" marL="0">
              <a:buNone/>
            </a:pPr>
            <a:r>
              <a:rPr lang="en-US" sz="1100" dirty="0">
                <a:solidFill>
                  <a:srgbClr val="222222"/>
                </a:solidFill>
                <a:latin typeface="Arial" pitchFamily="34" charset="0"/>
                <a:ea typeface="Arial" pitchFamily="34" charset="-122"/>
                <a:cs typeface="Arial" pitchFamily="34" charset="-120"/>
              </a:rPr>
              <a:t>43 against 986 at Sun Life. Statement production looks manual or outsourced outside the PAS.</a:t>
            </a:r>
            <a:endParaRPr lang="en-US" sz="1100" dirty="0"/>
          </a:p>
        </p:txBody>
      </p:sp>
      <p:sp>
        <p:nvSpPr>
          <p:cNvPr id="10" name="Shape 5"/>
          <p:cNvSpPr/>
          <p:nvPr/>
        </p:nvSpPr>
        <p:spPr>
          <a:xfrm>
            <a:off x="4276344" y="4800600"/>
            <a:ext cx="3636264" cy="1417320"/>
          </a:xfrm>
          <a:prstGeom prst="rect">
            <a:avLst/>
          </a:prstGeom>
          <a:solidFill>
            <a:srgbClr val="EDEDED"/>
          </a:solidFill>
          <a:ln w="12700">
            <a:solidFill>
              <a:srgbClr val="EDEDED"/>
            </a:solidFill>
            <a:prstDash val="solid"/>
          </a:ln>
        </p:spPr>
      </p:sp>
      <p:sp>
        <p:nvSpPr>
          <p:cNvPr id="11" name="Text 6"/>
          <p:cNvSpPr txBox="1"/>
          <p:nvPr/>
        </p:nvSpPr>
        <p:spPr>
          <a:xfrm>
            <a:off x="4367784" y="4800600"/>
            <a:ext cx="3453384" cy="1417320"/>
          </a:xfrm>
          <a:prstGeom prst="rect">
            <a:avLst/>
          </a:prstGeom>
          <a:noFill/>
          <a:ln/>
        </p:spPr>
        <p:txBody>
          <a:bodyPr wrap="square" lIns="635" tIns="635" rIns="635" bIns="635" rtlCol="0" anchor="ctr"/>
          <a:lstStyle/>
          <a:p>
            <a:pPr indent="0" marL="0">
              <a:buNone/>
            </a:pPr>
            <a:r>
              <a:rPr lang="en-US" sz="1100" b="1" dirty="0">
                <a:solidFill>
                  <a:srgbClr val="C8102E"/>
                </a:solidFill>
                <a:latin typeface="Arial" pitchFamily="34" charset="0"/>
                <a:ea typeface="Arial" pitchFamily="34" charset="-122"/>
                <a:cs typeface="Arial" pitchFamily="34" charset="-120"/>
              </a:rPr>
              <a:t>Cancellations per IT FTE</a:t>
            </a:r>
            <a:endParaRPr lang="en-US" sz="1100" dirty="0"/>
          </a:p>
          <a:p>
            <a:pPr indent="0" marL="0">
              <a:buNone/>
            </a:pPr>
            <a:r>
              <a:rPr lang="en-US" sz="1100" dirty="0">
                <a:solidFill>
                  <a:srgbClr val="222222"/>
                </a:solidFill>
                <a:latin typeface="Arial" pitchFamily="34" charset="0"/>
                <a:ea typeface="Arial" pitchFamily="34" charset="-122"/>
                <a:cs typeface="Arial" pitchFamily="34" charset="-120"/>
              </a:rPr>
              <a:t>505 against 64 at Sun Life, and cancellations rise as a share of activity. Is this a retention and product signal to test with the business?</a:t>
            </a:r>
            <a:endParaRPr lang="en-US" sz="1100" dirty="0"/>
          </a:p>
        </p:txBody>
      </p:sp>
      <p:sp>
        <p:nvSpPr>
          <p:cNvPr id="12" name="Shape 7"/>
          <p:cNvSpPr/>
          <p:nvPr/>
        </p:nvSpPr>
        <p:spPr>
          <a:xfrm>
            <a:off x="8095488" y="4800600"/>
            <a:ext cx="3636264" cy="1417320"/>
          </a:xfrm>
          <a:prstGeom prst="rect">
            <a:avLst/>
          </a:prstGeom>
          <a:solidFill>
            <a:srgbClr val="C8102E"/>
          </a:solidFill>
          <a:ln w="12700">
            <a:solidFill>
              <a:srgbClr val="C8102E"/>
            </a:solidFill>
            <a:prstDash val="solid"/>
          </a:ln>
        </p:spPr>
      </p:sp>
      <p:sp>
        <p:nvSpPr>
          <p:cNvPr id="13" name="Text 8"/>
          <p:cNvSpPr txBox="1"/>
          <p:nvPr/>
        </p:nvSpPr>
        <p:spPr>
          <a:xfrm>
            <a:off x="8186928" y="4800600"/>
            <a:ext cx="3453384" cy="1417320"/>
          </a:xfrm>
          <a:prstGeom prst="rect">
            <a:avLst/>
          </a:prstGeom>
          <a:noFill/>
          <a:ln/>
        </p:spPr>
        <p:txBody>
          <a:bodyPr wrap="square" lIns="635" tIns="635" rIns="635" bIns="635" rtlCol="0" anchor="ctr"/>
          <a:lstStyle/>
          <a:p>
            <a:pPr indent="0" marL="0">
              <a:buNone/>
            </a:pPr>
            <a:r>
              <a:rPr lang="en-US" sz="1100" b="1" dirty="0">
                <a:solidFill>
                  <a:srgbClr val="FFFFFF"/>
                </a:solidFill>
                <a:latin typeface="Arial" pitchFamily="34" charset="0"/>
                <a:ea typeface="Arial" pitchFamily="34" charset="-122"/>
                <a:cs typeface="Arial" pitchFamily="34" charset="-120"/>
              </a:rPr>
              <a:t>Implication for Option 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Productivity gains come from automating high-effort journeys (statements, servicing), not from replacing the platform all at once.</a:t>
            </a:r>
            <a:endParaRPr lang="en-US" sz="1100" dirty="0"/>
          </a:p>
        </p:txBody>
      </p:sp>
      <p:sp>
        <p:nvSpPr>
          <p:cNvPr id="14" name="Text 9"/>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Client FY2025 actuals and FY2026E budget; Sun Life HK current; peer benchmarks (AIA, Prudential, Manulife) and market ranges from IT cost breakdown, RGT mix and technology category studies. No competitor PAS volumes available, so Sun Life HK is the only volume comparator.</a:t>
            </a:r>
            <a:endParaRPr lang="en-US" sz="850" dirty="0"/>
          </a:p>
        </p:txBody>
      </p:sp>
      <p:sp>
        <p:nvSpPr>
          <p:cNvPr id="15" name="Text 10"/>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05 </a:t>
            </a:r>
            <a:pPr indent="0" marL="0">
              <a:buNone/>
            </a:pPr>
            <a:r>
              <a:rPr lang="en-US" sz="1300" dirty="0">
                <a:solidFill>
                  <a:srgbClr val="C8102E"/>
                </a:solidFill>
                <a:latin typeface="Arial" pitchFamily="34" charset="0"/>
                <a:ea typeface="Arial" pitchFamily="34" charset="-122"/>
                <a:cs typeface="Arial" pitchFamily="34" charset="-120"/>
              </a:rPr>
              <a:t>| PAS Deep Dive – Unit Cost &amp; Automation</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PAS unit costs are far above benchmark, and automation is not measured</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Even allowing for definition differences, the client pays a large multiple of Sun Life's PAS cost per case. Peers are driving STP towards 30–70%. The client needs an STP baseline before it can measure any modernisation value.</a:t>
            </a:r>
            <a:endParaRPr lang="en-US" sz="1250" dirty="0"/>
          </a:p>
        </p:txBody>
      </p:sp>
      <p:sp>
        <p:nvSpPr>
          <p:cNvPr id="5" name="Shape 3"/>
          <p:cNvSpPr/>
          <p:nvPr/>
        </p:nvSpPr>
        <p:spPr>
          <a:xfrm>
            <a:off x="457200" y="1737360"/>
            <a:ext cx="5486400" cy="347472"/>
          </a:xfrm>
          <a:prstGeom prst="rect">
            <a:avLst/>
          </a:prstGeom>
          <a:solidFill>
            <a:srgbClr val="C8102E"/>
          </a:solidFill>
          <a:ln w="12700">
            <a:solidFill>
              <a:srgbClr val="C8102E"/>
            </a:solidFill>
            <a:prstDash val="solid"/>
          </a:ln>
        </p:spPr>
      </p:sp>
      <p:sp>
        <p:nvSpPr>
          <p:cNvPr id="6" name="Text 4"/>
          <p:cNvSpPr txBox="1"/>
          <p:nvPr/>
        </p:nvSpPr>
        <p:spPr>
          <a:xfrm>
            <a:off x="548640" y="1737360"/>
            <a:ext cx="5303520"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PAS cost per case, FY26E (HKD)</a:t>
            </a:r>
            <a:endParaRPr lang="en-US" sz="1200" dirty="0"/>
          </a:p>
        </p:txBody>
      </p:sp>
      <p:sp>
        <p:nvSpPr>
          <p:cNvPr id="7" name="Text 5"/>
          <p:cNvSpPr txBox="1"/>
          <p:nvPr/>
        </p:nvSpPr>
        <p:spPr>
          <a:xfrm>
            <a:off x="457200" y="2148840"/>
            <a:ext cx="2011680" cy="274320"/>
          </a:xfrm>
          <a:prstGeom prst="rect">
            <a:avLst/>
          </a:prstGeom>
          <a:noFill/>
          <a:ln/>
        </p:spPr>
        <p:txBody>
          <a:bodyPr wrap="square" lIns="635" tIns="635" rIns="635" bIns="635" rtlCol="0" anchor="ctr"/>
          <a:lstStyle/>
          <a:p>
            <a:pPr algn="l" indent="0" marL="0">
              <a:buNone/>
            </a:pPr>
            <a:r>
              <a:rPr lang="en-US" sz="1000" b="1" dirty="0">
                <a:solidFill>
                  <a:srgbClr val="7F7F7F"/>
                </a:solidFill>
                <a:latin typeface="Arial" pitchFamily="34" charset="0"/>
                <a:ea typeface="Arial" pitchFamily="34" charset="-122"/>
                <a:cs typeface="Arial" pitchFamily="34" charset="-120"/>
              </a:rPr>
              <a:t>Metric</a:t>
            </a:r>
            <a:endParaRPr lang="en-US" sz="1000" dirty="0"/>
          </a:p>
        </p:txBody>
      </p:sp>
      <p:sp>
        <p:nvSpPr>
          <p:cNvPr id="8" name="Text 6"/>
          <p:cNvSpPr txBox="1"/>
          <p:nvPr/>
        </p:nvSpPr>
        <p:spPr>
          <a:xfrm>
            <a:off x="2468880" y="2148840"/>
            <a:ext cx="1097280" cy="274320"/>
          </a:xfrm>
          <a:prstGeom prst="rect">
            <a:avLst/>
          </a:prstGeom>
          <a:noFill/>
          <a:ln/>
        </p:spPr>
        <p:txBody>
          <a:bodyPr wrap="square" lIns="635" tIns="635" rIns="635" bIns="635" rtlCol="0" anchor="ctr"/>
          <a:lstStyle/>
          <a:p>
            <a:pPr algn="r" indent="0" marL="0">
              <a:buNone/>
            </a:pPr>
            <a:r>
              <a:rPr lang="en-US" sz="1000" b="1" dirty="0">
                <a:solidFill>
                  <a:srgbClr val="7F7F7F"/>
                </a:solidFill>
                <a:latin typeface="Arial" pitchFamily="34" charset="0"/>
                <a:ea typeface="Arial" pitchFamily="34" charset="-122"/>
                <a:cs typeface="Arial" pitchFamily="34" charset="-120"/>
              </a:rPr>
              <a:t>Client</a:t>
            </a:r>
            <a:endParaRPr lang="en-US" sz="1000" dirty="0"/>
          </a:p>
        </p:txBody>
      </p:sp>
      <p:sp>
        <p:nvSpPr>
          <p:cNvPr id="9" name="Text 7"/>
          <p:cNvSpPr txBox="1"/>
          <p:nvPr/>
        </p:nvSpPr>
        <p:spPr>
          <a:xfrm>
            <a:off x="3566160" y="2148840"/>
            <a:ext cx="1097280" cy="274320"/>
          </a:xfrm>
          <a:prstGeom prst="rect">
            <a:avLst/>
          </a:prstGeom>
          <a:noFill/>
          <a:ln/>
        </p:spPr>
        <p:txBody>
          <a:bodyPr wrap="square" lIns="635" tIns="635" rIns="635" bIns="635" rtlCol="0" anchor="ctr"/>
          <a:lstStyle/>
          <a:p>
            <a:pPr algn="r" indent="0" marL="0">
              <a:buNone/>
            </a:pPr>
            <a:r>
              <a:rPr lang="en-US" sz="1000" b="1" dirty="0">
                <a:solidFill>
                  <a:srgbClr val="7F7F7F"/>
                </a:solidFill>
                <a:latin typeface="Arial" pitchFamily="34" charset="0"/>
                <a:ea typeface="Arial" pitchFamily="34" charset="-122"/>
                <a:cs typeface="Arial" pitchFamily="34" charset="-120"/>
              </a:rPr>
              <a:t>Sun Life</a:t>
            </a:r>
            <a:endParaRPr lang="en-US" sz="1000" dirty="0"/>
          </a:p>
        </p:txBody>
      </p:sp>
      <p:sp>
        <p:nvSpPr>
          <p:cNvPr id="10" name="Text 8"/>
          <p:cNvSpPr txBox="1"/>
          <p:nvPr/>
        </p:nvSpPr>
        <p:spPr>
          <a:xfrm>
            <a:off x="4663440" y="2148840"/>
            <a:ext cx="1280160" cy="274320"/>
          </a:xfrm>
          <a:prstGeom prst="rect">
            <a:avLst/>
          </a:prstGeom>
          <a:noFill/>
          <a:ln/>
        </p:spPr>
        <p:txBody>
          <a:bodyPr wrap="square" lIns="635" tIns="635" rIns="635" bIns="635" rtlCol="0" anchor="ctr"/>
          <a:lstStyle/>
          <a:p>
            <a:pPr algn="r" indent="0" marL="0">
              <a:buNone/>
            </a:pPr>
            <a:r>
              <a:rPr lang="en-US" sz="1000" b="1" dirty="0">
                <a:solidFill>
                  <a:srgbClr val="7F7F7F"/>
                </a:solidFill>
                <a:latin typeface="Arial" pitchFamily="34" charset="0"/>
                <a:ea typeface="Arial" pitchFamily="34" charset="-122"/>
                <a:cs typeface="Arial" pitchFamily="34" charset="-120"/>
              </a:rPr>
              <a:t>Gap</a:t>
            </a:r>
            <a:endParaRPr lang="en-US" sz="1000" dirty="0"/>
          </a:p>
        </p:txBody>
      </p:sp>
      <p:sp>
        <p:nvSpPr>
          <p:cNvPr id="11" name="Shape 9"/>
          <p:cNvSpPr/>
          <p:nvPr/>
        </p:nvSpPr>
        <p:spPr>
          <a:xfrm>
            <a:off x="457200" y="2468880"/>
            <a:ext cx="5486400" cy="475488"/>
          </a:xfrm>
          <a:prstGeom prst="rect">
            <a:avLst/>
          </a:prstGeom>
          <a:solidFill>
            <a:srgbClr val="EDEDED"/>
          </a:solidFill>
          <a:ln w="12700">
            <a:solidFill>
              <a:srgbClr val="EDEDED"/>
            </a:solidFill>
            <a:prstDash val="solid"/>
          </a:ln>
        </p:spPr>
      </p:sp>
      <p:sp>
        <p:nvSpPr>
          <p:cNvPr id="12" name="Text 10"/>
          <p:cNvSpPr txBox="1"/>
          <p:nvPr/>
        </p:nvSpPr>
        <p:spPr>
          <a:xfrm>
            <a:off x="457200" y="2468880"/>
            <a:ext cx="2011680" cy="475488"/>
          </a:xfrm>
          <a:prstGeom prst="rect">
            <a:avLst/>
          </a:prstGeom>
          <a:noFill/>
          <a:ln/>
        </p:spPr>
        <p:txBody>
          <a:bodyPr wrap="square" lIns="1016" tIns="1016" rIns="1016" bIns="1016" rtlCol="0" anchor="ctr"/>
          <a:lstStyle/>
          <a:p>
            <a:pPr algn="l" indent="0" marL="0">
              <a:buNone/>
            </a:pPr>
            <a:r>
              <a:rPr lang="en-US" sz="1200" dirty="0">
                <a:solidFill>
                  <a:srgbClr val="222222"/>
                </a:solidFill>
                <a:latin typeface="Arial" pitchFamily="34" charset="0"/>
                <a:ea typeface="Arial" pitchFamily="34" charset="-122"/>
                <a:cs typeface="Arial" pitchFamily="34" charset="-120"/>
              </a:rPr>
              <a:t>Per PAS transaction</a:t>
            </a:r>
            <a:endParaRPr lang="en-US" sz="1200" dirty="0"/>
          </a:p>
        </p:txBody>
      </p:sp>
      <p:sp>
        <p:nvSpPr>
          <p:cNvPr id="13" name="Text 11"/>
          <p:cNvSpPr txBox="1"/>
          <p:nvPr/>
        </p:nvSpPr>
        <p:spPr>
          <a:xfrm>
            <a:off x="2468880" y="2468880"/>
            <a:ext cx="1097280" cy="475488"/>
          </a:xfrm>
          <a:prstGeom prst="rect">
            <a:avLst/>
          </a:prstGeom>
          <a:noFill/>
          <a:ln/>
        </p:spPr>
        <p:txBody>
          <a:bodyPr wrap="square" lIns="1016" tIns="1016" rIns="1016" bIns="1016" rtlCol="0" anchor="ctr"/>
          <a:lstStyle/>
          <a:p>
            <a:pPr algn="r" indent="0" marL="0">
              <a:buNone/>
            </a:pPr>
            <a:r>
              <a:rPr lang="en-US" sz="1200" dirty="0">
                <a:solidFill>
                  <a:srgbClr val="222222"/>
                </a:solidFill>
                <a:latin typeface="Arial" pitchFamily="34" charset="0"/>
                <a:ea typeface="Arial" pitchFamily="34" charset="-122"/>
                <a:cs typeface="Arial" pitchFamily="34" charset="-120"/>
              </a:rPr>
              <a:t>545</a:t>
            </a:r>
            <a:endParaRPr lang="en-US" sz="1200" dirty="0"/>
          </a:p>
        </p:txBody>
      </p:sp>
      <p:sp>
        <p:nvSpPr>
          <p:cNvPr id="14" name="Text 12"/>
          <p:cNvSpPr txBox="1"/>
          <p:nvPr/>
        </p:nvSpPr>
        <p:spPr>
          <a:xfrm>
            <a:off x="3566160" y="2468880"/>
            <a:ext cx="1097280" cy="475488"/>
          </a:xfrm>
          <a:prstGeom prst="rect">
            <a:avLst/>
          </a:prstGeom>
          <a:noFill/>
          <a:ln/>
        </p:spPr>
        <p:txBody>
          <a:bodyPr wrap="square" lIns="1016" tIns="1016" rIns="1016" bIns="1016" rtlCol="0" anchor="ctr"/>
          <a:lstStyle/>
          <a:p>
            <a:pPr algn="r" indent="0" marL="0">
              <a:buNone/>
            </a:pPr>
            <a:r>
              <a:rPr lang="en-US" sz="1200" dirty="0">
                <a:solidFill>
                  <a:srgbClr val="222222"/>
                </a:solidFill>
                <a:latin typeface="Arial" pitchFamily="34" charset="0"/>
                <a:ea typeface="Arial" pitchFamily="34" charset="-122"/>
                <a:cs typeface="Arial" pitchFamily="34" charset="-120"/>
              </a:rPr>
              <a:t>27</a:t>
            </a:r>
            <a:endParaRPr lang="en-US" sz="1200" dirty="0"/>
          </a:p>
        </p:txBody>
      </p:sp>
      <p:sp>
        <p:nvSpPr>
          <p:cNvPr id="15" name="Text 13"/>
          <p:cNvSpPr txBox="1"/>
          <p:nvPr/>
        </p:nvSpPr>
        <p:spPr>
          <a:xfrm>
            <a:off x="4663440" y="2468880"/>
            <a:ext cx="1280160" cy="475488"/>
          </a:xfrm>
          <a:prstGeom prst="rect">
            <a:avLst/>
          </a:prstGeom>
          <a:noFill/>
          <a:ln/>
        </p:spPr>
        <p:txBody>
          <a:bodyPr wrap="square" lIns="1016" tIns="1016" rIns="1016" bIns="1016" rtlCol="0" anchor="ctr"/>
          <a:lstStyle/>
          <a:p>
            <a:pPr algn="r" indent="0" marL="0">
              <a:buNone/>
            </a:pPr>
            <a:r>
              <a:rPr lang="en-US" sz="1200" b="1" dirty="0">
                <a:solidFill>
                  <a:srgbClr val="C8102E"/>
                </a:solidFill>
                <a:latin typeface="Arial" pitchFamily="34" charset="0"/>
                <a:ea typeface="Arial" pitchFamily="34" charset="-122"/>
                <a:cs typeface="Arial" pitchFamily="34" charset="-120"/>
              </a:rPr>
              <a:t>~20×</a:t>
            </a:r>
            <a:endParaRPr lang="en-US" sz="1200" dirty="0"/>
          </a:p>
        </p:txBody>
      </p:sp>
      <p:sp>
        <p:nvSpPr>
          <p:cNvPr id="16" name="Shape 14"/>
          <p:cNvSpPr/>
          <p:nvPr/>
        </p:nvSpPr>
        <p:spPr>
          <a:xfrm>
            <a:off x="457200" y="3035808"/>
            <a:ext cx="5486400" cy="475488"/>
          </a:xfrm>
          <a:prstGeom prst="rect">
            <a:avLst/>
          </a:prstGeom>
          <a:solidFill>
            <a:srgbClr val="EDEDED"/>
          </a:solidFill>
          <a:ln w="12700">
            <a:solidFill>
              <a:srgbClr val="EDEDED"/>
            </a:solidFill>
            <a:prstDash val="solid"/>
          </a:ln>
        </p:spPr>
      </p:sp>
      <p:sp>
        <p:nvSpPr>
          <p:cNvPr id="17" name="Text 15"/>
          <p:cNvSpPr txBox="1"/>
          <p:nvPr/>
        </p:nvSpPr>
        <p:spPr>
          <a:xfrm>
            <a:off x="457200" y="3035808"/>
            <a:ext cx="2011680" cy="475488"/>
          </a:xfrm>
          <a:prstGeom prst="rect">
            <a:avLst/>
          </a:prstGeom>
          <a:noFill/>
          <a:ln/>
        </p:spPr>
        <p:txBody>
          <a:bodyPr wrap="square" lIns="1016" tIns="1016" rIns="1016" bIns="1016" rtlCol="0" anchor="ctr"/>
          <a:lstStyle/>
          <a:p>
            <a:pPr algn="l" indent="0" marL="0">
              <a:buNone/>
            </a:pPr>
            <a:r>
              <a:rPr lang="en-US" sz="1200" dirty="0">
                <a:solidFill>
                  <a:srgbClr val="222222"/>
                </a:solidFill>
                <a:latin typeface="Arial" pitchFamily="34" charset="0"/>
                <a:ea typeface="Arial" pitchFamily="34" charset="-122"/>
                <a:cs typeface="Arial" pitchFamily="34" charset="-120"/>
              </a:rPr>
              <a:t>Per statement</a:t>
            </a:r>
            <a:endParaRPr lang="en-US" sz="1200" dirty="0"/>
          </a:p>
        </p:txBody>
      </p:sp>
      <p:sp>
        <p:nvSpPr>
          <p:cNvPr id="18" name="Text 16"/>
          <p:cNvSpPr txBox="1"/>
          <p:nvPr/>
        </p:nvSpPr>
        <p:spPr>
          <a:xfrm>
            <a:off x="2468880" y="3035808"/>
            <a:ext cx="1097280" cy="475488"/>
          </a:xfrm>
          <a:prstGeom prst="rect">
            <a:avLst/>
          </a:prstGeom>
          <a:noFill/>
          <a:ln/>
        </p:spPr>
        <p:txBody>
          <a:bodyPr wrap="square" lIns="1016" tIns="1016" rIns="1016" bIns="1016" rtlCol="0" anchor="ctr"/>
          <a:lstStyle/>
          <a:p>
            <a:pPr algn="r" indent="0" marL="0">
              <a:buNone/>
            </a:pPr>
            <a:r>
              <a:rPr lang="en-US" sz="1200" dirty="0">
                <a:solidFill>
                  <a:srgbClr val="222222"/>
                </a:solidFill>
                <a:latin typeface="Arial" pitchFamily="34" charset="0"/>
                <a:ea typeface="Arial" pitchFamily="34" charset="-122"/>
                <a:cs typeface="Arial" pitchFamily="34" charset="-120"/>
              </a:rPr>
              <a:t>42,073</a:t>
            </a:r>
            <a:endParaRPr lang="en-US" sz="1200" dirty="0"/>
          </a:p>
        </p:txBody>
      </p:sp>
      <p:sp>
        <p:nvSpPr>
          <p:cNvPr id="19" name="Text 17"/>
          <p:cNvSpPr txBox="1"/>
          <p:nvPr/>
        </p:nvSpPr>
        <p:spPr>
          <a:xfrm>
            <a:off x="3566160" y="3035808"/>
            <a:ext cx="1097280" cy="475488"/>
          </a:xfrm>
          <a:prstGeom prst="rect">
            <a:avLst/>
          </a:prstGeom>
          <a:noFill/>
          <a:ln/>
        </p:spPr>
        <p:txBody>
          <a:bodyPr wrap="square" lIns="1016" tIns="1016" rIns="1016" bIns="1016" rtlCol="0" anchor="ctr"/>
          <a:lstStyle/>
          <a:p>
            <a:pPr algn="r" indent="0" marL="0">
              <a:buNone/>
            </a:pPr>
            <a:r>
              <a:rPr lang="en-US" sz="1200" dirty="0">
                <a:solidFill>
                  <a:srgbClr val="222222"/>
                </a:solidFill>
                <a:latin typeface="Arial" pitchFamily="34" charset="0"/>
                <a:ea typeface="Arial" pitchFamily="34" charset="-122"/>
                <a:cs typeface="Arial" pitchFamily="34" charset="-120"/>
              </a:rPr>
              <a:t>118</a:t>
            </a:r>
            <a:endParaRPr lang="en-US" sz="1200" dirty="0"/>
          </a:p>
        </p:txBody>
      </p:sp>
      <p:sp>
        <p:nvSpPr>
          <p:cNvPr id="20" name="Text 18"/>
          <p:cNvSpPr txBox="1"/>
          <p:nvPr/>
        </p:nvSpPr>
        <p:spPr>
          <a:xfrm>
            <a:off x="4663440" y="3035808"/>
            <a:ext cx="1280160" cy="475488"/>
          </a:xfrm>
          <a:prstGeom prst="rect">
            <a:avLst/>
          </a:prstGeom>
          <a:noFill/>
          <a:ln/>
        </p:spPr>
        <p:txBody>
          <a:bodyPr wrap="square" lIns="1016" tIns="1016" rIns="1016" bIns="1016" rtlCol="0" anchor="ctr"/>
          <a:lstStyle/>
          <a:p>
            <a:pPr algn="r" indent="0" marL="0">
              <a:buNone/>
            </a:pPr>
            <a:r>
              <a:rPr lang="en-US" sz="1200" b="1" dirty="0">
                <a:solidFill>
                  <a:srgbClr val="C8102E"/>
                </a:solidFill>
                <a:latin typeface="Arial" pitchFamily="34" charset="0"/>
                <a:ea typeface="Arial" pitchFamily="34" charset="-122"/>
                <a:cs typeface="Arial" pitchFamily="34" charset="-120"/>
              </a:rPr>
              <a:t>~360×</a:t>
            </a:r>
            <a:endParaRPr lang="en-US" sz="1200" dirty="0"/>
          </a:p>
        </p:txBody>
      </p:sp>
      <p:sp>
        <p:nvSpPr>
          <p:cNvPr id="21" name="Shape 19"/>
          <p:cNvSpPr/>
          <p:nvPr/>
        </p:nvSpPr>
        <p:spPr>
          <a:xfrm>
            <a:off x="457200" y="3602736"/>
            <a:ext cx="5486400" cy="475488"/>
          </a:xfrm>
          <a:prstGeom prst="rect">
            <a:avLst/>
          </a:prstGeom>
          <a:solidFill>
            <a:srgbClr val="EDEDED"/>
          </a:solidFill>
          <a:ln w="12700">
            <a:solidFill>
              <a:srgbClr val="EDEDED"/>
            </a:solidFill>
            <a:prstDash val="solid"/>
          </a:ln>
        </p:spPr>
      </p:sp>
      <p:sp>
        <p:nvSpPr>
          <p:cNvPr id="22" name="Text 20"/>
          <p:cNvSpPr txBox="1"/>
          <p:nvPr/>
        </p:nvSpPr>
        <p:spPr>
          <a:xfrm>
            <a:off x="457200" y="3602736"/>
            <a:ext cx="2011680" cy="475488"/>
          </a:xfrm>
          <a:prstGeom prst="rect">
            <a:avLst/>
          </a:prstGeom>
          <a:noFill/>
          <a:ln/>
        </p:spPr>
        <p:txBody>
          <a:bodyPr wrap="square" lIns="1016" tIns="1016" rIns="1016" bIns="1016" rtlCol="0" anchor="ctr"/>
          <a:lstStyle/>
          <a:p>
            <a:pPr algn="l" indent="0" marL="0">
              <a:buNone/>
            </a:pPr>
            <a:r>
              <a:rPr lang="en-US" sz="1200" dirty="0">
                <a:solidFill>
                  <a:srgbClr val="222222"/>
                </a:solidFill>
                <a:latin typeface="Arial" pitchFamily="34" charset="0"/>
                <a:ea typeface="Arial" pitchFamily="34" charset="-122"/>
                <a:cs typeface="Arial" pitchFamily="34" charset="-120"/>
              </a:rPr>
              <a:t>Per cancellation</a:t>
            </a:r>
            <a:endParaRPr lang="en-US" sz="1200" dirty="0"/>
          </a:p>
        </p:txBody>
      </p:sp>
      <p:sp>
        <p:nvSpPr>
          <p:cNvPr id="23" name="Text 21"/>
          <p:cNvSpPr txBox="1"/>
          <p:nvPr/>
        </p:nvSpPr>
        <p:spPr>
          <a:xfrm>
            <a:off x="2468880" y="3602736"/>
            <a:ext cx="1097280" cy="475488"/>
          </a:xfrm>
          <a:prstGeom prst="rect">
            <a:avLst/>
          </a:prstGeom>
          <a:noFill/>
          <a:ln/>
        </p:spPr>
        <p:txBody>
          <a:bodyPr wrap="square" lIns="1016" tIns="1016" rIns="1016" bIns="1016" rtlCol="0" anchor="ctr"/>
          <a:lstStyle/>
          <a:p>
            <a:pPr algn="r" indent="0" marL="0">
              <a:buNone/>
            </a:pPr>
            <a:r>
              <a:rPr lang="en-US" sz="1200" dirty="0">
                <a:solidFill>
                  <a:srgbClr val="222222"/>
                </a:solidFill>
                <a:latin typeface="Arial" pitchFamily="34" charset="0"/>
                <a:ea typeface="Arial" pitchFamily="34" charset="-122"/>
                <a:cs typeface="Arial" pitchFamily="34" charset="-120"/>
              </a:rPr>
              <a:t>3,579</a:t>
            </a:r>
            <a:endParaRPr lang="en-US" sz="1200" dirty="0"/>
          </a:p>
        </p:txBody>
      </p:sp>
      <p:sp>
        <p:nvSpPr>
          <p:cNvPr id="24" name="Text 22"/>
          <p:cNvSpPr txBox="1"/>
          <p:nvPr/>
        </p:nvSpPr>
        <p:spPr>
          <a:xfrm>
            <a:off x="3566160" y="3602736"/>
            <a:ext cx="1097280" cy="475488"/>
          </a:xfrm>
          <a:prstGeom prst="rect">
            <a:avLst/>
          </a:prstGeom>
          <a:noFill/>
          <a:ln/>
        </p:spPr>
        <p:txBody>
          <a:bodyPr wrap="square" lIns="1016" tIns="1016" rIns="1016" bIns="1016" rtlCol="0" anchor="ctr"/>
          <a:lstStyle/>
          <a:p>
            <a:pPr algn="r" indent="0" marL="0">
              <a:buNone/>
            </a:pPr>
            <a:r>
              <a:rPr lang="en-US" sz="1200" dirty="0">
                <a:solidFill>
                  <a:srgbClr val="222222"/>
                </a:solidFill>
                <a:latin typeface="Arial" pitchFamily="34" charset="0"/>
                <a:ea typeface="Arial" pitchFamily="34" charset="-122"/>
                <a:cs typeface="Arial" pitchFamily="34" charset="-120"/>
              </a:rPr>
              <a:t>1,823</a:t>
            </a:r>
            <a:endParaRPr lang="en-US" sz="1200" dirty="0"/>
          </a:p>
        </p:txBody>
      </p:sp>
      <p:sp>
        <p:nvSpPr>
          <p:cNvPr id="25" name="Text 23"/>
          <p:cNvSpPr txBox="1"/>
          <p:nvPr/>
        </p:nvSpPr>
        <p:spPr>
          <a:xfrm>
            <a:off x="4663440" y="3602736"/>
            <a:ext cx="1280160" cy="475488"/>
          </a:xfrm>
          <a:prstGeom prst="rect">
            <a:avLst/>
          </a:prstGeom>
          <a:noFill/>
          <a:ln/>
        </p:spPr>
        <p:txBody>
          <a:bodyPr wrap="square" lIns="1016" tIns="1016" rIns="1016" bIns="1016" rtlCol="0" anchor="ctr"/>
          <a:lstStyle/>
          <a:p>
            <a:pPr algn="r" indent="0" marL="0">
              <a:buNone/>
            </a:pPr>
            <a:r>
              <a:rPr lang="en-US" sz="1200" b="1" dirty="0">
                <a:solidFill>
                  <a:srgbClr val="C8102E"/>
                </a:solidFill>
                <a:latin typeface="Arial" pitchFamily="34" charset="0"/>
                <a:ea typeface="Arial" pitchFamily="34" charset="-122"/>
                <a:cs typeface="Arial" pitchFamily="34" charset="-120"/>
              </a:rPr>
              <a:t>~2×</a:t>
            </a:r>
            <a:endParaRPr lang="en-US" sz="1200" dirty="0"/>
          </a:p>
        </p:txBody>
      </p:sp>
      <p:sp>
        <p:nvSpPr>
          <p:cNvPr id="26" name="Shape 24"/>
          <p:cNvSpPr/>
          <p:nvPr/>
        </p:nvSpPr>
        <p:spPr>
          <a:xfrm>
            <a:off x="457200" y="4251960"/>
            <a:ext cx="5486400" cy="1920240"/>
          </a:xfrm>
          <a:prstGeom prst="rect">
            <a:avLst/>
          </a:prstGeom>
          <a:solidFill>
            <a:srgbClr val="8C8C8C"/>
          </a:solidFill>
          <a:ln w="12700">
            <a:solidFill>
              <a:srgbClr val="8C8C8C"/>
            </a:solidFill>
            <a:prstDash val="solid"/>
          </a:ln>
        </p:spPr>
      </p:sp>
      <p:sp>
        <p:nvSpPr>
          <p:cNvPr id="27" name="Text 25"/>
          <p:cNvSpPr txBox="1"/>
          <p:nvPr/>
        </p:nvSpPr>
        <p:spPr>
          <a:xfrm>
            <a:off x="548640" y="4251960"/>
            <a:ext cx="5303520" cy="1920240"/>
          </a:xfrm>
          <a:prstGeom prst="rect">
            <a:avLst/>
          </a:prstGeom>
          <a:noFill/>
          <a:ln/>
        </p:spPr>
        <p:txBody>
          <a:bodyPr wrap="square" lIns="635" tIns="635" rIns="635" bIns="635" rtlCol="0" anchor="ctr"/>
          <a:lstStyle/>
          <a:p>
            <a:pPr indent="0" marL="0">
              <a:buNone/>
            </a:pPr>
            <a:r>
              <a:rPr lang="en-US" sz="1100" dirty="0">
                <a:solidFill>
                  <a:srgbClr val="FFFFFF"/>
                </a:solidFill>
                <a:latin typeface="Arial" pitchFamily="34" charset="0"/>
                <a:ea typeface="Arial" pitchFamily="34" charset="-122"/>
                <a:cs typeface="Arial" pitchFamily="34" charset="-120"/>
              </a:rPr>
              <a:t>Caveat: FY26E PAS cost (HKD 153.7m) is higher than total IT spend (HKD 132.2m), so it probably includes business operations or policy servicing cost. By comparison, IT spend per PAS transaction is close to Sun Life (HKD 469 against 505). The gap is therefore mainly in operating cost around the PAS, which is what automation and STP address.</a:t>
            </a:r>
            <a:endParaRPr lang="en-US" sz="1100" dirty="0"/>
          </a:p>
        </p:txBody>
      </p:sp>
      <p:graphicFrame>
        <p:nvGraphicFramePr>
          <p:cNvPr id="28" name="Chart 0" descr=""/>
          <p:cNvGraphicFramePr/>
          <p:nvPr/>
        </p:nvGraphicFramePr>
        <p:xfrm>
          <a:off x="6309360" y="1737360"/>
          <a:ext cx="5422392" cy="329184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6309360" y="5029200"/>
            <a:ext cx="5422392" cy="274320"/>
          </a:xfrm>
          <a:prstGeom prst="rect">
            <a:avLst/>
          </a:prstGeom>
          <a:noFill/>
          <a:ln/>
        </p:spPr>
        <p:txBody>
          <a:bodyPr wrap="square" lIns="0" tIns="0" rIns="0" bIns="0" rtlCol="0" anchor="ctr"/>
          <a:lstStyle/>
          <a:p>
            <a:pPr indent="0" marL="0">
              <a:buNone/>
            </a:pPr>
            <a:r>
              <a:rPr lang="en-US" sz="900" i="1" dirty="0">
                <a:solidFill>
                  <a:srgbClr val="7F7F7F"/>
                </a:solidFill>
                <a:latin typeface="Arial" pitchFamily="34" charset="0"/>
                <a:ea typeface="Arial" pitchFamily="34" charset="-122"/>
                <a:cs typeface="Arial" pitchFamily="34" charset="-120"/>
              </a:rPr>
              <a:t>Client STP is not tracked (shown as 0). Peer values are lower bounds. Market range is 30–70%.</a:t>
            </a:r>
            <a:endParaRPr lang="en-US" sz="900" dirty="0"/>
          </a:p>
        </p:txBody>
      </p:sp>
      <p:sp>
        <p:nvSpPr>
          <p:cNvPr id="30" name="Shape 27"/>
          <p:cNvSpPr/>
          <p:nvPr/>
        </p:nvSpPr>
        <p:spPr>
          <a:xfrm>
            <a:off x="6309360" y="5394960"/>
            <a:ext cx="5422392" cy="777240"/>
          </a:xfrm>
          <a:prstGeom prst="rect">
            <a:avLst/>
          </a:prstGeom>
          <a:solidFill>
            <a:srgbClr val="C8102E"/>
          </a:solidFill>
          <a:ln w="12700">
            <a:solidFill>
              <a:srgbClr val="C8102E"/>
            </a:solidFill>
            <a:prstDash val="solid"/>
          </a:ln>
        </p:spPr>
      </p:sp>
      <p:sp>
        <p:nvSpPr>
          <p:cNvPr id="31" name="Text 28"/>
          <p:cNvSpPr txBox="1"/>
          <p:nvPr/>
        </p:nvSpPr>
        <p:spPr>
          <a:xfrm>
            <a:off x="6400800" y="5394960"/>
            <a:ext cx="5239512" cy="777240"/>
          </a:xfrm>
          <a:prstGeom prst="rect">
            <a:avLst/>
          </a:prstGeom>
          <a:noFill/>
          <a:ln/>
        </p:spPr>
        <p:txBody>
          <a:bodyPr wrap="square" lIns="635" tIns="635" rIns="635" bIns="635" rtlCol="0" anchor="ctr"/>
          <a:lstStyle/>
          <a:p>
            <a:pPr algn="l" indent="0" marL="0">
              <a:buNone/>
            </a:pPr>
            <a:r>
              <a:rPr lang="en-US" sz="1150" b="1" dirty="0">
                <a:solidFill>
                  <a:srgbClr val="FFFFFF"/>
                </a:solidFill>
                <a:latin typeface="Arial" pitchFamily="34" charset="0"/>
                <a:ea typeface="Arial" pitchFamily="34" charset="-122"/>
                <a:cs typeface="Arial" pitchFamily="34" charset="-120"/>
              </a:rPr>
              <a:t>Implication: target automation on the highest-cost PAS journeys, one module at a time, and track STP as the lead KPI for Option 3.</a:t>
            </a:r>
            <a:endParaRPr lang="en-US" sz="1150" dirty="0"/>
          </a:p>
        </p:txBody>
      </p:sp>
      <p:sp>
        <p:nvSpPr>
          <p:cNvPr id="32" name="Text 29"/>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Client FY2025 actuals and FY2026E budget; Sun Life HK current; peer benchmarks (AIA, Prudential, Manulife) and market ranges from IT cost breakdown, RGT mix and technology category studies. Unit costs = PAS cost ÷ case volumes. Gap multiples are indicative until PAS cost scope is confirmed.</a:t>
            </a:r>
            <a:endParaRPr lang="en-US" sz="850" dirty="0"/>
          </a:p>
        </p:txBody>
      </p:sp>
      <p:sp>
        <p:nvSpPr>
          <p:cNvPr id="33" name="Text 30"/>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06 </a:t>
            </a:r>
            <a:pPr indent="0" marL="0">
              <a:buNone/>
            </a:pPr>
            <a:r>
              <a:rPr lang="en-US" sz="1300" dirty="0">
                <a:solidFill>
                  <a:srgbClr val="C8102E"/>
                </a:solidFill>
                <a:latin typeface="Arial" pitchFamily="34" charset="0"/>
                <a:ea typeface="Arial" pitchFamily="34" charset="-122"/>
                <a:cs typeface="Arial" pitchFamily="34" charset="-120"/>
              </a:rPr>
              <a:t>| Linking Cost to Business Outcome</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Growth is value-led, so IT spend should follow HNW and digital segments</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Premium per policy has risen 2.6× while the policy count is almost flat, so the book is moving towards HNW. Digital adoption is well below the market, which makes each digital submission expensive. Both point to the business-value and segmentation lenses.</a:t>
            </a:r>
            <a:endParaRPr lang="en-US" sz="1250" dirty="0"/>
          </a:p>
        </p:txBody>
      </p:sp>
      <p:graphicFrame>
        <p:nvGraphicFramePr>
          <p:cNvPr id="5" name="Chart 0" descr=""/>
          <p:cNvGraphicFramePr/>
          <p:nvPr/>
        </p:nvGraphicFramePr>
        <p:xfrm>
          <a:off x="457200" y="1783080"/>
          <a:ext cx="5760720" cy="4434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583680" y="1783080"/>
            <a:ext cx="5148072" cy="347472"/>
          </a:xfrm>
          <a:prstGeom prst="rect">
            <a:avLst/>
          </a:prstGeom>
          <a:solidFill>
            <a:srgbClr val="C8102E"/>
          </a:solidFill>
          <a:ln w="12700">
            <a:solidFill>
              <a:srgbClr val="C8102E"/>
            </a:solidFill>
            <a:prstDash val="solid"/>
          </a:ln>
        </p:spPr>
      </p:sp>
      <p:sp>
        <p:nvSpPr>
          <p:cNvPr id="7" name="Text 4"/>
          <p:cNvSpPr txBox="1"/>
          <p:nvPr/>
        </p:nvSpPr>
        <p:spPr>
          <a:xfrm>
            <a:off x="6675120" y="1783080"/>
            <a:ext cx="496519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Value per policy: HNW shift</a:t>
            </a:r>
            <a:endParaRPr lang="en-US" sz="1200" dirty="0"/>
          </a:p>
        </p:txBody>
      </p:sp>
      <p:sp>
        <p:nvSpPr>
          <p:cNvPr id="8" name="Text 5"/>
          <p:cNvSpPr txBox="1"/>
          <p:nvPr/>
        </p:nvSpPr>
        <p:spPr>
          <a:xfrm>
            <a:off x="6629400" y="2240280"/>
            <a:ext cx="2482596"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71k → 183k</a:t>
            </a:r>
            <a:endParaRPr lang="en-US" sz="3000" dirty="0"/>
          </a:p>
        </p:txBody>
      </p:sp>
      <p:sp>
        <p:nvSpPr>
          <p:cNvPr id="9" name="Text 6"/>
          <p:cNvSpPr txBox="1"/>
          <p:nvPr/>
        </p:nvSpPr>
        <p:spPr>
          <a:xfrm>
            <a:off x="6629400" y="2807208"/>
            <a:ext cx="248259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Premium per policy (HKD)</a:t>
            </a:r>
            <a:endParaRPr lang="en-US" sz="1050" dirty="0"/>
          </a:p>
        </p:txBody>
      </p:sp>
      <p:sp>
        <p:nvSpPr>
          <p:cNvPr id="10" name="Text 7"/>
          <p:cNvSpPr txBox="1"/>
          <p:nvPr/>
        </p:nvSpPr>
        <p:spPr>
          <a:xfrm>
            <a:off x="9294876" y="2240280"/>
            <a:ext cx="2482596"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124k → 321k</a:t>
            </a:r>
            <a:endParaRPr lang="en-US" sz="3000" dirty="0"/>
          </a:p>
        </p:txBody>
      </p:sp>
      <p:sp>
        <p:nvSpPr>
          <p:cNvPr id="11" name="Text 8"/>
          <p:cNvSpPr txBox="1"/>
          <p:nvPr/>
        </p:nvSpPr>
        <p:spPr>
          <a:xfrm>
            <a:off x="9294876" y="2807208"/>
            <a:ext cx="248259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Premium per customer (HKD)</a:t>
            </a:r>
            <a:endParaRPr lang="en-US" sz="1050" dirty="0"/>
          </a:p>
        </p:txBody>
      </p:sp>
      <p:sp>
        <p:nvSpPr>
          <p:cNvPr id="12" name="Shape 9"/>
          <p:cNvSpPr/>
          <p:nvPr/>
        </p:nvSpPr>
        <p:spPr>
          <a:xfrm>
            <a:off x="6583680" y="3429000"/>
            <a:ext cx="5148072" cy="347472"/>
          </a:xfrm>
          <a:prstGeom prst="rect">
            <a:avLst/>
          </a:prstGeom>
          <a:solidFill>
            <a:srgbClr val="C8102E"/>
          </a:solidFill>
          <a:ln w="12700">
            <a:solidFill>
              <a:srgbClr val="C8102E"/>
            </a:solidFill>
            <a:prstDash val="solid"/>
          </a:ln>
        </p:spPr>
      </p:sp>
      <p:sp>
        <p:nvSpPr>
          <p:cNvPr id="13" name="Text 10"/>
          <p:cNvSpPr txBox="1"/>
          <p:nvPr/>
        </p:nvSpPr>
        <p:spPr>
          <a:xfrm>
            <a:off x="6675120" y="3429000"/>
            <a:ext cx="496519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Digital: adoption gap drives unit cost</a:t>
            </a:r>
            <a:endParaRPr lang="en-US" sz="1200" dirty="0"/>
          </a:p>
        </p:txBody>
      </p:sp>
      <p:sp>
        <p:nvSpPr>
          <p:cNvPr id="14" name="Text 11"/>
          <p:cNvSpPr txBox="1"/>
          <p:nvPr/>
        </p:nvSpPr>
        <p:spPr>
          <a:xfrm>
            <a:off x="6629400" y="3886200"/>
            <a:ext cx="2482596"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19.6%</a:t>
            </a:r>
            <a:endParaRPr lang="en-US" sz="3000" dirty="0"/>
          </a:p>
        </p:txBody>
      </p:sp>
      <p:sp>
        <p:nvSpPr>
          <p:cNvPr id="15" name="Text 12"/>
          <p:cNvSpPr txBox="1"/>
          <p:nvPr/>
        </p:nvSpPr>
        <p:spPr>
          <a:xfrm>
            <a:off x="6629400" y="4453128"/>
            <a:ext cx="248259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Digital submission rate against a 30–70% market range</a:t>
            </a:r>
            <a:endParaRPr lang="en-US" sz="1050" dirty="0"/>
          </a:p>
        </p:txBody>
      </p:sp>
      <p:sp>
        <p:nvSpPr>
          <p:cNvPr id="16" name="Text 13"/>
          <p:cNvSpPr txBox="1"/>
          <p:nvPr/>
        </p:nvSpPr>
        <p:spPr>
          <a:xfrm>
            <a:off x="9294876" y="3886200"/>
            <a:ext cx="2482596"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5.1×</a:t>
            </a:r>
            <a:endParaRPr lang="en-US" sz="3000" dirty="0"/>
          </a:p>
        </p:txBody>
      </p:sp>
      <p:sp>
        <p:nvSpPr>
          <p:cNvPr id="17" name="Text 14"/>
          <p:cNvSpPr txBox="1"/>
          <p:nvPr/>
        </p:nvSpPr>
        <p:spPr>
          <a:xfrm>
            <a:off x="9294876" y="4453128"/>
            <a:ext cx="248259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IT cost per digital submission (HKD 6,010) against per submission (HKD 1,180)</a:t>
            </a:r>
            <a:endParaRPr lang="en-US" sz="1050" dirty="0"/>
          </a:p>
        </p:txBody>
      </p:sp>
      <p:sp>
        <p:nvSpPr>
          <p:cNvPr id="18" name="Shape 15"/>
          <p:cNvSpPr/>
          <p:nvPr/>
        </p:nvSpPr>
        <p:spPr>
          <a:xfrm>
            <a:off x="6583680" y="5120640"/>
            <a:ext cx="5148072" cy="1097280"/>
          </a:xfrm>
          <a:prstGeom prst="rect">
            <a:avLst/>
          </a:prstGeom>
          <a:solidFill>
            <a:srgbClr val="8C8C8C"/>
          </a:solidFill>
          <a:ln w="12700">
            <a:solidFill>
              <a:srgbClr val="8C8C8C"/>
            </a:solidFill>
            <a:prstDash val="solid"/>
          </a:ln>
        </p:spPr>
      </p:sp>
      <p:sp>
        <p:nvSpPr>
          <p:cNvPr id="19" name="Text 16"/>
          <p:cNvSpPr txBox="1"/>
          <p:nvPr/>
        </p:nvSpPr>
        <p:spPr>
          <a:xfrm>
            <a:off x="6675120" y="5120640"/>
            <a:ext cx="4965192" cy="1097280"/>
          </a:xfrm>
          <a:prstGeom prst="rect">
            <a:avLst/>
          </a:prstGeom>
          <a:noFill/>
          <a:ln/>
        </p:spPr>
        <p:txBody>
          <a:bodyPr wrap="square" lIns="635" tIns="635" rIns="635" bIns="635" rtlCol="0" anchor="ctr"/>
          <a:lstStyle/>
          <a:p>
            <a:pPr indent="0" marL="0">
              <a:buNone/>
            </a:pPr>
            <a:r>
              <a:rPr lang="en-US" sz="1100" dirty="0">
                <a:solidFill>
                  <a:srgbClr val="FFFFFF"/>
                </a:solidFill>
                <a:latin typeface="Arial" pitchFamily="34" charset="0"/>
                <a:ea typeface="Arial" pitchFamily="34" charset="-122"/>
                <a:cs typeface="Arial" pitchFamily="34" charset="-120"/>
              </a:rPr>
              <a:t>IT spend per policy rises from HKD 104 to 171 (Sun Life 298). The spend is affordable, but value depends on raising digital adoption and on matching platform capability to the HNW book.</a:t>
            </a:r>
            <a:endParaRPr lang="en-US" sz="1100" dirty="0"/>
          </a:p>
        </p:txBody>
      </p:sp>
      <p:sp>
        <p:nvSpPr>
          <p:cNvPr id="20" name="Text 17"/>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Client FY2025 actuals and FY2026E budget; Sun Life HK current; peer benchmarks (AIA, Prudential, Manulife) and market ranges from IT cost breakdown, RGT mix and technology category studies. Red bars show value drivers; grey bars show volume and capacity.</a:t>
            </a:r>
            <a:endParaRPr lang="en-US" sz="850" dirty="0"/>
          </a:p>
        </p:txBody>
      </p:sp>
      <p:sp>
        <p:nvSpPr>
          <p:cNvPr id="21" name="Text 18"/>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07 </a:t>
            </a:r>
            <a:pPr indent="0" marL="0">
              <a:buNone/>
            </a:pPr>
            <a:r>
              <a:rPr lang="en-US" sz="1300" dirty="0">
                <a:solidFill>
                  <a:srgbClr val="C8102E"/>
                </a:solidFill>
                <a:latin typeface="Arial" pitchFamily="34" charset="0"/>
                <a:ea typeface="Arial" pitchFamily="34" charset="-122"/>
                <a:cs typeface="Arial" pitchFamily="34" charset="-120"/>
              </a:rPr>
              <a:t>| Benchmark Implications for Option 3+</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Each Option 3+ lens is backed by a benchmark signal and a KPI to track</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The benchmarks support continuous modernisation (Option 3). No single number justifies a big-bang PAS replacement. They also show where the four lenses should direct funding and what to measure.</a:t>
            </a:r>
            <a:endParaRPr lang="en-US" sz="1250" dirty="0"/>
          </a:p>
        </p:txBody>
      </p:sp>
      <p:sp>
        <p:nvSpPr>
          <p:cNvPr id="5" name="Text 3"/>
          <p:cNvSpPr txBox="1"/>
          <p:nvPr/>
        </p:nvSpPr>
        <p:spPr>
          <a:xfrm>
            <a:off x="457200" y="1490472"/>
            <a:ext cx="2651760" cy="274320"/>
          </a:xfrm>
          <a:prstGeom prst="rect">
            <a:avLst/>
          </a:prstGeom>
          <a:noFill/>
          <a:ln/>
        </p:spPr>
        <p:txBody>
          <a:bodyPr wrap="square" lIns="0" tIns="0" rIns="0" bIns="0" rtlCol="0" anchor="ctr"/>
          <a:lstStyle/>
          <a:p>
            <a:pPr indent="0" marL="0">
              <a:buNone/>
            </a:pPr>
            <a:r>
              <a:rPr lang="en-US" sz="1000" b="1" dirty="0">
                <a:solidFill>
                  <a:srgbClr val="7F7F7F"/>
                </a:solidFill>
                <a:latin typeface="Arial" pitchFamily="34" charset="0"/>
                <a:ea typeface="Arial" pitchFamily="34" charset="-122"/>
                <a:cs typeface="Arial" pitchFamily="34" charset="-120"/>
              </a:rPr>
              <a:t>Strategic lens</a:t>
            </a:r>
            <a:endParaRPr lang="en-US" sz="1000" dirty="0"/>
          </a:p>
        </p:txBody>
      </p:sp>
      <p:sp>
        <p:nvSpPr>
          <p:cNvPr id="6" name="Text 4"/>
          <p:cNvSpPr txBox="1"/>
          <p:nvPr/>
        </p:nvSpPr>
        <p:spPr>
          <a:xfrm>
            <a:off x="3246120" y="1490472"/>
            <a:ext cx="4297680" cy="274320"/>
          </a:xfrm>
          <a:prstGeom prst="rect">
            <a:avLst/>
          </a:prstGeom>
          <a:noFill/>
          <a:ln/>
        </p:spPr>
        <p:txBody>
          <a:bodyPr wrap="square" lIns="0" tIns="0" rIns="0" bIns="0" rtlCol="0" anchor="ctr"/>
          <a:lstStyle/>
          <a:p>
            <a:pPr indent="0" marL="0">
              <a:buNone/>
            </a:pPr>
            <a:r>
              <a:rPr lang="en-US" sz="1000" b="1" dirty="0">
                <a:solidFill>
                  <a:srgbClr val="7F7F7F"/>
                </a:solidFill>
                <a:latin typeface="Arial" pitchFamily="34" charset="0"/>
                <a:ea typeface="Arial" pitchFamily="34" charset="-122"/>
                <a:cs typeface="Arial" pitchFamily="34" charset="-120"/>
              </a:rPr>
              <a:t>Benchmark evidence</a:t>
            </a:r>
            <a:endParaRPr lang="en-US" sz="1000" dirty="0"/>
          </a:p>
        </p:txBody>
      </p:sp>
      <p:sp>
        <p:nvSpPr>
          <p:cNvPr id="7" name="Text 5"/>
          <p:cNvSpPr txBox="1"/>
          <p:nvPr/>
        </p:nvSpPr>
        <p:spPr>
          <a:xfrm>
            <a:off x="7680960" y="1490472"/>
            <a:ext cx="4050792" cy="274320"/>
          </a:xfrm>
          <a:prstGeom prst="rect">
            <a:avLst/>
          </a:prstGeom>
          <a:noFill/>
          <a:ln/>
        </p:spPr>
        <p:txBody>
          <a:bodyPr wrap="square" lIns="0" tIns="0" rIns="0" bIns="0" rtlCol="0" anchor="ctr"/>
          <a:lstStyle/>
          <a:p>
            <a:pPr indent="0" marL="0">
              <a:buNone/>
            </a:pPr>
            <a:r>
              <a:rPr lang="en-US" sz="1000" b="1" dirty="0">
                <a:solidFill>
                  <a:srgbClr val="7F7F7F"/>
                </a:solidFill>
                <a:latin typeface="Arial" pitchFamily="34" charset="0"/>
                <a:ea typeface="Arial" pitchFamily="34" charset="-122"/>
                <a:cs typeface="Arial" pitchFamily="34" charset="-120"/>
              </a:rPr>
              <a:t>What Option 3+ should do and track</a:t>
            </a:r>
            <a:endParaRPr lang="en-US" sz="1000" dirty="0"/>
          </a:p>
        </p:txBody>
      </p:sp>
      <p:sp>
        <p:nvSpPr>
          <p:cNvPr id="8" name="Shape 6"/>
          <p:cNvSpPr/>
          <p:nvPr/>
        </p:nvSpPr>
        <p:spPr>
          <a:xfrm>
            <a:off x="457200" y="1783080"/>
            <a:ext cx="2651760" cy="1024128"/>
          </a:xfrm>
          <a:prstGeom prst="rect">
            <a:avLst/>
          </a:prstGeom>
          <a:solidFill>
            <a:srgbClr val="C8102E"/>
          </a:solidFill>
          <a:ln w="12700">
            <a:solidFill>
              <a:srgbClr val="C8102E"/>
            </a:solidFill>
            <a:prstDash val="solid"/>
          </a:ln>
        </p:spPr>
      </p:sp>
      <p:sp>
        <p:nvSpPr>
          <p:cNvPr id="9" name="Text 7"/>
          <p:cNvSpPr txBox="1"/>
          <p:nvPr/>
        </p:nvSpPr>
        <p:spPr>
          <a:xfrm>
            <a:off x="548640" y="1783080"/>
            <a:ext cx="2468880" cy="1024128"/>
          </a:xfrm>
          <a:prstGeom prst="rect">
            <a:avLst/>
          </a:prstGeom>
          <a:noFill/>
          <a:ln/>
        </p:spPr>
        <p:txBody>
          <a:bodyPr wrap="square" lIns="635" tIns="635" rIns="635" bIns="635"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1. Geo-political resilience</a:t>
            </a:r>
            <a:endParaRPr lang="en-US" sz="1300" dirty="0"/>
          </a:p>
        </p:txBody>
      </p:sp>
      <p:sp>
        <p:nvSpPr>
          <p:cNvPr id="10" name="Shape 8"/>
          <p:cNvSpPr/>
          <p:nvPr/>
        </p:nvSpPr>
        <p:spPr>
          <a:xfrm>
            <a:off x="3246120" y="1783080"/>
            <a:ext cx="4297680" cy="1024128"/>
          </a:xfrm>
          <a:prstGeom prst="rect">
            <a:avLst/>
          </a:prstGeom>
          <a:solidFill>
            <a:srgbClr val="EDEDED"/>
          </a:solidFill>
          <a:ln w="12700">
            <a:solidFill>
              <a:srgbClr val="EDEDED"/>
            </a:solidFill>
            <a:prstDash val="solid"/>
          </a:ln>
        </p:spPr>
      </p:sp>
      <p:sp>
        <p:nvSpPr>
          <p:cNvPr id="11" name="Text 9"/>
          <p:cNvSpPr txBox="1"/>
          <p:nvPr/>
        </p:nvSpPr>
        <p:spPr>
          <a:xfrm>
            <a:off x="3337560" y="1783080"/>
            <a:ext cx="4114800" cy="1024128"/>
          </a:xfrm>
          <a:prstGeom prst="rect">
            <a:avLst/>
          </a:prstGeom>
          <a:noFill/>
          <a:ln/>
        </p:spPr>
        <p:txBody>
          <a:bodyPr wrap="square" lIns="635" tIns="635" rIns="635" bIns="635" rtlCol="0" anchor="ctr"/>
          <a:lstStyle/>
          <a:p>
            <a:pPr indent="0" marL="0">
              <a:buNone/>
            </a:pPr>
            <a:r>
              <a:rPr lang="en-US" sz="1050" dirty="0">
                <a:solidFill>
                  <a:srgbClr val="222222"/>
                </a:solidFill>
                <a:latin typeface="Arial" pitchFamily="34" charset="0"/>
                <a:ea typeface="Arial" pitchFamily="34" charset="-122"/>
                <a:cs typeface="Arial" pitchFamily="34" charset="-120"/>
              </a:rPr>
              <a:t>External labour is 37% of IT spend against a 16% market benchmark. Cloud is only 1.8%, so the hosting and vendor model is still undecided.</a:t>
            </a:r>
            <a:endParaRPr lang="en-US" sz="1050" dirty="0"/>
          </a:p>
        </p:txBody>
      </p:sp>
      <p:sp>
        <p:nvSpPr>
          <p:cNvPr id="12" name="Shape 10"/>
          <p:cNvSpPr/>
          <p:nvPr/>
        </p:nvSpPr>
        <p:spPr>
          <a:xfrm>
            <a:off x="7680960" y="1783080"/>
            <a:ext cx="4050792" cy="1024128"/>
          </a:xfrm>
          <a:prstGeom prst="rect">
            <a:avLst/>
          </a:prstGeom>
          <a:solidFill>
            <a:srgbClr val="8C8C8C"/>
          </a:solidFill>
          <a:ln w="12700">
            <a:solidFill>
              <a:srgbClr val="8C8C8C"/>
            </a:solidFill>
            <a:prstDash val="solid"/>
          </a:ln>
        </p:spPr>
      </p:sp>
      <p:sp>
        <p:nvSpPr>
          <p:cNvPr id="13" name="Text 11"/>
          <p:cNvSpPr txBox="1"/>
          <p:nvPr/>
        </p:nvSpPr>
        <p:spPr>
          <a:xfrm>
            <a:off x="7772400" y="1783080"/>
            <a:ext cx="3867912" cy="1024128"/>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Vendor concentration limits, portability rules for new builds, and in-sourcing of core PAS skills. KPI: external labour share.</a:t>
            </a:r>
            <a:endParaRPr lang="en-US" sz="1050" dirty="0"/>
          </a:p>
        </p:txBody>
      </p:sp>
      <p:sp>
        <p:nvSpPr>
          <p:cNvPr id="14" name="Shape 12"/>
          <p:cNvSpPr/>
          <p:nvPr/>
        </p:nvSpPr>
        <p:spPr>
          <a:xfrm>
            <a:off x="457200" y="2898648"/>
            <a:ext cx="2651760" cy="1024128"/>
          </a:xfrm>
          <a:prstGeom prst="rect">
            <a:avLst/>
          </a:prstGeom>
          <a:solidFill>
            <a:srgbClr val="C8102E"/>
          </a:solidFill>
          <a:ln w="12700">
            <a:solidFill>
              <a:srgbClr val="C8102E"/>
            </a:solidFill>
            <a:prstDash val="solid"/>
          </a:ln>
        </p:spPr>
      </p:sp>
      <p:sp>
        <p:nvSpPr>
          <p:cNvPr id="15" name="Text 13"/>
          <p:cNvSpPr txBox="1"/>
          <p:nvPr/>
        </p:nvSpPr>
        <p:spPr>
          <a:xfrm>
            <a:off x="548640" y="2898648"/>
            <a:ext cx="2468880" cy="1024128"/>
          </a:xfrm>
          <a:prstGeom prst="rect">
            <a:avLst/>
          </a:prstGeom>
          <a:noFill/>
          <a:ln/>
        </p:spPr>
        <p:txBody>
          <a:bodyPr wrap="square" lIns="635" tIns="635" rIns="635" bIns="635"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2. Business value</a:t>
            </a:r>
            <a:endParaRPr lang="en-US" sz="1300" dirty="0"/>
          </a:p>
        </p:txBody>
      </p:sp>
      <p:sp>
        <p:nvSpPr>
          <p:cNvPr id="16" name="Shape 14"/>
          <p:cNvSpPr/>
          <p:nvPr/>
        </p:nvSpPr>
        <p:spPr>
          <a:xfrm>
            <a:off x="3246120" y="2898648"/>
            <a:ext cx="4297680" cy="1024128"/>
          </a:xfrm>
          <a:prstGeom prst="rect">
            <a:avLst/>
          </a:prstGeom>
          <a:solidFill>
            <a:srgbClr val="EDEDED"/>
          </a:solidFill>
          <a:ln w="12700">
            <a:solidFill>
              <a:srgbClr val="EDEDED"/>
            </a:solidFill>
            <a:prstDash val="solid"/>
          </a:ln>
        </p:spPr>
      </p:sp>
      <p:sp>
        <p:nvSpPr>
          <p:cNvPr id="17" name="Text 15"/>
          <p:cNvSpPr txBox="1"/>
          <p:nvPr/>
        </p:nvSpPr>
        <p:spPr>
          <a:xfrm>
            <a:off x="3337560" y="2898648"/>
            <a:ext cx="4114800" cy="1024128"/>
          </a:xfrm>
          <a:prstGeom prst="rect">
            <a:avLst/>
          </a:prstGeom>
          <a:noFill/>
          <a:ln/>
        </p:spPr>
        <p:txBody>
          <a:bodyPr wrap="square" lIns="635" tIns="635" rIns="635" bIns="635" rtlCol="0" anchor="ctr"/>
          <a:lstStyle/>
          <a:p>
            <a:pPr indent="0" marL="0">
              <a:buNone/>
            </a:pPr>
            <a:r>
              <a:rPr lang="en-US" sz="1050" dirty="0">
                <a:solidFill>
                  <a:srgbClr val="222222"/>
                </a:solidFill>
                <a:latin typeface="Arial" pitchFamily="34" charset="0"/>
                <a:ea typeface="Arial" pitchFamily="34" charset="-122"/>
                <a:cs typeface="Arial" pitchFamily="34" charset="-120"/>
              </a:rPr>
              <a:t>IT is 0.09% of GWP, so it is affordable. Premium grows 167% on +3.9% policies. Peers put 41–46% of modernisation into data and analytics.</a:t>
            </a:r>
            <a:endParaRPr lang="en-US" sz="1050" dirty="0"/>
          </a:p>
        </p:txBody>
      </p:sp>
      <p:sp>
        <p:nvSpPr>
          <p:cNvPr id="18" name="Shape 16"/>
          <p:cNvSpPr/>
          <p:nvPr/>
        </p:nvSpPr>
        <p:spPr>
          <a:xfrm>
            <a:off x="7680960" y="2898648"/>
            <a:ext cx="4050792" cy="1024128"/>
          </a:xfrm>
          <a:prstGeom prst="rect">
            <a:avLst/>
          </a:prstGeom>
          <a:solidFill>
            <a:srgbClr val="8C8C8C"/>
          </a:solidFill>
          <a:ln w="12700">
            <a:solidFill>
              <a:srgbClr val="8C8C8C"/>
            </a:solidFill>
            <a:prstDash val="solid"/>
          </a:ln>
        </p:spPr>
      </p:sp>
      <p:sp>
        <p:nvSpPr>
          <p:cNvPr id="19" name="Text 17"/>
          <p:cNvSpPr txBox="1"/>
          <p:nvPr/>
        </p:nvSpPr>
        <p:spPr>
          <a:xfrm>
            <a:off x="7772400" y="2898648"/>
            <a:ext cx="3867912" cy="1024128"/>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Fund near-term, measurable use cases (servicing, statements, data). KPIs: IT cost per policy and digital adoption.</a:t>
            </a:r>
            <a:endParaRPr lang="en-US" sz="1050" dirty="0"/>
          </a:p>
        </p:txBody>
      </p:sp>
      <p:sp>
        <p:nvSpPr>
          <p:cNvPr id="20" name="Shape 18"/>
          <p:cNvSpPr/>
          <p:nvPr/>
        </p:nvSpPr>
        <p:spPr>
          <a:xfrm>
            <a:off x="457200" y="4014216"/>
            <a:ext cx="2651760" cy="1024128"/>
          </a:xfrm>
          <a:prstGeom prst="rect">
            <a:avLst/>
          </a:prstGeom>
          <a:solidFill>
            <a:srgbClr val="C8102E"/>
          </a:solidFill>
          <a:ln w="12700">
            <a:solidFill>
              <a:srgbClr val="C8102E"/>
            </a:solidFill>
            <a:prstDash val="solid"/>
          </a:ln>
        </p:spPr>
      </p:sp>
      <p:sp>
        <p:nvSpPr>
          <p:cNvPr id="21" name="Text 19"/>
          <p:cNvSpPr txBox="1"/>
          <p:nvPr/>
        </p:nvSpPr>
        <p:spPr>
          <a:xfrm>
            <a:off x="548640" y="4014216"/>
            <a:ext cx="2468880" cy="1024128"/>
          </a:xfrm>
          <a:prstGeom prst="rect">
            <a:avLst/>
          </a:prstGeom>
          <a:noFill/>
          <a:ln/>
        </p:spPr>
        <p:txBody>
          <a:bodyPr wrap="square" lIns="635" tIns="635" rIns="635" bIns="635"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3. Technology acceleration</a:t>
            </a:r>
            <a:endParaRPr lang="en-US" sz="1300" dirty="0"/>
          </a:p>
        </p:txBody>
      </p:sp>
      <p:sp>
        <p:nvSpPr>
          <p:cNvPr id="22" name="Shape 20"/>
          <p:cNvSpPr/>
          <p:nvPr/>
        </p:nvSpPr>
        <p:spPr>
          <a:xfrm>
            <a:off x="3246120" y="4014216"/>
            <a:ext cx="4297680" cy="1024128"/>
          </a:xfrm>
          <a:prstGeom prst="rect">
            <a:avLst/>
          </a:prstGeom>
          <a:solidFill>
            <a:srgbClr val="EDEDED"/>
          </a:solidFill>
          <a:ln w="12700">
            <a:solidFill>
              <a:srgbClr val="EDEDED"/>
            </a:solidFill>
            <a:prstDash val="solid"/>
          </a:ln>
        </p:spPr>
      </p:sp>
      <p:sp>
        <p:nvSpPr>
          <p:cNvPr id="23" name="Text 21"/>
          <p:cNvSpPr txBox="1"/>
          <p:nvPr/>
        </p:nvSpPr>
        <p:spPr>
          <a:xfrm>
            <a:off x="3337560" y="4014216"/>
            <a:ext cx="4114800" cy="1024128"/>
          </a:xfrm>
          <a:prstGeom prst="rect">
            <a:avLst/>
          </a:prstGeom>
          <a:noFill/>
          <a:ln/>
        </p:spPr>
        <p:txBody>
          <a:bodyPr wrap="square" lIns="635" tIns="635" rIns="635" bIns="635" rtlCol="0" anchor="ctr"/>
          <a:lstStyle/>
          <a:p>
            <a:pPr indent="0" marL="0">
              <a:buNone/>
            </a:pPr>
            <a:r>
              <a:rPr lang="en-US" sz="1050" dirty="0">
                <a:solidFill>
                  <a:srgbClr val="222222"/>
                </a:solidFill>
                <a:latin typeface="Arial" pitchFamily="34" charset="0"/>
                <a:ea typeface="Arial" pitchFamily="34" charset="-122"/>
                <a:cs typeface="Arial" pitchFamily="34" charset="-120"/>
              </a:rPr>
              <a:t>PAS cost per transaction is about 20× Sun Life's. STP is not tracked, against 30–70% in the market. Infrastructure is 17% of spend against 4–10% for peers.</a:t>
            </a:r>
            <a:endParaRPr lang="en-US" sz="1050" dirty="0"/>
          </a:p>
        </p:txBody>
      </p:sp>
      <p:sp>
        <p:nvSpPr>
          <p:cNvPr id="24" name="Shape 22"/>
          <p:cNvSpPr/>
          <p:nvPr/>
        </p:nvSpPr>
        <p:spPr>
          <a:xfrm>
            <a:off x="7680960" y="4014216"/>
            <a:ext cx="4050792" cy="1024128"/>
          </a:xfrm>
          <a:prstGeom prst="rect">
            <a:avLst/>
          </a:prstGeom>
          <a:solidFill>
            <a:srgbClr val="8C8C8C"/>
          </a:solidFill>
          <a:ln w="12700">
            <a:solidFill>
              <a:srgbClr val="8C8C8C"/>
            </a:solidFill>
            <a:prstDash val="solid"/>
          </a:ln>
        </p:spPr>
      </p:sp>
      <p:sp>
        <p:nvSpPr>
          <p:cNvPr id="25" name="Text 23"/>
          <p:cNvSpPr txBox="1"/>
          <p:nvPr/>
        </p:nvSpPr>
        <p:spPr>
          <a:xfrm>
            <a:off x="7772400" y="4014216"/>
            <a:ext cx="3867912" cy="1024128"/>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Selective re-platforming, automation of high-effort PAS journeys, and an STP baseline. KPIs: STP % and PAS cost per case.</a:t>
            </a:r>
            <a:endParaRPr lang="en-US" sz="1050" dirty="0"/>
          </a:p>
        </p:txBody>
      </p:sp>
      <p:sp>
        <p:nvSpPr>
          <p:cNvPr id="26" name="Shape 24"/>
          <p:cNvSpPr/>
          <p:nvPr/>
        </p:nvSpPr>
        <p:spPr>
          <a:xfrm>
            <a:off x="457200" y="5129784"/>
            <a:ext cx="2651760" cy="1024128"/>
          </a:xfrm>
          <a:prstGeom prst="rect">
            <a:avLst/>
          </a:prstGeom>
          <a:solidFill>
            <a:srgbClr val="C8102E"/>
          </a:solidFill>
          <a:ln w="12700">
            <a:solidFill>
              <a:srgbClr val="C8102E"/>
            </a:solidFill>
            <a:prstDash val="solid"/>
          </a:ln>
        </p:spPr>
      </p:sp>
      <p:sp>
        <p:nvSpPr>
          <p:cNvPr id="27" name="Text 25"/>
          <p:cNvSpPr txBox="1"/>
          <p:nvPr/>
        </p:nvSpPr>
        <p:spPr>
          <a:xfrm>
            <a:off x="548640" y="5129784"/>
            <a:ext cx="2468880" cy="1024128"/>
          </a:xfrm>
          <a:prstGeom prst="rect">
            <a:avLst/>
          </a:prstGeom>
          <a:noFill/>
          <a:ln/>
        </p:spPr>
        <p:txBody>
          <a:bodyPr wrap="square" lIns="635" tIns="635" rIns="635" bIns="635"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4. HNW vs mass-market</a:t>
            </a:r>
            <a:endParaRPr lang="en-US" sz="1300" dirty="0"/>
          </a:p>
        </p:txBody>
      </p:sp>
      <p:sp>
        <p:nvSpPr>
          <p:cNvPr id="28" name="Shape 26"/>
          <p:cNvSpPr/>
          <p:nvPr/>
        </p:nvSpPr>
        <p:spPr>
          <a:xfrm>
            <a:off x="3246120" y="5129784"/>
            <a:ext cx="4297680" cy="1024128"/>
          </a:xfrm>
          <a:prstGeom prst="rect">
            <a:avLst/>
          </a:prstGeom>
          <a:solidFill>
            <a:srgbClr val="EDEDED"/>
          </a:solidFill>
          <a:ln w="12700">
            <a:solidFill>
              <a:srgbClr val="EDEDED"/>
            </a:solidFill>
            <a:prstDash val="solid"/>
          </a:ln>
        </p:spPr>
      </p:sp>
      <p:sp>
        <p:nvSpPr>
          <p:cNvPr id="29" name="Text 27"/>
          <p:cNvSpPr txBox="1"/>
          <p:nvPr/>
        </p:nvSpPr>
        <p:spPr>
          <a:xfrm>
            <a:off x="3337560" y="5129784"/>
            <a:ext cx="4114800" cy="1024128"/>
          </a:xfrm>
          <a:prstGeom prst="rect">
            <a:avLst/>
          </a:prstGeom>
          <a:noFill/>
          <a:ln/>
        </p:spPr>
        <p:txBody>
          <a:bodyPr wrap="square" lIns="635" tIns="635" rIns="635" bIns="635" rtlCol="0" anchor="ctr"/>
          <a:lstStyle/>
          <a:p>
            <a:pPr indent="0" marL="0">
              <a:buNone/>
            </a:pPr>
            <a:r>
              <a:rPr lang="en-US" sz="1050" dirty="0">
                <a:solidFill>
                  <a:srgbClr val="222222"/>
                </a:solidFill>
                <a:latin typeface="Arial" pitchFamily="34" charset="0"/>
                <a:ea typeface="Arial" pitchFamily="34" charset="-122"/>
                <a:cs typeface="Arial" pitchFamily="34" charset="-120"/>
              </a:rPr>
              <a:t>Premium per policy rises from HKD 71k to 183k. Digital adoption is 20% against 30–70%, and a digital submission costs 5× a standard one.</a:t>
            </a:r>
            <a:endParaRPr lang="en-US" sz="1050" dirty="0"/>
          </a:p>
        </p:txBody>
      </p:sp>
      <p:sp>
        <p:nvSpPr>
          <p:cNvPr id="30" name="Shape 28"/>
          <p:cNvSpPr/>
          <p:nvPr/>
        </p:nvSpPr>
        <p:spPr>
          <a:xfrm>
            <a:off x="7680960" y="5129784"/>
            <a:ext cx="4050792" cy="1024128"/>
          </a:xfrm>
          <a:prstGeom prst="rect">
            <a:avLst/>
          </a:prstGeom>
          <a:solidFill>
            <a:srgbClr val="8C8C8C"/>
          </a:solidFill>
          <a:ln w="12700">
            <a:solidFill>
              <a:srgbClr val="8C8C8C"/>
            </a:solidFill>
            <a:prstDash val="solid"/>
          </a:ln>
        </p:spPr>
      </p:sp>
      <p:sp>
        <p:nvSpPr>
          <p:cNvPr id="31" name="Text 29"/>
          <p:cNvSpPr txBox="1"/>
          <p:nvPr/>
        </p:nvSpPr>
        <p:spPr>
          <a:xfrm>
            <a:off x="7772400" y="5129784"/>
            <a:ext cx="3867912" cy="1024128"/>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Separate platform treatment: tailored HNW capability, and a digital, high-STP mass-market path. KPI: cost to serve by segment.</a:t>
            </a:r>
            <a:endParaRPr lang="en-US" sz="1050" dirty="0"/>
          </a:p>
        </p:txBody>
      </p:sp>
      <p:sp>
        <p:nvSpPr>
          <p:cNvPr id="32" name="Text 30"/>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Client FY2025 actuals and FY2026E budget; Sun Life HK current; peer benchmarks (AIA, Prudential, Manulife) and market ranges from IT cost breakdown, RGT mix and technology category studies.</a:t>
            </a:r>
            <a:endParaRPr lang="en-US" sz="850" dirty="0"/>
          </a:p>
        </p:txBody>
      </p:sp>
      <p:sp>
        <p:nvSpPr>
          <p:cNvPr id="33" name="Text 31"/>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08 </a:t>
            </a:r>
            <a:pPr indent="0" marL="0">
              <a:buNone/>
            </a:pPr>
            <a:r>
              <a:rPr lang="en-US" sz="1300" dirty="0">
                <a:solidFill>
                  <a:srgbClr val="C8102E"/>
                </a:solidFill>
                <a:latin typeface="Arial" pitchFamily="34" charset="0"/>
                <a:ea typeface="Arial" pitchFamily="34" charset="-122"/>
                <a:cs typeface="Arial" pitchFamily="34" charset="-120"/>
              </a:rPr>
              <a:t>| Data Quality &amp; Next Steps</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Client data is directional: five gaps to close before the business case</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The direction holds (lean IT, costly PAS, value-led growth). The sizing of the PAS gap and the peer comparisons need validating with the client.</a:t>
            </a:r>
            <a:endParaRPr lang="en-US" sz="1250" dirty="0"/>
          </a:p>
        </p:txBody>
      </p:sp>
      <p:sp>
        <p:nvSpPr>
          <p:cNvPr id="5" name="Shape 3"/>
          <p:cNvSpPr/>
          <p:nvPr/>
        </p:nvSpPr>
        <p:spPr>
          <a:xfrm>
            <a:off x="457200" y="1783080"/>
            <a:ext cx="6675120" cy="347472"/>
          </a:xfrm>
          <a:prstGeom prst="rect">
            <a:avLst/>
          </a:prstGeom>
          <a:solidFill>
            <a:srgbClr val="C8102E"/>
          </a:solidFill>
          <a:ln w="12700">
            <a:solidFill>
              <a:srgbClr val="C8102E"/>
            </a:solidFill>
            <a:prstDash val="solid"/>
          </a:ln>
        </p:spPr>
      </p:sp>
      <p:sp>
        <p:nvSpPr>
          <p:cNvPr id="6" name="Text 4"/>
          <p:cNvSpPr txBox="1"/>
          <p:nvPr/>
        </p:nvSpPr>
        <p:spPr>
          <a:xfrm>
            <a:off x="548640" y="1783080"/>
            <a:ext cx="6492240"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Data gaps identified</a:t>
            </a:r>
            <a:endParaRPr lang="en-US" sz="1200" dirty="0"/>
          </a:p>
        </p:txBody>
      </p:sp>
      <p:sp>
        <p:nvSpPr>
          <p:cNvPr id="7" name="Shape 5"/>
          <p:cNvSpPr/>
          <p:nvPr/>
        </p:nvSpPr>
        <p:spPr>
          <a:xfrm>
            <a:off x="457200" y="2130552"/>
            <a:ext cx="6675120" cy="4069080"/>
          </a:xfrm>
          <a:prstGeom prst="rect">
            <a:avLst/>
          </a:prstGeom>
          <a:solidFill>
            <a:srgbClr val="EDEDED"/>
          </a:solidFill>
          <a:ln w="12700">
            <a:solidFill>
              <a:srgbClr val="EDEDED"/>
            </a:solidFill>
            <a:prstDash val="solid"/>
          </a:ln>
        </p:spPr>
      </p:sp>
      <p:sp>
        <p:nvSpPr>
          <p:cNvPr id="8" name="Text 6"/>
          <p:cNvSpPr txBox="1"/>
          <p:nvPr/>
        </p:nvSpPr>
        <p:spPr>
          <a:xfrm>
            <a:off x="594360" y="2331720"/>
            <a:ext cx="6400800" cy="3749040"/>
          </a:xfrm>
          <a:prstGeom prst="rect">
            <a:avLst/>
          </a:prstGeom>
          <a:noFill/>
          <a:ln/>
        </p:spPr>
        <p:txBody>
          <a:bodyPr wrap="square" lIns="635" tIns="635" rIns="635" bIns="635" rtlCol="0" anchor="t"/>
          <a:lstStyle/>
          <a:p>
            <a:pPr marL="152400" indent="-152400">
              <a:spcAft>
                <a:spcPts val="1600"/>
              </a:spcAft>
              <a:buSzPct val="100000"/>
              <a:buChar char="•"/>
            </a:pPr>
            <a:r>
              <a:rPr lang="en-US" sz="1300" b="1" dirty="0">
                <a:solidFill>
                  <a:srgbClr val="222222"/>
                </a:solidFill>
                <a:latin typeface="Arial" pitchFamily="34" charset="0"/>
                <a:ea typeface="Arial" pitchFamily="34" charset="-122"/>
                <a:cs typeface="Arial" pitchFamily="34" charset="-120"/>
              </a:rPr>
              <a:t>PAS cost scope: </a:t>
            </a:r>
            <a:pPr indent="0" marL="0">
              <a:spcAft>
                <a:spcPts val="1600"/>
              </a:spcAft>
              <a:buNone/>
            </a:pPr>
            <a:r>
              <a:rPr lang="en-US" sz="1300" dirty="0">
                <a:solidFill>
                  <a:srgbClr val="222222"/>
                </a:solidFill>
                <a:latin typeface="Arial" pitchFamily="34" charset="0"/>
                <a:ea typeface="Arial" pitchFamily="34" charset="-122"/>
                <a:cs typeface="Arial" pitchFamily="34" charset="-120"/>
              </a:rPr>
              <a:t>HKD 153.7m is higher than total IT spend of HKD 132.2m. Confirm whether it includes operations, vendor or business cost.</a:t>
            </a:r>
            <a:endParaRPr lang="en-US" sz="1300" dirty="0"/>
          </a:p>
          <a:p>
            <a:pPr marL="152400" indent="-152400">
              <a:spcAft>
                <a:spcPts val="1600"/>
              </a:spcAft>
              <a:buSzPct val="100000"/>
              <a:buChar char="•"/>
            </a:pPr>
            <a:r>
              <a:rPr lang="en-US" sz="1300" b="1" dirty="0">
                <a:solidFill>
                  <a:srgbClr val="222222"/>
                </a:solidFill>
                <a:latin typeface="Arial" pitchFamily="34" charset="0"/>
                <a:ea typeface="Arial" pitchFamily="34" charset="-122"/>
                <a:cs typeface="Arial" pitchFamily="34" charset="-120"/>
              </a:rPr>
              <a:t>No FY25 baseline: </a:t>
            </a:r>
            <a:pPr indent="0" marL="0">
              <a:spcAft>
                <a:spcPts val="1600"/>
              </a:spcAft>
              <a:buNone/>
            </a:pPr>
            <a:r>
              <a:rPr lang="en-US" sz="1300" dirty="0">
                <a:solidFill>
                  <a:srgbClr val="222222"/>
                </a:solidFill>
                <a:latin typeface="Arial" pitchFamily="34" charset="0"/>
                <a:ea typeface="Arial" pitchFamily="34" charset="-122"/>
                <a:cs typeface="Arial" pitchFamily="34" charset="-120"/>
              </a:rPr>
              <a:t>PAS cost, STP and digital sales are missing for FY25, and growth metrics show 0% by default.</a:t>
            </a:r>
            <a:endParaRPr lang="en-US" sz="1300" dirty="0"/>
          </a:p>
          <a:p>
            <a:pPr marL="152400" indent="-152400">
              <a:spcAft>
                <a:spcPts val="1600"/>
              </a:spcAft>
              <a:buSzPct val="100000"/>
              <a:buChar char="•"/>
            </a:pPr>
            <a:r>
              <a:rPr lang="en-US" sz="1300" b="1" dirty="0">
                <a:solidFill>
                  <a:srgbClr val="222222"/>
                </a:solidFill>
                <a:latin typeface="Arial" pitchFamily="34" charset="0"/>
                <a:ea typeface="Arial" pitchFamily="34" charset="-122"/>
                <a:cs typeface="Arial" pitchFamily="34" charset="-120"/>
              </a:rPr>
              <a:t>STP not tracked: </a:t>
            </a:r>
            <a:pPr indent="0" marL="0">
              <a:spcAft>
                <a:spcPts val="1600"/>
              </a:spcAft>
              <a:buNone/>
            </a:pPr>
            <a:r>
              <a:rPr lang="en-US" sz="1300" dirty="0">
                <a:solidFill>
                  <a:srgbClr val="222222"/>
                </a:solidFill>
                <a:latin typeface="Arial" pitchFamily="34" charset="0"/>
                <a:ea typeface="Arial" pitchFamily="34" charset="-122"/>
                <a:cs typeface="Arial" pitchFamily="34" charset="-120"/>
              </a:rPr>
              <a:t>this is the lead automation KPI for Option 3, and the client has no baseline.</a:t>
            </a:r>
            <a:endParaRPr lang="en-US" sz="1300" dirty="0"/>
          </a:p>
          <a:p>
            <a:pPr marL="152400" indent="-152400">
              <a:spcAft>
                <a:spcPts val="1600"/>
              </a:spcAft>
              <a:buSzPct val="100000"/>
              <a:buChar char="•"/>
            </a:pPr>
            <a:r>
              <a:rPr lang="en-US" sz="1300" b="1" dirty="0">
                <a:solidFill>
                  <a:srgbClr val="222222"/>
                </a:solidFill>
                <a:latin typeface="Arial" pitchFamily="34" charset="0"/>
                <a:ea typeface="Arial" pitchFamily="34" charset="-122"/>
                <a:cs typeface="Arial" pitchFamily="34" charset="-120"/>
              </a:rPr>
              <a:t>Peer inconsistencies: </a:t>
            </a:r>
            <a:pPr indent="0" marL="0">
              <a:spcAft>
                <a:spcPts val="1600"/>
              </a:spcAft>
              <a:buNone/>
            </a:pPr>
            <a:r>
              <a:rPr lang="en-US" sz="1300" dirty="0">
                <a:solidFill>
                  <a:srgbClr val="222222"/>
                </a:solidFill>
                <a:latin typeface="Arial" pitchFamily="34" charset="0"/>
                <a:ea typeface="Arial" pitchFamily="34" charset="-122"/>
                <a:cs typeface="Arial" pitchFamily="34" charset="-120"/>
              </a:rPr>
              <a:t>Sun Life IT/GWP of 16.8% (premium base of HKD 1.3bn looks understated). The peer 'IT cost efficiency' of 3–9% conflicts with the 0.6–0.7% implied by the ranges.</a:t>
            </a:r>
            <a:endParaRPr lang="en-US" sz="1300" dirty="0"/>
          </a:p>
          <a:p>
            <a:pPr marL="152400" indent="-152400">
              <a:spcAft>
                <a:spcPts val="1600"/>
              </a:spcAft>
              <a:buSzPct val="100000"/>
              <a:buChar char="•"/>
            </a:pPr>
            <a:r>
              <a:rPr lang="en-US" sz="1300" b="1" dirty="0">
                <a:solidFill>
                  <a:srgbClr val="222222"/>
                </a:solidFill>
                <a:latin typeface="Arial" pitchFamily="34" charset="0"/>
                <a:ea typeface="Arial" pitchFamily="34" charset="-122"/>
                <a:cs typeface="Arial" pitchFamily="34" charset="-120"/>
              </a:rPr>
              <a:t>Category definitions: </a:t>
            </a:r>
            <a:pPr indent="0" marL="0">
              <a:spcAft>
                <a:spcPts val="1600"/>
              </a:spcAft>
              <a:buNone/>
            </a:pPr>
            <a:r>
              <a:rPr lang="en-US" sz="1300" dirty="0">
                <a:solidFill>
                  <a:srgbClr val="222222"/>
                </a:solidFill>
                <a:latin typeface="Arial" pitchFamily="34" charset="0"/>
                <a:ea typeface="Arial" pitchFamily="34" charset="-122"/>
                <a:cs typeface="Arial" pitchFamily="34" charset="-120"/>
              </a:rPr>
              <a:t>application spend of 2% (client) against 52.5% (Sun Life), and different definitions of external IT between sources.</a:t>
            </a:r>
            <a:endParaRPr lang="en-US" sz="1300" dirty="0"/>
          </a:p>
        </p:txBody>
      </p:sp>
      <p:sp>
        <p:nvSpPr>
          <p:cNvPr id="9" name="Shape 7"/>
          <p:cNvSpPr/>
          <p:nvPr/>
        </p:nvSpPr>
        <p:spPr>
          <a:xfrm>
            <a:off x="7406640" y="1783080"/>
            <a:ext cx="4325112" cy="347472"/>
          </a:xfrm>
          <a:prstGeom prst="rect">
            <a:avLst/>
          </a:prstGeom>
          <a:solidFill>
            <a:srgbClr val="C8102E"/>
          </a:solidFill>
          <a:ln w="12700">
            <a:solidFill>
              <a:srgbClr val="C8102E"/>
            </a:solidFill>
            <a:prstDash val="solid"/>
          </a:ln>
        </p:spPr>
      </p:sp>
      <p:sp>
        <p:nvSpPr>
          <p:cNvPr id="10" name="Text 8"/>
          <p:cNvSpPr txBox="1"/>
          <p:nvPr/>
        </p:nvSpPr>
        <p:spPr>
          <a:xfrm>
            <a:off x="7498080" y="1783080"/>
            <a:ext cx="414223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Proposed next steps</a:t>
            </a:r>
            <a:endParaRPr lang="en-US" sz="1200" dirty="0"/>
          </a:p>
        </p:txBody>
      </p:sp>
      <p:sp>
        <p:nvSpPr>
          <p:cNvPr id="11" name="Shape 9"/>
          <p:cNvSpPr/>
          <p:nvPr/>
        </p:nvSpPr>
        <p:spPr>
          <a:xfrm>
            <a:off x="7406640" y="2331720"/>
            <a:ext cx="548640" cy="548640"/>
          </a:xfrm>
          <a:prstGeom prst="ellipse">
            <a:avLst/>
          </a:prstGeom>
          <a:solidFill>
            <a:srgbClr val="C8102E"/>
          </a:solidFill>
          <a:ln w="12700">
            <a:solidFill>
              <a:srgbClr val="C8102E"/>
            </a:solidFill>
            <a:prstDash val="solid"/>
          </a:ln>
        </p:spPr>
      </p:sp>
      <p:sp>
        <p:nvSpPr>
          <p:cNvPr id="12" name="Text 10"/>
          <p:cNvSpPr txBox="1"/>
          <p:nvPr/>
        </p:nvSpPr>
        <p:spPr>
          <a:xfrm>
            <a:off x="7406640" y="23317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3" name="Text 11"/>
          <p:cNvSpPr txBox="1"/>
          <p:nvPr/>
        </p:nvSpPr>
        <p:spPr>
          <a:xfrm>
            <a:off x="8092440" y="2240280"/>
            <a:ext cx="3639312" cy="731520"/>
          </a:xfrm>
          <a:prstGeom prst="rect">
            <a:avLst/>
          </a:prstGeom>
          <a:noFill/>
          <a:ln/>
        </p:spPr>
        <p:txBody>
          <a:bodyPr wrap="square" lIns="0" tIns="0" rIns="0" bIns="0" rtlCol="0" anchor="ctr"/>
          <a:lstStyle/>
          <a:p>
            <a:pPr indent="0" marL="0">
              <a:buNone/>
            </a:pPr>
            <a:r>
              <a:rPr lang="en-US" sz="1150" dirty="0">
                <a:solidFill>
                  <a:srgbClr val="222222"/>
                </a:solidFill>
                <a:latin typeface="Arial" pitchFamily="34" charset="0"/>
                <a:ea typeface="Arial" pitchFamily="34" charset="-122"/>
                <a:cs typeface="Arial" pitchFamily="34" charset="-120"/>
              </a:rPr>
              <a:t>Reconcile PAS cost against the IT cost base with Finance and IT (scope, allocation keys)</a:t>
            </a:r>
            <a:endParaRPr lang="en-US" sz="1150" dirty="0"/>
          </a:p>
        </p:txBody>
      </p:sp>
      <p:sp>
        <p:nvSpPr>
          <p:cNvPr id="14" name="Shape 12"/>
          <p:cNvSpPr/>
          <p:nvPr/>
        </p:nvSpPr>
        <p:spPr>
          <a:xfrm>
            <a:off x="7406640" y="3319272"/>
            <a:ext cx="548640" cy="548640"/>
          </a:xfrm>
          <a:prstGeom prst="ellipse">
            <a:avLst/>
          </a:prstGeom>
          <a:solidFill>
            <a:srgbClr val="C8102E"/>
          </a:solidFill>
          <a:ln w="12700">
            <a:solidFill>
              <a:srgbClr val="C8102E"/>
            </a:solidFill>
            <a:prstDash val="solid"/>
          </a:ln>
        </p:spPr>
      </p:sp>
      <p:sp>
        <p:nvSpPr>
          <p:cNvPr id="15" name="Text 13"/>
          <p:cNvSpPr txBox="1"/>
          <p:nvPr/>
        </p:nvSpPr>
        <p:spPr>
          <a:xfrm>
            <a:off x="7406640" y="331927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6" name="Text 14"/>
          <p:cNvSpPr txBox="1"/>
          <p:nvPr/>
        </p:nvSpPr>
        <p:spPr>
          <a:xfrm>
            <a:off x="8092440" y="3227832"/>
            <a:ext cx="3639312" cy="731520"/>
          </a:xfrm>
          <a:prstGeom prst="rect">
            <a:avLst/>
          </a:prstGeom>
          <a:noFill/>
          <a:ln/>
        </p:spPr>
        <p:txBody>
          <a:bodyPr wrap="square" lIns="0" tIns="0" rIns="0" bIns="0" rtlCol="0" anchor="ctr"/>
          <a:lstStyle/>
          <a:p>
            <a:pPr indent="0" marL="0">
              <a:buNone/>
            </a:pPr>
            <a:r>
              <a:rPr lang="en-US" sz="1150" dirty="0">
                <a:solidFill>
                  <a:srgbClr val="222222"/>
                </a:solidFill>
                <a:latin typeface="Arial" pitchFamily="34" charset="0"/>
                <a:ea typeface="Arial" pitchFamily="34" charset="-122"/>
                <a:cs typeface="Arial" pitchFamily="34" charset="-120"/>
              </a:rPr>
              <a:t>Set FY25 baselines for STP, PAS cost per case and digital adoption</a:t>
            </a:r>
            <a:endParaRPr lang="en-US" sz="1150" dirty="0"/>
          </a:p>
        </p:txBody>
      </p:sp>
      <p:sp>
        <p:nvSpPr>
          <p:cNvPr id="17" name="Shape 15"/>
          <p:cNvSpPr/>
          <p:nvPr/>
        </p:nvSpPr>
        <p:spPr>
          <a:xfrm>
            <a:off x="7406640" y="4306824"/>
            <a:ext cx="548640" cy="548640"/>
          </a:xfrm>
          <a:prstGeom prst="ellipse">
            <a:avLst/>
          </a:prstGeom>
          <a:solidFill>
            <a:srgbClr val="C8102E"/>
          </a:solidFill>
          <a:ln w="12700">
            <a:solidFill>
              <a:srgbClr val="C8102E"/>
            </a:solidFill>
            <a:prstDash val="solid"/>
          </a:ln>
        </p:spPr>
      </p:sp>
      <p:sp>
        <p:nvSpPr>
          <p:cNvPr id="18" name="Text 16"/>
          <p:cNvSpPr txBox="1"/>
          <p:nvPr/>
        </p:nvSpPr>
        <p:spPr>
          <a:xfrm>
            <a:off x="7406640" y="430682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7"/>
          <p:cNvSpPr txBox="1"/>
          <p:nvPr/>
        </p:nvSpPr>
        <p:spPr>
          <a:xfrm>
            <a:off x="8092440" y="4215384"/>
            <a:ext cx="3639312" cy="731520"/>
          </a:xfrm>
          <a:prstGeom prst="rect">
            <a:avLst/>
          </a:prstGeom>
          <a:noFill/>
          <a:ln/>
        </p:spPr>
        <p:txBody>
          <a:bodyPr wrap="square" lIns="0" tIns="0" rIns="0" bIns="0" rtlCol="0" anchor="ctr"/>
          <a:lstStyle/>
          <a:p>
            <a:pPr indent="0" marL="0">
              <a:buNone/>
            </a:pPr>
            <a:r>
              <a:rPr lang="en-US" sz="1150" dirty="0">
                <a:solidFill>
                  <a:srgbClr val="222222"/>
                </a:solidFill>
                <a:latin typeface="Arial" pitchFamily="34" charset="0"/>
                <a:ea typeface="Arial" pitchFamily="34" charset="-122"/>
                <a:cs typeface="Arial" pitchFamily="34" charset="-120"/>
              </a:rPr>
              <a:t>Normalise peer data to one taxonomy (run/change, labour, technology)</a:t>
            </a:r>
            <a:endParaRPr lang="en-US" sz="1150" dirty="0"/>
          </a:p>
        </p:txBody>
      </p:sp>
      <p:sp>
        <p:nvSpPr>
          <p:cNvPr id="20" name="Shape 18"/>
          <p:cNvSpPr/>
          <p:nvPr/>
        </p:nvSpPr>
        <p:spPr>
          <a:xfrm>
            <a:off x="7406640" y="5294376"/>
            <a:ext cx="548640" cy="548640"/>
          </a:xfrm>
          <a:prstGeom prst="ellipse">
            <a:avLst/>
          </a:prstGeom>
          <a:solidFill>
            <a:srgbClr val="C8102E"/>
          </a:solidFill>
          <a:ln w="12700">
            <a:solidFill>
              <a:srgbClr val="C8102E"/>
            </a:solidFill>
            <a:prstDash val="solid"/>
          </a:ln>
        </p:spPr>
      </p:sp>
      <p:sp>
        <p:nvSpPr>
          <p:cNvPr id="21" name="Text 19"/>
          <p:cNvSpPr txBox="1"/>
          <p:nvPr/>
        </p:nvSpPr>
        <p:spPr>
          <a:xfrm>
            <a:off x="7406640" y="529437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8092440" y="5202936"/>
            <a:ext cx="3639312" cy="731520"/>
          </a:xfrm>
          <a:prstGeom prst="rect">
            <a:avLst/>
          </a:prstGeom>
          <a:noFill/>
          <a:ln/>
        </p:spPr>
        <p:txBody>
          <a:bodyPr wrap="square" lIns="0" tIns="0" rIns="0" bIns="0" rtlCol="0" anchor="ctr"/>
          <a:lstStyle/>
          <a:p>
            <a:pPr indent="0" marL="0">
              <a:buNone/>
            </a:pPr>
            <a:r>
              <a:rPr lang="en-US" sz="1150" dirty="0">
                <a:solidFill>
                  <a:srgbClr val="222222"/>
                </a:solidFill>
                <a:latin typeface="Arial" pitchFamily="34" charset="0"/>
                <a:ea typeface="Arial" pitchFamily="34" charset="-122"/>
                <a:cs typeface="Arial" pitchFamily="34" charset="-120"/>
              </a:rPr>
              <a:t>Set Option 3+ KPI targets for each lens and link them to the modernisation roadmap</a:t>
            </a:r>
            <a:endParaRPr lang="en-US" sz="1150" dirty="0"/>
          </a:p>
        </p:txBody>
      </p:sp>
      <p:sp>
        <p:nvSpPr>
          <p:cNvPr id="23" name="Text 21"/>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Client FY2025 actuals and FY2026E budget; Sun Life HK current; peer benchmarks (AIA, Prudential, Manulife) and market ranges from IT cost breakdown, RGT mix and technology category studies.</a:t>
            </a:r>
            <a:endParaRPr lang="en-US" sz="850" dirty="0"/>
          </a:p>
        </p:txBody>
      </p:sp>
      <p:sp>
        <p:nvSpPr>
          <p:cNvPr id="24" name="Text 22"/>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Cost &amp; PAS Benchmark Analysis</dc:title>
  <dc:subject>PptxGenJS Presentation</dc:subject>
  <dc:creator>PptxGenJS</dc:creator>
  <cp:lastModifiedBy>PptxGenJS</cp:lastModifiedBy>
  <cp:revision>1</cp:revision>
  <dcterms:created xsi:type="dcterms:W3CDTF">2026-09-23T09:44:43Z</dcterms:created>
  <dcterms:modified xsi:type="dcterms:W3CDTF">2026-09-23T09:44:43Z</dcterms:modified>
</cp:coreProperties>
</file>