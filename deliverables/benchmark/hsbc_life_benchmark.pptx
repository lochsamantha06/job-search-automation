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Direct written premium (DWP) growth, %</a:t>
            </a:r>
          </a:p>
        </c:rich>
      </c:tx>
      <c:layout/>
      <c:overlay val="0"/>
    </c:title>
    <c:autoTitleDeleted val="0"/>
    <c:plotArea>
      <c:layout/>
      <c:barChart>
        <c:barDir val="col"/>
        <c:grouping val="clustered"/>
        <c:varyColors val="0"/>
        <c:ser>
          <c:idx val="0"/>
          <c:order val="0"/>
          <c:tx>
            <c:strRef>
              <c:f>Sheet1!$B$1</c:f>
              <c:strCache>
                <c:ptCount val="1"/>
                <c:pt idx="0">
                  <c:v>DWP growth 2024 (YoY)</c:v>
                </c:pt>
              </c:strCache>
            </c:strRef>
          </c:tx>
          <c:spPr>
            <a:solidFill>
              <a:srgbClr val="C8102E"/>
            </a:solidFill>
            <a:effectLst/>
          </c:spPr>
          <c:invertIfNegative val="0"/>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Sheet1!$A$2:$A$7</c:f>
              <c:multiLvlStrCache>
                <c:ptCount val="6"/>
                <c:lvl>
                  <c:pt idx="0">
                    <c:v>HSBC Life</c:v>
                  </c:pt>
                  <c:pt idx="1">
                    <c:v>HSBC Group on L400</c:v>
                  </c:pt>
                  <c:pt idx="2">
                    <c:v>AIA</c:v>
                  </c:pt>
                  <c:pt idx="3">
                    <c:v>Prudential</c:v>
                  </c:pt>
                  <c:pt idx="4">
                    <c:v>Manulife</c:v>
                  </c:pt>
                  <c:pt idx="5">
                    <c:v>Top-8 market</c:v>
                  </c:pt>
                </c:lvl>
              </c:multiLvlStrCache>
            </c:multiLvlStrRef>
          </c:cat>
          <c:val>
            <c:numRef>
              <c:f>Sheet1!$B$2:$B$7</c:f>
              <c:numCache>
                <c:formatCode>General</c:formatCode>
                <c:ptCount val="6"/>
                <c:pt idx="0">
                  <c:v>10.2</c:v>
                </c:pt>
                <c:pt idx="1">
                  <c:v>21.9</c:v>
                </c:pt>
                <c:pt idx="2">
                  <c:v>1.3</c:v>
                </c:pt>
                <c:pt idx="3">
                  <c:v>5.2</c:v>
                </c:pt>
                <c:pt idx="4">
                  <c:v>6.5</c:v>
                </c:pt>
                <c:pt idx="5">
                  <c:v>10.3</c:v>
                </c:pt>
              </c:numCache>
            </c:numRef>
          </c:val>
        </c:ser>
        <c:ser>
          <c:idx val="1"/>
          <c:order val="1"/>
          <c:tx>
            <c:strRef>
              <c:f>Sheet1!$C$1</c:f>
              <c:strCache>
                <c:ptCount val="1"/>
                <c:pt idx="0">
                  <c:v>DWP CAGR 2020–24</c:v>
                </c:pt>
              </c:strCache>
            </c:strRef>
          </c:tx>
          <c:spPr>
            <a:solidFill>
              <a:srgbClr val="BFBFBF"/>
            </a:solidFill>
            <a:effectLst/>
          </c:spPr>
          <c:invertIfNegative val="0"/>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cat>
            <c:multiLvlStrRef>
              <c:f>Sheet1!$A$2:$A$7</c:f>
              <c:multiLvlStrCache>
                <c:ptCount val="6"/>
                <c:lvl>
                  <c:pt idx="0">
                    <c:v>HSBC Life</c:v>
                  </c:pt>
                  <c:pt idx="1">
                    <c:v>HSBC Group on L400</c:v>
                  </c:pt>
                  <c:pt idx="2">
                    <c:v>AIA</c:v>
                  </c:pt>
                  <c:pt idx="3">
                    <c:v>Prudential</c:v>
                  </c:pt>
                  <c:pt idx="4">
                    <c:v>Manulife</c:v>
                  </c:pt>
                  <c:pt idx="5">
                    <c:v>Top-8 market</c:v>
                  </c:pt>
                </c:lvl>
              </c:multiLvlStrCache>
            </c:multiLvlStrRef>
          </c:cat>
          <c:val>
            <c:numRef>
              <c:f>Sheet1!$C$2:$C$7</c:f>
              <c:numCache>
                <c:formatCode>General</c:formatCode>
                <c:ptCount val="6"/>
                <c:pt idx="0">
                  <c:v>8.3</c:v>
                </c:pt>
                <c:pt idx="1">
                  <c:v>12.1</c:v>
                </c:pt>
                <c:pt idx="2">
                  <c:v>-4.8</c:v>
                </c:pt>
                <c:pt idx="3">
                  <c:v>-5.5</c:v>
                </c:pt>
                <c:pt idx="4">
                  <c:v>3.6</c:v>
                </c:pt>
                <c:pt idx="5">
                  <c:v>-0.3</c:v>
                </c:pt>
              </c:numCache>
            </c:numRef>
          </c:val>
        </c:ser>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Total ICT spend, FY2025 projected (USD m)</a:t>
            </a:r>
          </a:p>
        </c:rich>
      </c:tx>
      <c:layout/>
      <c:overlay val="0"/>
    </c:title>
    <c:autoTitleDeleted val="0"/>
    <c:plotArea>
      <c:layout/>
      <c:barChart>
        <c:barDir val="col"/>
        <c:grouping val="clustered"/>
        <c:varyColors val="0"/>
        <c:ser>
          <c:idx val="0"/>
          <c:order val="0"/>
          <c:tx>
            <c:strRef>
              <c:f>Sheet1!$B$1</c:f>
              <c:strCache>
                <c:ptCount val="1"/>
                <c:pt idx="0">
                  <c:v>ICT FY2025E (USD m)</c:v>
                </c:pt>
              </c:strCache>
            </c:strRef>
          </c:tx>
          <c:spPr>
            <a:solidFill>
              <a:srgbClr val="C8102E"/>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BFBFBF"/>
              </a:solidFill>
              <a:effectLst/>
            </c:spPr>
          </c:dPt>
          <c:dPt>
            <c:idx val="2"/>
            <c:invertIfNegative val="0"/>
            <c:bubble3D val="0"/>
            <c:spPr>
              <a:solidFill>
                <a:srgbClr val="BFBFBF"/>
              </a:solidFill>
              <a:effectLst/>
            </c:spPr>
          </c:dPt>
          <c:dPt>
            <c:idx val="3"/>
            <c:invertIfNegative val="0"/>
            <c:bubble3D val="0"/>
            <c:spPr>
              <a:solidFill>
                <a:srgbClr val="BFBFBF"/>
              </a:solidFill>
              <a:effectLst/>
            </c:spPr>
          </c:dPt>
          <c:cat>
            <c:multiLvlStrRef>
              <c:f>Sheet1!$A$2:$A$5</c:f>
              <c:multiLvlStrCache>
                <c:ptCount val="4"/>
                <c:lvl>
                  <c:pt idx="0">
                    <c:v>HSBC (bank-level)*</c:v>
                  </c:pt>
                  <c:pt idx="1">
                    <c:v>AIA</c:v>
                  </c:pt>
                  <c:pt idx="2">
                    <c:v>Prudential</c:v>
                  </c:pt>
                  <c:pt idx="3">
                    <c:v>Manulife</c:v>
                  </c:pt>
                </c:lvl>
              </c:multiLvlStrCache>
            </c:multiLvlStrRef>
          </c:cat>
          <c:val>
            <c:numRef>
              <c:f>Sheet1!$B$2:$B$5</c:f>
              <c:numCache>
                <c:formatCode>General</c:formatCode>
                <c:ptCount val="4"/>
                <c:pt idx="0">
                  <c:v>2283</c:v>
                </c:pt>
                <c:pt idx="1">
                  <c:v>1964</c:v>
                </c:pt>
                <c:pt idx="2">
                  <c:v>1113</c:v>
                </c:pt>
                <c:pt idx="3">
                  <c:v>161</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L400 cost by component (USD m)</a:t>
            </a:r>
          </a:p>
        </c:rich>
      </c:tx>
      <c:layout/>
      <c:overlay val="0"/>
    </c:title>
    <c:autoTitleDeleted val="0"/>
    <c:plotArea>
      <c:layout/>
      <c:barChart>
        <c:barDir val="col"/>
        <c:grouping val="stacked"/>
        <c:varyColors val="0"/>
        <c:ser>
          <c:idx val="0"/>
          <c:order val="0"/>
          <c:tx>
            <c:strRef>
              <c:f>Sheet1!$B$1</c:f>
              <c:strCache>
                <c:ptCount val="1"/>
                <c:pt idx="0">
                  <c:v>Internal labour (change)</c:v>
                </c:pt>
              </c:strCache>
            </c:strRef>
          </c:tx>
          <c:spPr>
            <a:solidFill>
              <a:srgbClr val="7A0A1C"/>
            </a:solidFill>
            <a:effectLst/>
          </c:spPr>
          <c:invertIfNegative val="0"/>
          <c:dLbls>
            <c:numFmt formatCode="0.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FY2025</c:v>
                  </c:pt>
                  <c:pt idx="1">
                    <c:v>LE2026</c:v>
                  </c:pt>
                </c:lvl>
              </c:multiLvlStrCache>
            </c:multiLvlStrRef>
          </c:cat>
          <c:val>
            <c:numRef>
              <c:f>Sheet1!$B$2:$B$3</c:f>
              <c:numCache>
                <c:formatCode>General</c:formatCode>
                <c:ptCount val="2"/>
                <c:pt idx="0">
                  <c:v>3.5</c:v>
                </c:pt>
                <c:pt idx="1">
                  <c:v>4.1</c:v>
                </c:pt>
              </c:numCache>
            </c:numRef>
          </c:val>
        </c:ser>
        <c:ser>
          <c:idx val="1"/>
          <c:order val="1"/>
          <c:tx>
            <c:strRef>
              <c:f>Sheet1!$C$1</c:f>
              <c:strCache>
                <c:ptCount val="1"/>
                <c:pt idx="0">
                  <c:v>External labour (change)</c:v>
                </c:pt>
              </c:strCache>
            </c:strRef>
          </c:tx>
          <c:spPr>
            <a:solidFill>
              <a:srgbClr val="C8102E"/>
            </a:solidFill>
            <a:effectLst/>
          </c:spPr>
          <c:invertIfNegative val="0"/>
          <c:dLbls>
            <c:numFmt formatCode="0.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FY2025</c:v>
                  </c:pt>
                  <c:pt idx="1">
                    <c:v>LE2026</c:v>
                  </c:pt>
                </c:lvl>
              </c:multiLvlStrCache>
            </c:multiLvlStrRef>
          </c:cat>
          <c:val>
            <c:numRef>
              <c:f>Sheet1!$C$2:$C$3</c:f>
              <c:numCache>
                <c:formatCode>General</c:formatCode>
                <c:ptCount val="2"/>
                <c:pt idx="0">
                  <c:v>3.8</c:v>
                </c:pt>
                <c:pt idx="1">
                  <c:v>4.2</c:v>
                </c:pt>
              </c:numCache>
            </c:numRef>
          </c:val>
        </c:ser>
        <c:ser>
          <c:idx val="2"/>
          <c:order val="2"/>
          <c:tx>
            <c:strRef>
              <c:f>Sheet1!$D$1</c:f>
              <c:strCache>
                <c:ptCount val="1"/>
                <c:pt idx="0">
                  <c:v>Infrastructure (run)</c:v>
                </c:pt>
              </c:strCache>
            </c:strRef>
          </c:tx>
          <c:spPr>
            <a:solidFill>
              <a:srgbClr val="8C8C8C"/>
            </a:solidFill>
            <a:effectLst/>
          </c:spPr>
          <c:invertIfNegative val="0"/>
          <c:dLbls>
            <c:numFmt formatCode="0.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FY2025</c:v>
                  </c:pt>
                  <c:pt idx="1">
                    <c:v>LE2026</c:v>
                  </c:pt>
                </c:lvl>
              </c:multiLvlStrCache>
            </c:multiLvlStrRef>
          </c:cat>
          <c:val>
            <c:numRef>
              <c:f>Sheet1!$D$2:$D$3</c:f>
              <c:numCache>
                <c:formatCode>General</c:formatCode>
                <c:ptCount val="2"/>
                <c:pt idx="0">
                  <c:v>1.6</c:v>
                </c:pt>
                <c:pt idx="1">
                  <c:v>1.88</c:v>
                </c:pt>
              </c:numCache>
            </c:numRef>
          </c:val>
        </c:ser>
        <c:ser>
          <c:idx val="3"/>
          <c:order val="3"/>
          <c:tx>
            <c:strRef>
              <c:f>Sheet1!$E$1</c:f>
              <c:strCache>
                <c:ptCount val="1"/>
                <c:pt idx="0">
                  <c:v>Application &amp; cloud (run)</c:v>
                </c:pt>
              </c:strCache>
            </c:strRef>
          </c:tx>
          <c:spPr>
            <a:solidFill>
              <a:srgbClr val="595959"/>
            </a:solidFill>
            <a:effectLst/>
          </c:spPr>
          <c:invertIfNegative val="0"/>
          <c:dLbls>
            <c:numFmt formatCode="0.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FY2025</c:v>
                  </c:pt>
                  <c:pt idx="1">
                    <c:v>LE2026</c:v>
                  </c:pt>
                </c:lvl>
              </c:multiLvlStrCache>
            </c:multiLvlStrRef>
          </c:cat>
          <c:val>
            <c:numRef>
              <c:f>Sheet1!$E$2:$E$3</c:f>
              <c:numCache>
                <c:formatCode>General</c:formatCode>
                <c:ptCount val="2"/>
                <c:pt idx="0">
                  <c:v>0.96</c:v>
                </c:pt>
                <c:pt idx="1">
                  <c:v>1.09</c:v>
                </c:pt>
              </c:numCache>
            </c:numRef>
          </c:val>
        </c:ser>
        <c:dLbls>
          <c:numFmt formatCode="0.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PAS cost per in-force policy (USD / year)</a:t>
            </a:r>
          </a:p>
        </c:rich>
      </c:tx>
      <c:layout/>
      <c:overlay val="0"/>
    </c:title>
    <c:autoTitleDeleted val="0"/>
    <c:plotArea>
      <c:layout/>
      <c:barChart>
        <c:barDir val="col"/>
        <c:grouping val="stacked"/>
        <c:varyColors val="0"/>
        <c:ser>
          <c:idx val="0"/>
          <c:order val="0"/>
          <c:tx>
            <c:strRef>
              <c:f>Sheet1!$B$1</c:f>
              <c:strCache>
                <c:ptCount val="1"/>
                <c:pt idx="0">
                  <c:v>Run (RTB)</c:v>
                </c:pt>
              </c:strCache>
            </c:strRef>
          </c:tx>
          <c:spPr>
            <a:solidFill>
              <a:srgbClr val="C8102E"/>
            </a:solidFill>
            <a:effectLst/>
          </c:spPr>
          <c:invertIfNegative val="0"/>
          <c:dLbls>
            <c:numFmt formatCode="0.0;;;" sourceLinked="0"/>
            <c:txPr>
              <a:bodyPr/>
              <a:lstStyle/>
              <a:p>
                <a:pPr>
                  <a:defRPr b="0" i="0" strike="noStrike" sz="1000" u="none">
                    <a:solidFill>
                      <a:srgbClr val="222222"/>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HSBC L400 FY25</c:v>
                  </c:pt>
                  <c:pt idx="1">
                    <c:v>Sun Life HK</c:v>
                  </c:pt>
                </c:lvl>
              </c:multiLvlStrCache>
            </c:multiLvlStrRef>
          </c:cat>
          <c:val>
            <c:numRef>
              <c:f>Sheet1!$B$2:$B$3</c:f>
              <c:numCache>
                <c:formatCode>General</c:formatCode>
                <c:ptCount val="2"/>
                <c:pt idx="0">
                  <c:v>3.43</c:v>
                </c:pt>
                <c:pt idx="1">
                  <c:v>2.07</c:v>
                </c:pt>
              </c:numCache>
            </c:numRef>
          </c:val>
        </c:ser>
        <c:ser>
          <c:idx val="1"/>
          <c:order val="1"/>
          <c:tx>
            <c:strRef>
              <c:f>Sheet1!$C$1</c:f>
              <c:strCache>
                <c:ptCount val="1"/>
                <c:pt idx="0">
                  <c:v>Change (CTB)</c:v>
                </c:pt>
              </c:strCache>
            </c:strRef>
          </c:tx>
          <c:spPr>
            <a:solidFill>
              <a:srgbClr val="BFBFBF"/>
            </a:solidFill>
            <a:effectLst/>
          </c:spPr>
          <c:invertIfNegative val="0"/>
          <c:dLbls>
            <c:numFmt formatCode="0.0;;;" sourceLinked="0"/>
            <c:txPr>
              <a:bodyPr/>
              <a:lstStyle/>
              <a:p>
                <a:pPr>
                  <a:defRPr b="0" i="0" strike="noStrike" sz="1000" u="none">
                    <a:solidFill>
                      <a:srgbClr val="222222"/>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HSBC L400 FY25</c:v>
                  </c:pt>
                  <c:pt idx="1">
                    <c:v>Sun Life HK</c:v>
                  </c:pt>
                </c:lvl>
              </c:multiLvlStrCache>
            </c:multiLvlStrRef>
          </c:cat>
          <c:val>
            <c:numRef>
              <c:f>Sheet1!$C$2:$C$3</c:f>
              <c:numCache>
                <c:formatCode>General</c:formatCode>
                <c:ptCount val="2"/>
                <c:pt idx="0">
                  <c:v>9.81</c:v>
                </c:pt>
                <c:pt idx="1">
                  <c:v>0</c:v>
                </c:pt>
              </c:numCache>
            </c:numRef>
          </c:val>
        </c:ser>
        <c:dLbls>
          <c:numFmt formatCode="0.0;;;" sourceLinked="0"/>
          <c:txPr>
            <a:bodyPr/>
            <a:lstStyle/>
            <a:p>
              <a:pPr>
                <a:defRPr b="0" i="0" strike="noStrike" sz="1000" u="none">
                  <a:solidFill>
                    <a:srgbClr val="222222"/>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PAS labour cost, USD m</a:t>
            </a:r>
          </a:p>
        </c:rich>
      </c:tx>
      <c:layout/>
      <c:overlay val="0"/>
    </c:title>
    <c:autoTitleDeleted val="0"/>
    <c:plotArea>
      <c:layout/>
      <c:barChart>
        <c:barDir val="col"/>
        <c:grouping val="clustered"/>
        <c:varyColors val="0"/>
        <c:ser>
          <c:idx val="0"/>
          <c:order val="0"/>
          <c:tx>
            <c:strRef>
              <c:f>Sheet1!$B$1</c:f>
              <c:strCache>
                <c:ptCount val="1"/>
                <c:pt idx="0">
                  <c:v>Implied PAS labour cost (USD m)</c:v>
                </c:pt>
              </c:strCache>
            </c:strRef>
          </c:tx>
          <c:spPr>
            <a:solidFill>
              <a:srgbClr val="C8102E"/>
            </a:solidFill>
            <a:effectLst/>
          </c:spPr>
          <c:invertIfNegative val="0"/>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BFBFBF"/>
              </a:solidFill>
              <a:effectLst/>
            </c:spPr>
          </c:dPt>
          <c:dPt>
            <c:idx val="2"/>
            <c:invertIfNegative val="0"/>
            <c:bubble3D val="0"/>
            <c:spPr>
              <a:solidFill>
                <a:srgbClr val="BFBFBF"/>
              </a:solidFill>
              <a:effectLst/>
            </c:spPr>
          </c:dPt>
          <c:dPt>
            <c:idx val="3"/>
            <c:invertIfNegative val="0"/>
            <c:bubble3D val="0"/>
            <c:spPr>
              <a:solidFill>
                <a:srgbClr val="BFBFBF"/>
              </a:solidFill>
              <a:effectLst/>
            </c:spPr>
          </c:dPt>
          <c:cat>
            <c:multiLvlStrRef>
              <c:f>Sheet1!$A$2:$A$5</c:f>
              <c:multiLvlStrCache>
                <c:ptCount val="4"/>
                <c:lvl>
                  <c:pt idx="0">
                    <c:v>HSBC L400 (actual)</c:v>
                  </c:pt>
                  <c:pt idx="1">
                    <c:v>AIA (est.)</c:v>
                  </c:pt>
                  <c:pt idx="2">
                    <c:v>Prudential (est.)</c:v>
                  </c:pt>
                  <c:pt idx="3">
                    <c:v>Manulife (est.)</c:v>
                  </c:pt>
                </c:lvl>
              </c:multiLvlStrCache>
            </c:multiLvlStrRef>
          </c:cat>
          <c:val>
            <c:numRef>
              <c:f>Sheet1!$B$2:$B$5</c:f>
              <c:numCache>
                <c:formatCode>General</c:formatCode>
                <c:ptCount val="4"/>
                <c:pt idx="0">
                  <c:v>7.3</c:v>
                </c:pt>
                <c:pt idx="1">
                  <c:v>7.19</c:v>
                </c:pt>
                <c:pt idx="2">
                  <c:v>6.08</c:v>
                </c:pt>
                <c:pt idx="3">
                  <c:v>4.42</c:v>
                </c:pt>
              </c:numCache>
            </c:numRef>
          </c:val>
        </c:ser>
        <c:dLbls>
          <c:numFmt formatCode="0.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Premium (DWP) per PAS FTE, USD m</a:t>
            </a:r>
          </a:p>
        </c:rich>
      </c:tx>
      <c:layout/>
      <c:overlay val="0"/>
    </c:title>
    <c:autoTitleDeleted val="0"/>
    <c:plotArea>
      <c:layout/>
      <c:barChart>
        <c:barDir val="col"/>
        <c:grouping val="clustered"/>
        <c:varyColors val="0"/>
        <c:ser>
          <c:idx val="0"/>
          <c:order val="0"/>
          <c:tx>
            <c:strRef>
              <c:f>Sheet1!$B$1</c:f>
              <c:strCache>
                <c:ptCount val="1"/>
                <c:pt idx="0">
                  <c:v>DWP per PAS FTE (USD m)</c:v>
                </c:pt>
              </c:strCache>
            </c:strRef>
          </c:tx>
          <c:spPr>
            <a:solidFill>
              <a:srgbClr val="C8102E"/>
            </a:solidFill>
            <a:effectLst/>
          </c:spPr>
          <c:invertIfNegative val="0"/>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7A0A1C"/>
              </a:solidFill>
              <a:effectLst/>
            </c:spPr>
          </c:dPt>
          <c:dPt>
            <c:idx val="2"/>
            <c:invertIfNegative val="0"/>
            <c:bubble3D val="0"/>
            <c:spPr>
              <a:solidFill>
                <a:srgbClr val="BFBFBF"/>
              </a:solidFill>
              <a:effectLst/>
            </c:spPr>
          </c:dPt>
          <c:dPt>
            <c:idx val="3"/>
            <c:invertIfNegative val="0"/>
            <c:bubble3D val="0"/>
            <c:spPr>
              <a:solidFill>
                <a:srgbClr val="BFBFBF"/>
              </a:solidFill>
              <a:effectLst/>
            </c:spPr>
          </c:dPt>
          <c:dPt>
            <c:idx val="4"/>
            <c:invertIfNegative val="0"/>
            <c:bubble3D val="0"/>
            <c:spPr>
              <a:solidFill>
                <a:srgbClr val="BFBFBF"/>
              </a:solidFill>
              <a:effectLst/>
            </c:spPr>
          </c:dPt>
          <c:cat>
            <c:multiLvlStrRef>
              <c:f>Sheet1!$A$2:$A$6</c:f>
              <c:multiLvlStrCache>
                <c:ptCount val="5"/>
                <c:lvl>
                  <c:pt idx="0">
                    <c:v>HSBC FY25</c:v>
                  </c:pt>
                  <c:pt idx="1">
                    <c:v>HSBC LE26</c:v>
                  </c:pt>
                  <c:pt idx="2">
                    <c:v>AIA</c:v>
                  </c:pt>
                  <c:pt idx="3">
                    <c:v>Manulife</c:v>
                  </c:pt>
                  <c:pt idx="4">
                    <c:v>Prudential</c:v>
                  </c:pt>
                </c:lvl>
              </c:multiLvlStrCache>
            </c:multiLvlStrRef>
          </c:cat>
          <c:val>
            <c:numRef>
              <c:f>Sheet1!$B$2:$B$6</c:f>
              <c:numCache>
                <c:formatCode>General</c:formatCode>
                <c:ptCount val="5"/>
                <c:pt idx="0">
                  <c:v>185</c:v>
                </c:pt>
                <c:pt idx="1">
                  <c:v>144</c:v>
                </c:pt>
                <c:pt idx="2">
                  <c:v>174</c:v>
                </c:pt>
                <c:pt idx="3">
                  <c:v>170</c:v>
                </c:pt>
                <c:pt idx="4">
                  <c:v>160</c:v>
                </c:pt>
              </c:numCache>
            </c:numRef>
          </c:val>
        </c:ser>
        <c:dLbls>
          <c:numFmt formatCode="0"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Change LE2026 vs FY2025 (%)</a:t>
            </a:r>
          </a:p>
        </c:rich>
      </c:tx>
      <c:layout/>
      <c:overlay val="0"/>
    </c:title>
    <c:autoTitleDeleted val="0"/>
    <c:plotArea>
      <c:layout/>
      <c:barChart>
        <c:barDir val="bar"/>
        <c:grouping val="clustered"/>
        <c:varyColors val="0"/>
        <c:ser>
          <c:idx val="0"/>
          <c:order val="0"/>
          <c:tx>
            <c:strRef>
              <c:f>Sheet1!$B$1</c:f>
              <c:strCache>
                <c:ptCount val="1"/>
                <c:pt idx="0">
                  <c:v>Change LE26 vs FY25</c:v>
                </c:pt>
              </c:strCache>
            </c:strRef>
          </c:tx>
          <c:spPr>
            <a:solidFill>
              <a:srgbClr val="404040"/>
            </a:solidFill>
            <a:effectLst/>
          </c:spPr>
          <c:invertIfNegative val="0"/>
          <c:dLbls>
            <c:numFmt formatCode="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404040"/>
              </a:solidFill>
              <a:effectLst/>
            </c:spPr>
          </c:dPt>
          <c:dPt>
            <c:idx val="1"/>
            <c:invertIfNegative val="0"/>
            <c:bubble3D val="0"/>
            <c:spPr>
              <a:solidFill>
                <a:srgbClr val="C8102E"/>
              </a:solidFill>
              <a:effectLst/>
            </c:spPr>
          </c:dPt>
          <c:dPt>
            <c:idx val="2"/>
            <c:invertIfNegative val="0"/>
            <c:bubble3D val="0"/>
            <c:spPr>
              <a:solidFill>
                <a:srgbClr val="404040"/>
              </a:solidFill>
              <a:effectLst/>
            </c:spPr>
          </c:dPt>
          <c:dPt>
            <c:idx val="3"/>
            <c:invertIfNegative val="0"/>
            <c:bubble3D val="0"/>
            <c:spPr>
              <a:solidFill>
                <a:srgbClr val="C8102E"/>
              </a:solidFill>
              <a:effectLst/>
            </c:spPr>
          </c:dPt>
          <c:dPt>
            <c:idx val="4"/>
            <c:invertIfNegative val="0"/>
            <c:bubble3D val="0"/>
            <c:spPr>
              <a:solidFill>
                <a:srgbClr val="7A0A1C"/>
              </a:solidFill>
              <a:effectLst/>
            </c:spPr>
          </c:dPt>
          <c:dPt>
            <c:idx val="5"/>
            <c:invertIfNegative val="0"/>
            <c:bubble3D val="0"/>
            <c:spPr>
              <a:solidFill>
                <a:srgbClr val="7A0A1C"/>
              </a:solidFill>
              <a:effectLst/>
            </c:spPr>
          </c:dPt>
          <c:dPt>
            <c:idx val="6"/>
            <c:invertIfNegative val="0"/>
            <c:bubble3D val="0"/>
            <c:spPr>
              <a:solidFill>
                <a:srgbClr val="C8102E"/>
              </a:solidFill>
              <a:effectLst/>
            </c:spPr>
          </c:dPt>
          <c:dPt>
            <c:idx val="7"/>
            <c:invertIfNegative val="0"/>
            <c:bubble3D val="0"/>
            <c:spPr>
              <a:solidFill>
                <a:srgbClr val="BFBFBF"/>
              </a:solidFill>
              <a:effectLst/>
            </c:spPr>
          </c:dPt>
          <c:dPt>
            <c:idx val="8"/>
            <c:invertIfNegative val="0"/>
            <c:bubble3D val="0"/>
            <c:spPr>
              <a:solidFill>
                <a:srgbClr val="404040"/>
              </a:solidFill>
              <a:effectLst/>
            </c:spPr>
          </c:dPt>
          <c:dPt>
            <c:idx val="9"/>
            <c:invertIfNegative val="0"/>
            <c:bubble3D val="0"/>
            <c:spPr>
              <a:solidFill>
                <a:srgbClr val="C8102E"/>
              </a:solidFill>
              <a:effectLst/>
            </c:spPr>
          </c:dPt>
          <c:cat>
            <c:multiLvlStrRef>
              <c:f>Sheet1!$A$2:$A$11</c:f>
              <c:multiLvlStrCache>
                <c:ptCount val="10"/>
                <c:lvl>
                  <c:pt idx="0">
                    <c:v>Cloud</c:v>
                  </c:pt>
                  <c:pt idx="1">
                    <c:v>In-house / contractor dev</c:v>
                  </c:pt>
                  <c:pt idx="2">
                    <c:v>Infrastructure</c:v>
                  </c:pt>
                  <c:pt idx="3">
                    <c:v>Internal labour</c:v>
                  </c:pt>
                  <c:pt idx="4">
                    <c:v>Run cost per policy</c:v>
                  </c:pt>
                  <c:pt idx="5">
                    <c:v>Change cost per product</c:v>
                  </c:pt>
                  <c:pt idx="6">
                    <c:v>External labour</c:v>
                  </c:pt>
                  <c:pt idx="7">
                    <c:v>In-force policies</c:v>
                  </c:pt>
                  <c:pt idx="8">
                    <c:v>Application run</c:v>
                  </c:pt>
                  <c:pt idx="9">
                    <c:v>DXC SOW</c:v>
                  </c:pt>
                </c:lvl>
              </c:multiLvlStrCache>
            </c:multiLvlStrRef>
          </c:cat>
          <c:val>
            <c:numRef>
              <c:f>Sheet1!$B$2:$B$11</c:f>
              <c:numCache>
                <c:formatCode>General</c:formatCode>
                <c:ptCount val="10"/>
                <c:pt idx="0">
                  <c:v>1680</c:v>
                </c:pt>
                <c:pt idx="1">
                  <c:v>38.1</c:v>
                </c:pt>
                <c:pt idx="2">
                  <c:v>17.6</c:v>
                </c:pt>
                <c:pt idx="3">
                  <c:v>17.1</c:v>
                </c:pt>
                <c:pt idx="4">
                  <c:v>11.7</c:v>
                </c:pt>
                <c:pt idx="5">
                  <c:v>18.5</c:v>
                </c:pt>
                <c:pt idx="6">
                  <c:v>10.5</c:v>
                </c:pt>
                <c:pt idx="7">
                  <c:v>3.9</c:v>
                </c:pt>
                <c:pt idx="8">
                  <c:v>-4.2</c:v>
                </c:pt>
                <c:pt idx="9">
                  <c:v>-18.1</c:v>
                </c:pt>
              </c:numCache>
            </c:numRef>
          </c:val>
        </c:ser>
        <c:dLbls>
          <c:numFmt formatCode="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max val="60"/>
          <c:min val="-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HSBC servicing cases by STP scenario ('000, FY25 volume)</a:t>
            </a:r>
          </a:p>
        </c:rich>
      </c:tx>
      <c:layout/>
      <c:overlay val="0"/>
    </c:title>
    <c:autoTitleDeleted val="0"/>
    <c:plotArea>
      <c:layout/>
      <c:barChart>
        <c:barDir val="bar"/>
        <c:grouping val="stacked"/>
        <c:varyColors val="0"/>
        <c:ser>
          <c:idx val="0"/>
          <c:order val="0"/>
          <c:tx>
            <c:strRef>
              <c:f>Sheet1!$B$1</c:f>
              <c:strCache>
                <c:ptCount val="1"/>
                <c:pt idx="0">
                  <c:v>Straight-through</c:v>
                </c:pt>
              </c:strCache>
            </c:strRef>
          </c:tx>
          <c:spPr>
            <a:solidFill>
              <a:srgbClr val="C8102E"/>
            </a:solidFill>
            <a:effectLst/>
          </c:spPr>
          <c:invertIfNegative val="0"/>
          <c:dLbls>
            <c:numFmt formatCode="0&quot;k&quot;" sourceLinked="0"/>
            <c:txPr>
              <a:bodyPr/>
              <a:lstStyle/>
              <a:p>
                <a:pPr>
                  <a:defRPr b="0" i="0" strike="noStrike" sz="1000" u="none">
                    <a:solidFill>
                      <a:srgbClr val="222222"/>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Sun Life level (13.7%)</c:v>
                  </c:pt>
                  <c:pt idx="1">
                    <c:v>Market low (30%)</c:v>
                  </c:pt>
                  <c:pt idx="2">
                    <c:v>Market mid (50%)</c:v>
                  </c:pt>
                  <c:pt idx="3">
                    <c:v>AIA-like (70%)</c:v>
                  </c:pt>
                </c:lvl>
              </c:multiLvlStrCache>
            </c:multiLvlStrRef>
          </c:cat>
          <c:val>
            <c:numRef>
              <c:f>Sheet1!$B$2:$B$5</c:f>
              <c:numCache>
                <c:formatCode>General</c:formatCode>
                <c:ptCount val="4"/>
                <c:pt idx="0">
                  <c:v>44</c:v>
                </c:pt>
                <c:pt idx="1">
                  <c:v>97</c:v>
                </c:pt>
                <c:pt idx="2">
                  <c:v>162</c:v>
                </c:pt>
                <c:pt idx="3">
                  <c:v>226</c:v>
                </c:pt>
              </c:numCache>
            </c:numRef>
          </c:val>
        </c:ser>
        <c:ser>
          <c:idx val="1"/>
          <c:order val="1"/>
          <c:tx>
            <c:strRef>
              <c:f>Sheet1!$C$1</c:f>
              <c:strCache>
                <c:ptCount val="1"/>
                <c:pt idx="0">
                  <c:v>Manual</c:v>
                </c:pt>
              </c:strCache>
            </c:strRef>
          </c:tx>
          <c:spPr>
            <a:solidFill>
              <a:srgbClr val="BFBFBF"/>
            </a:solidFill>
            <a:effectLst/>
          </c:spPr>
          <c:invertIfNegative val="0"/>
          <c:dLbls>
            <c:numFmt formatCode="0&quot;k&quot;" sourceLinked="0"/>
            <c:txPr>
              <a:bodyPr/>
              <a:lstStyle/>
              <a:p>
                <a:pPr>
                  <a:defRPr b="0" i="0" strike="noStrike" sz="1000" u="none">
                    <a:solidFill>
                      <a:srgbClr val="222222"/>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Sun Life level (13.7%)</c:v>
                  </c:pt>
                  <c:pt idx="1">
                    <c:v>Market low (30%)</c:v>
                  </c:pt>
                  <c:pt idx="2">
                    <c:v>Market mid (50%)</c:v>
                  </c:pt>
                  <c:pt idx="3">
                    <c:v>AIA-like (70%)</c:v>
                  </c:pt>
                </c:lvl>
              </c:multiLvlStrCache>
            </c:multiLvlStrRef>
          </c:cat>
          <c:val>
            <c:numRef>
              <c:f>Sheet1!$C$2:$C$5</c:f>
              <c:numCache>
                <c:formatCode>General</c:formatCode>
                <c:ptCount val="4"/>
                <c:pt idx="0">
                  <c:v>279</c:v>
                </c:pt>
                <c:pt idx="1">
                  <c:v>226</c:v>
                </c:pt>
                <c:pt idx="2">
                  <c:v>162</c:v>
                </c:pt>
                <c:pt idx="3">
                  <c:v>97</c:v>
                </c:pt>
              </c:numCache>
            </c:numRef>
          </c:val>
        </c:ser>
        <c:dLbls>
          <c:numFmt formatCode="0&quot;k&quot;" sourceLinked="0"/>
          <c:txPr>
            <a:bodyPr/>
            <a:lstStyle/>
            <a:p>
              <a:pPr>
                <a:defRPr b="0" i="0" strike="noStrike" sz="1000" u="none">
                  <a:solidFill>
                    <a:srgbClr val="222222"/>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222"/>
                </a:solidFill>
                <a:latin typeface="Arial"/>
              </a:defRPr>
            </a:pPr>
            <a:r>
              <a:rPr sz="1200" b="0" i="0" u="none" strike="noStrike">
                <a:solidFill>
                  <a:srgbClr val="222222"/>
                </a:solidFill>
                <a:latin typeface="Arial"/>
              </a:rPr>
              <a:t>Growth, LE2026 vs FY2025 (%)</a:t>
            </a:r>
          </a:p>
        </c:rich>
      </c:tx>
      <c:layout/>
      <c:overlay val="0"/>
    </c:title>
    <c:autoTitleDeleted val="0"/>
    <c:plotArea>
      <c:layout/>
      <c:barChart>
        <c:barDir val="bar"/>
        <c:grouping val="clustered"/>
        <c:varyColors val="0"/>
        <c:ser>
          <c:idx val="0"/>
          <c:order val="0"/>
          <c:tx>
            <c:strRef>
              <c:f>Sheet1!$B$1</c:f>
              <c:strCache>
                <c:ptCount val="1"/>
                <c:pt idx="0">
                  <c:v>Growth LE26 vs FY25</c:v>
                </c:pt>
              </c:strCache>
            </c:strRef>
          </c:tx>
          <c:spPr>
            <a:solidFill>
              <a:srgbClr val="C8102E"/>
            </a:solidFill>
            <a:effectLst/>
          </c:spPr>
          <c:invertIfNegative val="0"/>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404040"/>
              </a:solidFill>
              <a:effectLst/>
            </c:spPr>
          </c:dPt>
          <c:dPt>
            <c:idx val="2"/>
            <c:invertIfNegative val="0"/>
            <c:bubble3D val="0"/>
            <c:spPr>
              <a:solidFill>
                <a:srgbClr val="C8102E"/>
              </a:solidFill>
              <a:effectLst/>
            </c:spPr>
          </c:dPt>
          <c:dPt>
            <c:idx val="3"/>
            <c:invertIfNegative val="0"/>
            <c:bubble3D val="0"/>
            <c:spPr>
              <a:solidFill>
                <a:srgbClr val="C8102E"/>
              </a:solidFill>
              <a:effectLst/>
            </c:spPr>
          </c:dPt>
          <c:dPt>
            <c:idx val="4"/>
            <c:invertIfNegative val="0"/>
            <c:bubble3D val="0"/>
            <c:spPr>
              <a:solidFill>
                <a:srgbClr val="C8102E"/>
              </a:solidFill>
              <a:effectLst/>
            </c:spPr>
          </c:dPt>
          <c:dPt>
            <c:idx val="5"/>
            <c:invertIfNegative val="0"/>
            <c:bubble3D val="0"/>
            <c:spPr>
              <a:solidFill>
                <a:srgbClr val="404040"/>
              </a:solidFill>
              <a:effectLst/>
            </c:spPr>
          </c:dPt>
          <c:dPt>
            <c:idx val="6"/>
            <c:invertIfNegative val="0"/>
            <c:bubble3D val="0"/>
            <c:spPr>
              <a:solidFill>
                <a:srgbClr val="C8102E"/>
              </a:solidFill>
              <a:effectLst/>
            </c:spPr>
          </c:dPt>
          <c:dPt>
            <c:idx val="7"/>
            <c:invertIfNegative val="0"/>
            <c:bubble3D val="0"/>
            <c:spPr>
              <a:solidFill>
                <a:srgbClr val="C8102E"/>
              </a:solidFill>
              <a:effectLst/>
            </c:spPr>
          </c:dPt>
          <c:dPt>
            <c:idx val="8"/>
            <c:invertIfNegative val="0"/>
            <c:bubble3D val="0"/>
            <c:spPr>
              <a:solidFill>
                <a:srgbClr val="C8102E"/>
              </a:solidFill>
              <a:effectLst/>
            </c:spPr>
          </c:dPt>
          <c:cat>
            <c:multiLvlStrRef>
              <c:f>Sheet1!$A$2:$A$10</c:f>
              <c:multiLvlStrCache>
                <c:ptCount val="9"/>
                <c:lvl>
                  <c:pt idx="0">
                    <c:v>New business premium</c:v>
                  </c:pt>
                  <c:pt idx="1">
                    <c:v>L400 IT FTE</c:v>
                  </c:pt>
                  <c:pt idx="2">
                    <c:v>Digital submissions</c:v>
                  </c:pt>
                  <c:pt idx="3">
                    <c:v>Digital sales</c:v>
                  </c:pt>
                  <c:pt idx="4">
                    <c:v>New policies</c:v>
                  </c:pt>
                  <c:pt idx="5">
                    <c:v>L400 cost</c:v>
                  </c:pt>
                  <c:pt idx="6">
                    <c:v>In-force policies</c:v>
                  </c:pt>
                  <c:pt idx="7">
                    <c:v>Total submissions</c:v>
                  </c:pt>
                  <c:pt idx="8">
                    <c:v>Active customers</c:v>
                  </c:pt>
                </c:lvl>
              </c:multiLvlStrCache>
            </c:multiLvlStrRef>
          </c:cat>
          <c:val>
            <c:numRef>
              <c:f>Sheet1!$B$2:$B$10</c:f>
              <c:numCache>
                <c:formatCode>General</c:formatCode>
                <c:ptCount val="9"/>
                <c:pt idx="0">
                  <c:v>33.3</c:v>
                </c:pt>
                <c:pt idx="1">
                  <c:v>28.8</c:v>
                </c:pt>
                <c:pt idx="2">
                  <c:v>22.2</c:v>
                </c:pt>
                <c:pt idx="3">
                  <c:v>21.8</c:v>
                </c:pt>
                <c:pt idx="4">
                  <c:v>19.5</c:v>
                </c:pt>
                <c:pt idx="5">
                  <c:v>14.3</c:v>
                </c:pt>
                <c:pt idx="6">
                  <c:v>3.9</c:v>
                </c:pt>
                <c:pt idx="7">
                  <c:v>3.7</c:v>
                </c:pt>
                <c:pt idx="8">
                  <c:v>3</c:v>
                </c:pt>
              </c:numCache>
            </c:numRef>
          </c:val>
        </c:ser>
        <c:dLbls>
          <c:numFmt formatCode="0.0&quot;%&quot;" sourceLinked="0"/>
          <c:txPr>
            <a:bodyPr/>
            <a:lstStyle/>
            <a:p>
              <a:pPr>
                <a:defRPr b="0" i="0" strike="noStrike" sz="1000" u="none">
                  <a:solidFill>
                    <a:srgbClr val="33333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0404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080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Storyline: market context, then IT cost (headline and L400 structure), then PAS deep dive (productivity, unit cost, automation), then cost to business outcome, then the four Option 3+ lenses. Data gaps are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01 </a:t>
            </a:r>
            <a:pPr indent="0" marL="0">
              <a:buNone/>
            </a:pPr>
            <a:r>
              <a:rPr lang="en-US" sz="1300" dirty="0">
                <a:solidFill>
                  <a:srgbClr val="C8102E"/>
                </a:solidFill>
                <a:latin typeface="Arial" pitchFamily="34" charset="0"/>
                <a:ea typeface="Arial" pitchFamily="34" charset="-122"/>
                <a:cs typeface="Arial" pitchFamily="34" charset="-120"/>
              </a:rPr>
              <a:t>| Executive Summary</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Benchmarks support Option 3: modernise L400 step by step, guided by four lenses</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HSBC is growing faster than its peers, and L400 carries the largest life book in Hong Kong. L400 servicing demand matches Sun Life, and most of its higher unit cost is change investment rather than inefficiency. Automation is not measured. That argues against a big-bang replacement and for continuous, targeted modernisation.</a:t>
            </a:r>
            <a:endParaRPr lang="en-US" sz="1250" dirty="0"/>
          </a:p>
        </p:txBody>
      </p:sp>
      <p:sp>
        <p:nvSpPr>
          <p:cNvPr id="5" name="Text 3"/>
          <p:cNvSpPr txBox="1"/>
          <p:nvPr/>
        </p:nvSpPr>
        <p:spPr>
          <a:xfrm>
            <a:off x="457200" y="1719072"/>
            <a:ext cx="283464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Benchmark area</a:t>
            </a:r>
            <a:endParaRPr lang="en-US" sz="1000" dirty="0"/>
          </a:p>
        </p:txBody>
      </p:sp>
      <p:sp>
        <p:nvSpPr>
          <p:cNvPr id="6" name="Text 4"/>
          <p:cNvSpPr txBox="1"/>
          <p:nvPr/>
        </p:nvSpPr>
        <p:spPr>
          <a:xfrm>
            <a:off x="3429000" y="1719072"/>
            <a:ext cx="484632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What the data shows</a:t>
            </a:r>
            <a:endParaRPr lang="en-US" sz="1000" dirty="0"/>
          </a:p>
        </p:txBody>
      </p:sp>
      <p:sp>
        <p:nvSpPr>
          <p:cNvPr id="7" name="Text 5"/>
          <p:cNvSpPr txBox="1"/>
          <p:nvPr/>
        </p:nvSpPr>
        <p:spPr>
          <a:xfrm>
            <a:off x="8412480" y="1719072"/>
            <a:ext cx="3319272"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So what for Option 3+</a:t>
            </a:r>
            <a:endParaRPr lang="en-US" sz="1000" dirty="0"/>
          </a:p>
        </p:txBody>
      </p:sp>
      <p:sp>
        <p:nvSpPr>
          <p:cNvPr id="8" name="Shape 6"/>
          <p:cNvSpPr/>
          <p:nvPr/>
        </p:nvSpPr>
        <p:spPr>
          <a:xfrm>
            <a:off x="457200" y="2011680"/>
            <a:ext cx="2834640" cy="932688"/>
          </a:xfrm>
          <a:prstGeom prst="rect">
            <a:avLst/>
          </a:prstGeom>
          <a:solidFill>
            <a:srgbClr val="C8102E"/>
          </a:solidFill>
          <a:ln w="12700">
            <a:solidFill>
              <a:srgbClr val="C8102E"/>
            </a:solidFill>
            <a:prstDash val="solid"/>
          </a:ln>
        </p:spPr>
      </p:sp>
      <p:sp>
        <p:nvSpPr>
          <p:cNvPr id="9" name="Text 7"/>
          <p:cNvSpPr txBox="1"/>
          <p:nvPr/>
        </p:nvSpPr>
        <p:spPr>
          <a:xfrm>
            <a:off x="548640" y="2011680"/>
            <a:ext cx="2651760" cy="932688"/>
          </a:xfrm>
          <a:prstGeom prst="rect">
            <a:avLst/>
          </a:prstGeom>
          <a:noFill/>
          <a:ln/>
        </p:spPr>
        <p:txBody>
          <a:bodyPr wrap="square" lIns="635" tIns="635" rIns="635" bIns="635"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Market: HSBC is the growth leader</a:t>
            </a:r>
            <a:endParaRPr lang="en-US" sz="1250" dirty="0"/>
          </a:p>
        </p:txBody>
      </p:sp>
      <p:sp>
        <p:nvSpPr>
          <p:cNvPr id="10" name="Shape 8"/>
          <p:cNvSpPr/>
          <p:nvPr/>
        </p:nvSpPr>
        <p:spPr>
          <a:xfrm>
            <a:off x="3429000" y="2011680"/>
            <a:ext cx="4846320" cy="932688"/>
          </a:xfrm>
          <a:prstGeom prst="rect">
            <a:avLst/>
          </a:prstGeom>
          <a:solidFill>
            <a:srgbClr val="EDEDED"/>
          </a:solidFill>
          <a:ln w="12700">
            <a:solidFill>
              <a:srgbClr val="EDEDED"/>
            </a:solidFill>
            <a:prstDash val="solid"/>
          </a:ln>
        </p:spPr>
      </p:sp>
      <p:sp>
        <p:nvSpPr>
          <p:cNvPr id="11" name="Text 9"/>
          <p:cNvSpPr txBox="1"/>
          <p:nvPr/>
        </p:nvSpPr>
        <p:spPr>
          <a:xfrm>
            <a:off x="3520440" y="2011680"/>
            <a:ext cx="4663440" cy="93268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HSBC Life premium (DWP) grew 10.2% in 2024 against a peer average of 4.3%. L400 also runs Hang Seng Insurance: USD 12.2bn DWP, 24% of the top-8 market.</a:t>
            </a:r>
            <a:endParaRPr lang="en-US" sz="1050" dirty="0"/>
          </a:p>
        </p:txBody>
      </p:sp>
      <p:sp>
        <p:nvSpPr>
          <p:cNvPr id="12" name="Shape 10"/>
          <p:cNvSpPr/>
          <p:nvPr/>
        </p:nvSpPr>
        <p:spPr>
          <a:xfrm>
            <a:off x="8412480" y="2011680"/>
            <a:ext cx="3319272" cy="932688"/>
          </a:xfrm>
          <a:prstGeom prst="rect">
            <a:avLst/>
          </a:prstGeom>
          <a:solidFill>
            <a:srgbClr val="8C8C8C"/>
          </a:solidFill>
          <a:ln w="12700">
            <a:solidFill>
              <a:srgbClr val="8C8C8C"/>
            </a:solidFill>
            <a:prstDash val="solid"/>
          </a:ln>
        </p:spPr>
      </p:sp>
      <p:sp>
        <p:nvSpPr>
          <p:cNvPr id="13" name="Text 11"/>
          <p:cNvSpPr txBox="1"/>
          <p:nvPr/>
        </p:nvSpPr>
        <p:spPr>
          <a:xfrm>
            <a:off x="8503920" y="2011680"/>
            <a:ext cx="3136392" cy="93268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L400 must keep pace with growth. Stability matters, so avoid a big-bang change.</a:t>
            </a:r>
            <a:endParaRPr lang="en-US" sz="1050" dirty="0"/>
          </a:p>
        </p:txBody>
      </p:sp>
      <p:sp>
        <p:nvSpPr>
          <p:cNvPr id="14" name="Shape 12"/>
          <p:cNvSpPr/>
          <p:nvPr/>
        </p:nvSpPr>
        <p:spPr>
          <a:xfrm>
            <a:off x="457200" y="3054096"/>
            <a:ext cx="2834640" cy="932688"/>
          </a:xfrm>
          <a:prstGeom prst="rect">
            <a:avLst/>
          </a:prstGeom>
          <a:solidFill>
            <a:srgbClr val="C8102E"/>
          </a:solidFill>
          <a:ln w="12700">
            <a:solidFill>
              <a:srgbClr val="C8102E"/>
            </a:solidFill>
            <a:prstDash val="solid"/>
          </a:ln>
        </p:spPr>
      </p:sp>
      <p:sp>
        <p:nvSpPr>
          <p:cNvPr id="15" name="Text 13"/>
          <p:cNvSpPr txBox="1"/>
          <p:nvPr/>
        </p:nvSpPr>
        <p:spPr>
          <a:xfrm>
            <a:off x="548640" y="3054096"/>
            <a:ext cx="2651760" cy="932688"/>
          </a:xfrm>
          <a:prstGeom prst="rect">
            <a:avLst/>
          </a:prstGeom>
          <a:noFill/>
          <a:ln/>
        </p:spPr>
        <p:txBody>
          <a:bodyPr wrap="square" lIns="635" tIns="635" rIns="635" bIns="635"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IT cost: small platform, change-heavy</a:t>
            </a:r>
            <a:endParaRPr lang="en-US" sz="1250" dirty="0"/>
          </a:p>
        </p:txBody>
      </p:sp>
      <p:sp>
        <p:nvSpPr>
          <p:cNvPr id="16" name="Shape 14"/>
          <p:cNvSpPr/>
          <p:nvPr/>
        </p:nvSpPr>
        <p:spPr>
          <a:xfrm>
            <a:off x="3429000" y="3054096"/>
            <a:ext cx="4846320" cy="932688"/>
          </a:xfrm>
          <a:prstGeom prst="rect">
            <a:avLst/>
          </a:prstGeom>
          <a:solidFill>
            <a:srgbClr val="EDEDED"/>
          </a:solidFill>
          <a:ln w="12700">
            <a:solidFill>
              <a:srgbClr val="EDEDED"/>
            </a:solidFill>
            <a:prstDash val="solid"/>
          </a:ln>
        </p:spPr>
      </p:sp>
      <p:sp>
        <p:nvSpPr>
          <p:cNvPr id="17" name="Text 15"/>
          <p:cNvSpPr txBox="1"/>
          <p:nvPr/>
        </p:nvSpPr>
        <p:spPr>
          <a:xfrm>
            <a:off x="3520440" y="3054096"/>
            <a:ext cx="4663440" cy="93268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L400 costs USD 9.9m (0.08% of DWP). 74% is change spend, external labour is 39% (peers 19%) and cloud is 0.1%.</a:t>
            </a:r>
            <a:endParaRPr lang="en-US" sz="1050" dirty="0"/>
          </a:p>
        </p:txBody>
      </p:sp>
      <p:sp>
        <p:nvSpPr>
          <p:cNvPr id="18" name="Shape 16"/>
          <p:cNvSpPr/>
          <p:nvPr/>
        </p:nvSpPr>
        <p:spPr>
          <a:xfrm>
            <a:off x="8412480" y="3054096"/>
            <a:ext cx="3319272" cy="932688"/>
          </a:xfrm>
          <a:prstGeom prst="rect">
            <a:avLst/>
          </a:prstGeom>
          <a:solidFill>
            <a:srgbClr val="8C8C8C"/>
          </a:solidFill>
          <a:ln w="12700">
            <a:solidFill>
              <a:srgbClr val="8C8C8C"/>
            </a:solidFill>
            <a:prstDash val="solid"/>
          </a:ln>
        </p:spPr>
      </p:sp>
      <p:sp>
        <p:nvSpPr>
          <p:cNvPr id="19" name="Text 17"/>
          <p:cNvSpPr txBox="1"/>
          <p:nvPr/>
        </p:nvSpPr>
        <p:spPr>
          <a:xfrm>
            <a:off x="8503920" y="3054096"/>
            <a:ext cx="3136392" cy="93268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Money already goes into change. Steer it with the lenses and reduce vendor dependence.</a:t>
            </a:r>
            <a:endParaRPr lang="en-US" sz="1050" dirty="0"/>
          </a:p>
        </p:txBody>
      </p:sp>
      <p:sp>
        <p:nvSpPr>
          <p:cNvPr id="20" name="Shape 18"/>
          <p:cNvSpPr/>
          <p:nvPr/>
        </p:nvSpPr>
        <p:spPr>
          <a:xfrm>
            <a:off x="457200" y="4096512"/>
            <a:ext cx="2834640" cy="932688"/>
          </a:xfrm>
          <a:prstGeom prst="rect">
            <a:avLst/>
          </a:prstGeom>
          <a:solidFill>
            <a:srgbClr val="C8102E"/>
          </a:solidFill>
          <a:ln w="12700">
            <a:solidFill>
              <a:srgbClr val="C8102E"/>
            </a:solidFill>
            <a:prstDash val="solid"/>
          </a:ln>
        </p:spPr>
      </p:sp>
      <p:sp>
        <p:nvSpPr>
          <p:cNvPr id="21" name="Text 19"/>
          <p:cNvSpPr txBox="1"/>
          <p:nvPr/>
        </p:nvSpPr>
        <p:spPr>
          <a:xfrm>
            <a:off x="548640" y="4096512"/>
            <a:ext cx="2651760" cy="932688"/>
          </a:xfrm>
          <a:prstGeom prst="rect">
            <a:avLst/>
          </a:prstGeom>
          <a:noFill/>
          <a:ln/>
        </p:spPr>
        <p:txBody>
          <a:bodyPr wrap="square" lIns="635" tIns="635" rIns="635" bIns="635"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PAS: same demand, gap is investment</a:t>
            </a:r>
            <a:endParaRPr lang="en-US" sz="1250" dirty="0"/>
          </a:p>
        </p:txBody>
      </p:sp>
      <p:sp>
        <p:nvSpPr>
          <p:cNvPr id="22" name="Shape 20"/>
          <p:cNvSpPr/>
          <p:nvPr/>
        </p:nvSpPr>
        <p:spPr>
          <a:xfrm>
            <a:off x="3429000" y="4096512"/>
            <a:ext cx="4846320" cy="932688"/>
          </a:xfrm>
          <a:prstGeom prst="rect">
            <a:avLst/>
          </a:prstGeom>
          <a:solidFill>
            <a:srgbClr val="EDEDED"/>
          </a:solidFill>
          <a:ln w="12700">
            <a:solidFill>
              <a:srgbClr val="EDEDED"/>
            </a:solidFill>
            <a:prstDash val="solid"/>
          </a:ln>
        </p:spPr>
      </p:sp>
      <p:sp>
        <p:nvSpPr>
          <p:cNvPr id="23" name="Text 21"/>
          <p:cNvSpPr txBox="1"/>
          <p:nvPr/>
        </p:nvSpPr>
        <p:spPr>
          <a:xfrm>
            <a:off x="3520440" y="4096512"/>
            <a:ext cx="4663440" cy="93268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Servicing cases per policy match Sun Life (434 vs 443 per 1,000). 88% of the per-policy cost gap is change spend; on run cost alone L400 is 1.7×. Team cost per premium is in line with peers.</a:t>
            </a:r>
            <a:endParaRPr lang="en-US" sz="1050" dirty="0"/>
          </a:p>
        </p:txBody>
      </p:sp>
      <p:sp>
        <p:nvSpPr>
          <p:cNvPr id="24" name="Shape 22"/>
          <p:cNvSpPr/>
          <p:nvPr/>
        </p:nvSpPr>
        <p:spPr>
          <a:xfrm>
            <a:off x="8412480" y="4096512"/>
            <a:ext cx="3319272" cy="932688"/>
          </a:xfrm>
          <a:prstGeom prst="rect">
            <a:avLst/>
          </a:prstGeom>
          <a:solidFill>
            <a:srgbClr val="8C8C8C"/>
          </a:solidFill>
          <a:ln w="12700">
            <a:solidFill>
              <a:srgbClr val="8C8C8C"/>
            </a:solidFill>
            <a:prstDash val="solid"/>
          </a:ln>
        </p:spPr>
      </p:sp>
      <p:sp>
        <p:nvSpPr>
          <p:cNvPr id="25" name="Text 23"/>
          <p:cNvSpPr txBox="1"/>
          <p:nvPr/>
        </p:nvSpPr>
        <p:spPr>
          <a:xfrm>
            <a:off x="8503920" y="4096512"/>
            <a:ext cx="3136392" cy="93268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The question isn't cost level but return on change spend. Set an STP baseline and track run cost per policy.</a:t>
            </a:r>
            <a:endParaRPr lang="en-US" sz="1050" dirty="0"/>
          </a:p>
        </p:txBody>
      </p:sp>
      <p:sp>
        <p:nvSpPr>
          <p:cNvPr id="26" name="Shape 24"/>
          <p:cNvSpPr/>
          <p:nvPr/>
        </p:nvSpPr>
        <p:spPr>
          <a:xfrm>
            <a:off x="457200" y="5138928"/>
            <a:ext cx="2834640" cy="932688"/>
          </a:xfrm>
          <a:prstGeom prst="rect">
            <a:avLst/>
          </a:prstGeom>
          <a:solidFill>
            <a:srgbClr val="C8102E"/>
          </a:solidFill>
          <a:ln w="12700">
            <a:solidFill>
              <a:srgbClr val="C8102E"/>
            </a:solidFill>
            <a:prstDash val="solid"/>
          </a:ln>
        </p:spPr>
      </p:sp>
      <p:sp>
        <p:nvSpPr>
          <p:cNvPr id="27" name="Text 25"/>
          <p:cNvSpPr txBox="1"/>
          <p:nvPr/>
        </p:nvSpPr>
        <p:spPr>
          <a:xfrm>
            <a:off x="548640" y="5138928"/>
            <a:ext cx="2651760" cy="932688"/>
          </a:xfrm>
          <a:prstGeom prst="rect">
            <a:avLst/>
          </a:prstGeom>
          <a:noFill/>
          <a:ln/>
        </p:spPr>
        <p:txBody>
          <a:bodyPr wrap="square" lIns="635" tIns="635" rIns="635" bIns="635" rtlCol="0" anchor="ctr"/>
          <a:lstStyle/>
          <a:p>
            <a:pPr algn="l" indent="0" marL="0">
              <a:buNone/>
            </a:pPr>
            <a:r>
              <a:rPr lang="en-US" sz="1250" b="1" dirty="0">
                <a:solidFill>
                  <a:srgbClr val="FFFFFF"/>
                </a:solidFill>
                <a:latin typeface="Arial" pitchFamily="34" charset="0"/>
                <a:ea typeface="Arial" pitchFamily="34" charset="-122"/>
                <a:cs typeface="Arial" pitchFamily="34" charset="-120"/>
              </a:rPr>
              <a:t>Outcome: premium scales, headcount too</a:t>
            </a:r>
            <a:endParaRPr lang="en-US" sz="1250" dirty="0"/>
          </a:p>
        </p:txBody>
      </p:sp>
      <p:sp>
        <p:nvSpPr>
          <p:cNvPr id="28" name="Shape 26"/>
          <p:cNvSpPr/>
          <p:nvPr/>
        </p:nvSpPr>
        <p:spPr>
          <a:xfrm>
            <a:off x="3429000" y="5138928"/>
            <a:ext cx="4846320" cy="932688"/>
          </a:xfrm>
          <a:prstGeom prst="rect">
            <a:avLst/>
          </a:prstGeom>
          <a:solidFill>
            <a:srgbClr val="EDEDED"/>
          </a:solidFill>
          <a:ln w="12700">
            <a:solidFill>
              <a:srgbClr val="EDEDED"/>
            </a:solidFill>
            <a:prstDash val="solid"/>
          </a:ln>
        </p:spPr>
      </p:sp>
      <p:sp>
        <p:nvSpPr>
          <p:cNvPr id="29" name="Text 27"/>
          <p:cNvSpPr txBox="1"/>
          <p:nvPr/>
        </p:nvSpPr>
        <p:spPr>
          <a:xfrm>
            <a:off x="3520440" y="5138928"/>
            <a:ext cx="4663440" cy="93268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Premium is outgrowing L400 cost (+7.6pp) but not L400 headcount (−6.9pp). Premium per policy is high (USD 16.4k DWP).</a:t>
            </a:r>
            <a:endParaRPr lang="en-US" sz="1050" dirty="0"/>
          </a:p>
        </p:txBody>
      </p:sp>
      <p:sp>
        <p:nvSpPr>
          <p:cNvPr id="30" name="Shape 28"/>
          <p:cNvSpPr/>
          <p:nvPr/>
        </p:nvSpPr>
        <p:spPr>
          <a:xfrm>
            <a:off x="8412480" y="5138928"/>
            <a:ext cx="3319272" cy="932688"/>
          </a:xfrm>
          <a:prstGeom prst="rect">
            <a:avLst/>
          </a:prstGeom>
          <a:solidFill>
            <a:srgbClr val="8C8C8C"/>
          </a:solidFill>
          <a:ln w="12700">
            <a:solidFill>
              <a:srgbClr val="8C8C8C"/>
            </a:solidFill>
            <a:prstDash val="solid"/>
          </a:ln>
        </p:spPr>
      </p:sp>
      <p:sp>
        <p:nvSpPr>
          <p:cNvPr id="31" name="Text 29"/>
          <p:cNvSpPr txBox="1"/>
          <p:nvPr/>
        </p:nvSpPr>
        <p:spPr>
          <a:xfrm>
            <a:off x="8503920" y="5138928"/>
            <a:ext cx="3136392" cy="93268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Scale through automation and segment-specific platforms, not more FTE.</a:t>
            </a:r>
            <a:endParaRPr lang="en-US" sz="1050" dirty="0"/>
          </a:p>
        </p:txBody>
      </p:sp>
      <p:sp>
        <p:nvSpPr>
          <p:cNvPr id="32" name="Text 30"/>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a:t>
            </a:r>
            <a:endParaRPr lang="en-US" sz="850" dirty="0"/>
          </a:p>
        </p:txBody>
      </p:sp>
      <p:sp>
        <p:nvSpPr>
          <p:cNvPr id="33" name="Text 31"/>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02 </a:t>
            </a:r>
            <a:pPr indent="0" marL="0">
              <a:buNone/>
            </a:pPr>
            <a:r>
              <a:rPr lang="en-US" sz="1300" dirty="0">
                <a:solidFill>
                  <a:srgbClr val="C8102E"/>
                </a:solidFill>
                <a:latin typeface="Arial" pitchFamily="34" charset="0"/>
                <a:ea typeface="Arial" pitchFamily="34" charset="-122"/>
                <a:cs typeface="Arial" pitchFamily="34" charset="-120"/>
              </a:rPr>
              <a:t>| Market Context</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HSBC is outgrowing the Hong Kong market, and L400 carries the largest book</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HSBC Life grew 10.2% in 2024 and 8.3% a year since 2020, while AIA and Prudential shrank. With Hang Seng Insurance, L400 supports USD 12.2bn of premium, 24% of the top-8 market. The PAS has to support growth without disruption.</a:t>
            </a:r>
            <a:endParaRPr lang="en-US" sz="1250" dirty="0"/>
          </a:p>
        </p:txBody>
      </p:sp>
      <p:graphicFrame>
        <p:nvGraphicFramePr>
          <p:cNvPr id="5" name="Chart 0" descr=""/>
          <p:cNvGraphicFramePr/>
          <p:nvPr/>
        </p:nvGraphicFramePr>
        <p:xfrm>
          <a:off x="457200" y="1783080"/>
          <a:ext cx="640080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23760" y="1783080"/>
            <a:ext cx="4507992" cy="347472"/>
          </a:xfrm>
          <a:prstGeom prst="rect">
            <a:avLst/>
          </a:prstGeom>
          <a:solidFill>
            <a:srgbClr val="C8102E"/>
          </a:solidFill>
          <a:ln w="12700">
            <a:solidFill>
              <a:srgbClr val="C8102E"/>
            </a:solidFill>
            <a:prstDash val="solid"/>
          </a:ln>
        </p:spPr>
      </p:sp>
      <p:sp>
        <p:nvSpPr>
          <p:cNvPr id="7" name="Text 4"/>
          <p:cNvSpPr txBox="1"/>
          <p:nvPr/>
        </p:nvSpPr>
        <p:spPr>
          <a:xfrm>
            <a:off x="7315200" y="1783080"/>
            <a:ext cx="432511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DWP 2024 (USD bn) and share of top 8</a:t>
            </a:r>
            <a:endParaRPr lang="en-US" sz="1200" dirty="0"/>
          </a:p>
        </p:txBody>
      </p:sp>
      <p:sp>
        <p:nvSpPr>
          <p:cNvPr id="8" name="Text 5"/>
          <p:cNvSpPr txBox="1"/>
          <p:nvPr/>
        </p:nvSpPr>
        <p:spPr>
          <a:xfrm>
            <a:off x="7269480" y="2240280"/>
            <a:ext cx="216255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12.2</a:t>
            </a:r>
            <a:endParaRPr lang="en-US" sz="3000" dirty="0"/>
          </a:p>
        </p:txBody>
      </p:sp>
      <p:sp>
        <p:nvSpPr>
          <p:cNvPr id="9" name="Text 6"/>
          <p:cNvSpPr txBox="1"/>
          <p:nvPr/>
        </p:nvSpPr>
        <p:spPr>
          <a:xfrm>
            <a:off x="7269480" y="2807208"/>
            <a:ext cx="216255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HSBC Group on L400 (24% share, #1)</a:t>
            </a:r>
            <a:endParaRPr lang="en-US" sz="1050" dirty="0"/>
          </a:p>
        </p:txBody>
      </p:sp>
      <p:sp>
        <p:nvSpPr>
          <p:cNvPr id="10" name="Text 7"/>
          <p:cNvSpPr txBox="1"/>
          <p:nvPr/>
        </p:nvSpPr>
        <p:spPr>
          <a:xfrm>
            <a:off x="9614916" y="2240280"/>
            <a:ext cx="216255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7.8</a:t>
            </a:r>
            <a:endParaRPr lang="en-US" sz="3000" dirty="0"/>
          </a:p>
        </p:txBody>
      </p:sp>
      <p:sp>
        <p:nvSpPr>
          <p:cNvPr id="11" name="Text 8"/>
          <p:cNvSpPr txBox="1"/>
          <p:nvPr/>
        </p:nvSpPr>
        <p:spPr>
          <a:xfrm>
            <a:off x="9614916" y="2807208"/>
            <a:ext cx="216255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HSBC Life alone (15% share, #3)</a:t>
            </a:r>
            <a:endParaRPr lang="en-US" sz="1050" dirty="0"/>
          </a:p>
        </p:txBody>
      </p:sp>
      <p:sp>
        <p:nvSpPr>
          <p:cNvPr id="12" name="Text 9"/>
          <p:cNvSpPr txBox="1"/>
          <p:nvPr/>
        </p:nvSpPr>
        <p:spPr>
          <a:xfrm>
            <a:off x="7269480" y="3383280"/>
            <a:ext cx="2162556" cy="548640"/>
          </a:xfrm>
          <a:prstGeom prst="rect">
            <a:avLst/>
          </a:prstGeom>
          <a:noFill/>
          <a:ln/>
        </p:spPr>
        <p:txBody>
          <a:bodyPr wrap="square" lIns="0" tIns="0" rIns="0" bIns="0" rtlCol="0" anchor="ctr"/>
          <a:lstStyle/>
          <a:p>
            <a:pPr indent="0" marL="0">
              <a:buNone/>
            </a:pPr>
            <a:r>
              <a:rPr lang="en-US" sz="3000" b="1" dirty="0">
                <a:solidFill>
                  <a:srgbClr val="595959"/>
                </a:solidFill>
                <a:latin typeface="Arial" pitchFamily="34" charset="0"/>
                <a:ea typeface="Arial" pitchFamily="34" charset="-122"/>
                <a:cs typeface="Arial" pitchFamily="34" charset="-120"/>
              </a:rPr>
              <a:t>11.3</a:t>
            </a:r>
            <a:endParaRPr lang="en-US" sz="3000" dirty="0"/>
          </a:p>
        </p:txBody>
      </p:sp>
      <p:sp>
        <p:nvSpPr>
          <p:cNvPr id="13" name="Text 10"/>
          <p:cNvSpPr txBox="1"/>
          <p:nvPr/>
        </p:nvSpPr>
        <p:spPr>
          <a:xfrm>
            <a:off x="7269480" y="3950208"/>
            <a:ext cx="216255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AIA (22% share)</a:t>
            </a:r>
            <a:endParaRPr lang="en-US" sz="1050" dirty="0"/>
          </a:p>
        </p:txBody>
      </p:sp>
      <p:sp>
        <p:nvSpPr>
          <p:cNvPr id="14" name="Text 11"/>
          <p:cNvSpPr txBox="1"/>
          <p:nvPr/>
        </p:nvSpPr>
        <p:spPr>
          <a:xfrm>
            <a:off x="9614916" y="3383280"/>
            <a:ext cx="2162556" cy="548640"/>
          </a:xfrm>
          <a:prstGeom prst="rect">
            <a:avLst/>
          </a:prstGeom>
          <a:noFill/>
          <a:ln/>
        </p:spPr>
        <p:txBody>
          <a:bodyPr wrap="square" lIns="0" tIns="0" rIns="0" bIns="0" rtlCol="0" anchor="ctr"/>
          <a:lstStyle/>
          <a:p>
            <a:pPr indent="0" marL="0">
              <a:buNone/>
            </a:pPr>
            <a:r>
              <a:rPr lang="en-US" sz="3000" b="1" dirty="0">
                <a:solidFill>
                  <a:srgbClr val="595959"/>
                </a:solidFill>
                <a:latin typeface="Arial" pitchFamily="34" charset="0"/>
                <a:ea typeface="Arial" pitchFamily="34" charset="-122"/>
                <a:cs typeface="Arial" pitchFamily="34" charset="-120"/>
              </a:rPr>
              <a:t>8.8 / 6.8</a:t>
            </a:r>
            <a:endParaRPr lang="en-US" sz="3000" dirty="0"/>
          </a:p>
        </p:txBody>
      </p:sp>
      <p:sp>
        <p:nvSpPr>
          <p:cNvPr id="15" name="Text 12"/>
          <p:cNvSpPr txBox="1"/>
          <p:nvPr/>
        </p:nvSpPr>
        <p:spPr>
          <a:xfrm>
            <a:off x="9614916" y="3950208"/>
            <a:ext cx="216255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Prudential / Manulife (17% / 13%)</a:t>
            </a:r>
            <a:endParaRPr lang="en-US" sz="1050" dirty="0"/>
          </a:p>
        </p:txBody>
      </p:sp>
      <p:sp>
        <p:nvSpPr>
          <p:cNvPr id="16" name="Shape 13"/>
          <p:cNvSpPr/>
          <p:nvPr/>
        </p:nvSpPr>
        <p:spPr>
          <a:xfrm>
            <a:off x="7223760" y="4617720"/>
            <a:ext cx="4507992" cy="1600200"/>
          </a:xfrm>
          <a:prstGeom prst="rect">
            <a:avLst/>
          </a:prstGeom>
          <a:solidFill>
            <a:srgbClr val="8C8C8C"/>
          </a:solidFill>
          <a:ln w="12700">
            <a:solidFill>
              <a:srgbClr val="8C8C8C"/>
            </a:solidFill>
            <a:prstDash val="solid"/>
          </a:ln>
        </p:spPr>
      </p:sp>
      <p:sp>
        <p:nvSpPr>
          <p:cNvPr id="17" name="Text 14"/>
          <p:cNvSpPr txBox="1"/>
          <p:nvPr/>
        </p:nvSpPr>
        <p:spPr>
          <a:xfrm>
            <a:off x="7315200" y="4617720"/>
            <a:ext cx="4325112" cy="160020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Growth is steady rather than a rebound: HSBC's 2024 rate is close to its 4-year trend. Hang Seng Insurance grew 50% in 2024, which adds load to the same L400 platform.</a:t>
            </a:r>
            <a:endParaRPr lang="en-US" sz="1100" dirty="0"/>
          </a:p>
        </p:txBody>
      </p:sp>
      <p:sp>
        <p:nvSpPr>
          <p:cNvPr id="18" name="Text 15"/>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Group on L400 = HSBC Life (International) + Hang Seng Insurance.</a:t>
            </a:r>
            <a:endParaRPr lang="en-US" sz="850" dirty="0"/>
          </a:p>
        </p:txBody>
      </p:sp>
      <p:sp>
        <p:nvSpPr>
          <p:cNvPr id="19" name="Text 16"/>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03 </a:t>
            </a:r>
            <a:pPr indent="0" marL="0">
              <a:buNone/>
            </a:pPr>
            <a:r>
              <a:rPr lang="en-US" sz="1300" dirty="0">
                <a:solidFill>
                  <a:srgbClr val="C8102E"/>
                </a:solidFill>
                <a:latin typeface="Arial" pitchFamily="34" charset="0"/>
                <a:ea typeface="Arial" pitchFamily="34" charset="-122"/>
                <a:cs typeface="Arial" pitchFamily="34" charset="-120"/>
              </a:rPr>
              <a:t>| IT Cost – Headline</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Enterprise ICT cannot separate HSBC from peers; the L400 platform view can</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Projected ICT puts HSBC next to AIA, and every insurer grows ICT about 5% a year. But HSBC's figure is bank-level, so the HSBC Life share is unknown. The reliable view is the L400 platform: USD 9.9m, or 0.08% of the premium it supports.</a:t>
            </a:r>
            <a:endParaRPr lang="en-US" sz="1250" dirty="0"/>
          </a:p>
        </p:txBody>
      </p:sp>
      <p:graphicFrame>
        <p:nvGraphicFramePr>
          <p:cNvPr id="5" name="Chart 0" descr=""/>
          <p:cNvGraphicFramePr/>
          <p:nvPr/>
        </p:nvGraphicFramePr>
        <p:xfrm>
          <a:off x="457200" y="178308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5989320"/>
            <a:ext cx="5852160" cy="365760"/>
          </a:xfrm>
          <a:prstGeom prst="rect">
            <a:avLst/>
          </a:prstGeom>
          <a:noFill/>
          <a:ln/>
        </p:spPr>
        <p:txBody>
          <a:bodyPr wrap="square" lIns="0" tIns="0" rIns="0" bIns="0" rtlCol="0" anchor="ctr"/>
          <a:lstStyle/>
          <a:p>
            <a:pPr indent="0" marL="0">
              <a:buNone/>
            </a:pPr>
            <a:r>
              <a:rPr lang="en-US" sz="850" i="1" dirty="0">
                <a:solidFill>
                  <a:srgbClr val="7F7F7F"/>
                </a:solidFill>
                <a:latin typeface="Arial" pitchFamily="34" charset="0"/>
                <a:ea typeface="Arial" pitchFamily="34" charset="-122"/>
                <a:cs typeface="Arial" pitchFamily="34" charset="-120"/>
              </a:rPr>
              <a:t>*The Hongkong and Shanghai Banking Corp. ICT (bank entity), not HSBC Life. Projected from 2022 at 2021–22 growth (~5% p.a.).</a:t>
            </a:r>
            <a:endParaRPr lang="en-US" sz="850" dirty="0"/>
          </a:p>
        </p:txBody>
      </p:sp>
      <p:sp>
        <p:nvSpPr>
          <p:cNvPr id="7" name="Shape 4"/>
          <p:cNvSpPr/>
          <p:nvPr/>
        </p:nvSpPr>
        <p:spPr>
          <a:xfrm>
            <a:off x="6675120" y="1783080"/>
            <a:ext cx="5056632" cy="347472"/>
          </a:xfrm>
          <a:prstGeom prst="rect">
            <a:avLst/>
          </a:prstGeom>
          <a:solidFill>
            <a:srgbClr val="C8102E"/>
          </a:solidFill>
          <a:ln w="12700">
            <a:solidFill>
              <a:srgbClr val="C8102E"/>
            </a:solidFill>
            <a:prstDash val="solid"/>
          </a:ln>
        </p:spPr>
      </p:sp>
      <p:sp>
        <p:nvSpPr>
          <p:cNvPr id="8" name="Text 5"/>
          <p:cNvSpPr txBox="1"/>
          <p:nvPr/>
        </p:nvSpPr>
        <p:spPr>
          <a:xfrm>
            <a:off x="6766560" y="1783080"/>
            <a:ext cx="487375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Enterprise view – low comparability</a:t>
            </a:r>
            <a:endParaRPr lang="en-US" sz="1200" dirty="0"/>
          </a:p>
        </p:txBody>
      </p:sp>
      <p:sp>
        <p:nvSpPr>
          <p:cNvPr id="9" name="Text 6"/>
          <p:cNvSpPr txBox="1"/>
          <p:nvPr/>
        </p:nvSpPr>
        <p:spPr>
          <a:xfrm>
            <a:off x="6720840" y="2240280"/>
            <a:ext cx="2436876" cy="548640"/>
          </a:xfrm>
          <a:prstGeom prst="rect">
            <a:avLst/>
          </a:prstGeom>
          <a:noFill/>
          <a:ln/>
        </p:spPr>
        <p:txBody>
          <a:bodyPr wrap="square" lIns="0" tIns="0" rIns="0" bIns="0" rtlCol="0" anchor="ctr"/>
          <a:lstStyle/>
          <a:p>
            <a:pPr indent="0" marL="0">
              <a:buNone/>
            </a:pPr>
            <a:r>
              <a:rPr lang="en-US" sz="3000" b="1" dirty="0">
                <a:solidFill>
                  <a:srgbClr val="595959"/>
                </a:solidFill>
                <a:latin typeface="Arial" pitchFamily="34" charset="0"/>
                <a:ea typeface="Arial" pitchFamily="34" charset="-122"/>
                <a:cs typeface="Arial" pitchFamily="34" charset="-120"/>
              </a:rPr>
              <a:t>18.7%</a:t>
            </a:r>
            <a:endParaRPr lang="en-US" sz="3000" dirty="0"/>
          </a:p>
        </p:txBody>
      </p:sp>
      <p:sp>
        <p:nvSpPr>
          <p:cNvPr id="10" name="Text 7"/>
          <p:cNvSpPr txBox="1"/>
          <p:nvPr/>
        </p:nvSpPr>
        <p:spPr>
          <a:xfrm>
            <a:off x="6720840" y="2807208"/>
            <a:ext cx="243687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HSBC ICT ÷ DWP (bank ICT over life premium)</a:t>
            </a:r>
            <a:endParaRPr lang="en-US" sz="1050" dirty="0"/>
          </a:p>
        </p:txBody>
      </p:sp>
      <p:sp>
        <p:nvSpPr>
          <p:cNvPr id="11" name="Text 8"/>
          <p:cNvSpPr txBox="1"/>
          <p:nvPr/>
        </p:nvSpPr>
        <p:spPr>
          <a:xfrm>
            <a:off x="9340596" y="2240280"/>
            <a:ext cx="2436876" cy="548640"/>
          </a:xfrm>
          <a:prstGeom prst="rect">
            <a:avLst/>
          </a:prstGeom>
          <a:noFill/>
          <a:ln/>
        </p:spPr>
        <p:txBody>
          <a:bodyPr wrap="square" lIns="0" tIns="0" rIns="0" bIns="0" rtlCol="0" anchor="ctr"/>
          <a:lstStyle/>
          <a:p>
            <a:pPr indent="0" marL="0">
              <a:buNone/>
            </a:pPr>
            <a:r>
              <a:rPr lang="en-US" sz="3000" b="1" dirty="0">
                <a:solidFill>
                  <a:srgbClr val="595959"/>
                </a:solidFill>
                <a:latin typeface="Arial" pitchFamily="34" charset="0"/>
                <a:ea typeface="Arial" pitchFamily="34" charset="-122"/>
                <a:cs typeface="Arial" pitchFamily="34" charset="-120"/>
              </a:rPr>
              <a:t>10.8%</a:t>
            </a:r>
            <a:endParaRPr lang="en-US" sz="3000" dirty="0"/>
          </a:p>
        </p:txBody>
      </p:sp>
      <p:sp>
        <p:nvSpPr>
          <p:cNvPr id="12" name="Text 9"/>
          <p:cNvSpPr txBox="1"/>
          <p:nvPr/>
        </p:nvSpPr>
        <p:spPr>
          <a:xfrm>
            <a:off x="9340596" y="2807208"/>
            <a:ext cx="243687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Peer average ICT ÷ DWP (market 4.1%)</a:t>
            </a:r>
            <a:endParaRPr lang="en-US" sz="1050" dirty="0"/>
          </a:p>
        </p:txBody>
      </p:sp>
      <p:sp>
        <p:nvSpPr>
          <p:cNvPr id="13" name="Shape 10"/>
          <p:cNvSpPr/>
          <p:nvPr/>
        </p:nvSpPr>
        <p:spPr>
          <a:xfrm>
            <a:off x="6675120" y="3474720"/>
            <a:ext cx="5056632" cy="347472"/>
          </a:xfrm>
          <a:prstGeom prst="rect">
            <a:avLst/>
          </a:prstGeom>
          <a:solidFill>
            <a:srgbClr val="C8102E"/>
          </a:solidFill>
          <a:ln w="12700">
            <a:solidFill>
              <a:srgbClr val="C8102E"/>
            </a:solidFill>
            <a:prstDash val="solid"/>
          </a:ln>
        </p:spPr>
      </p:sp>
      <p:sp>
        <p:nvSpPr>
          <p:cNvPr id="14" name="Text 11"/>
          <p:cNvSpPr txBox="1"/>
          <p:nvPr/>
        </p:nvSpPr>
        <p:spPr>
          <a:xfrm>
            <a:off x="6766560" y="3474720"/>
            <a:ext cx="487375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L400 platform view – usable</a:t>
            </a:r>
            <a:endParaRPr lang="en-US" sz="1200" dirty="0"/>
          </a:p>
        </p:txBody>
      </p:sp>
      <p:sp>
        <p:nvSpPr>
          <p:cNvPr id="15" name="Text 12"/>
          <p:cNvSpPr txBox="1"/>
          <p:nvPr/>
        </p:nvSpPr>
        <p:spPr>
          <a:xfrm>
            <a:off x="6720840" y="3931920"/>
            <a:ext cx="243687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9.9 → 11.3</a:t>
            </a:r>
            <a:endParaRPr lang="en-US" sz="3000" dirty="0"/>
          </a:p>
        </p:txBody>
      </p:sp>
      <p:sp>
        <p:nvSpPr>
          <p:cNvPr id="16" name="Text 13"/>
          <p:cNvSpPr txBox="1"/>
          <p:nvPr/>
        </p:nvSpPr>
        <p:spPr>
          <a:xfrm>
            <a:off x="6720840" y="4498848"/>
            <a:ext cx="243687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L400 cost, USD m, FY25 → LE26 (+14%)</a:t>
            </a:r>
            <a:endParaRPr lang="en-US" sz="1050" dirty="0"/>
          </a:p>
        </p:txBody>
      </p:sp>
      <p:sp>
        <p:nvSpPr>
          <p:cNvPr id="17" name="Text 14"/>
          <p:cNvSpPr txBox="1"/>
          <p:nvPr/>
        </p:nvSpPr>
        <p:spPr>
          <a:xfrm>
            <a:off x="9340596" y="3931920"/>
            <a:ext cx="243687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0.08%</a:t>
            </a:r>
            <a:endParaRPr lang="en-US" sz="3000" dirty="0"/>
          </a:p>
        </p:txBody>
      </p:sp>
      <p:sp>
        <p:nvSpPr>
          <p:cNvPr id="18" name="Text 15"/>
          <p:cNvSpPr txBox="1"/>
          <p:nvPr/>
        </p:nvSpPr>
        <p:spPr>
          <a:xfrm>
            <a:off x="9340596" y="4498848"/>
            <a:ext cx="243687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L400 cost ÷ DWP (Sun Life PAS 0.91%)</a:t>
            </a:r>
            <a:endParaRPr lang="en-US" sz="1050" dirty="0"/>
          </a:p>
        </p:txBody>
      </p:sp>
      <p:sp>
        <p:nvSpPr>
          <p:cNvPr id="19" name="Shape 16"/>
          <p:cNvSpPr/>
          <p:nvPr/>
        </p:nvSpPr>
        <p:spPr>
          <a:xfrm>
            <a:off x="6675120" y="5074920"/>
            <a:ext cx="5056632" cy="1097280"/>
          </a:xfrm>
          <a:prstGeom prst="rect">
            <a:avLst/>
          </a:prstGeom>
          <a:solidFill>
            <a:srgbClr val="8C8C8C"/>
          </a:solidFill>
          <a:ln w="12700">
            <a:solidFill>
              <a:srgbClr val="8C8C8C"/>
            </a:solidFill>
            <a:prstDash val="solid"/>
          </a:ln>
        </p:spPr>
      </p:sp>
      <p:sp>
        <p:nvSpPr>
          <p:cNvPr id="20" name="Text 17"/>
          <p:cNvSpPr txBox="1"/>
          <p:nvPr/>
        </p:nvSpPr>
        <p:spPr>
          <a:xfrm>
            <a:off x="6766560" y="5074920"/>
            <a:ext cx="4873752" cy="1097280"/>
          </a:xfrm>
          <a:prstGeom prst="rect">
            <a:avLst/>
          </a:prstGeom>
          <a:noFill/>
          <a:ln/>
        </p:spPr>
        <p:txBody>
          <a:bodyPr wrap="square" lIns="635" tIns="635" rIns="635" bIns="635" rtlCol="0" anchor="ctr"/>
          <a:lstStyle/>
          <a:p>
            <a:pPr indent="0" marL="0">
              <a:buNone/>
            </a:pPr>
            <a:r>
              <a:rPr lang="en-US" sz="1100" dirty="0">
                <a:solidFill>
                  <a:srgbClr val="FFFFFF"/>
                </a:solidFill>
                <a:latin typeface="Arial" pitchFamily="34" charset="0"/>
                <a:ea typeface="Arial" pitchFamily="34" charset="-122"/>
                <a:cs typeface="Arial" pitchFamily="34" charset="-120"/>
              </a:rPr>
              <a:t>Use L400 cost and unit costs for the story. Enterprise ICT only confirms that HSBC is not under-investing.</a:t>
            </a:r>
            <a:endParaRPr lang="en-US" sz="1100" dirty="0"/>
          </a:p>
        </p:txBody>
      </p:sp>
      <p:sp>
        <p:nvSpPr>
          <p:cNvPr id="21" name="Text 18"/>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Sun Life PAS cost is an operations cost, so the 0.91% is indicative.</a:t>
            </a:r>
            <a:endParaRPr lang="en-US" sz="850" dirty="0"/>
          </a:p>
        </p:txBody>
      </p:sp>
      <p:sp>
        <p:nvSpPr>
          <p:cNvPr id="22" name="Text 19"/>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04 </a:t>
            </a:r>
            <a:pPr indent="0" marL="0">
              <a:buNone/>
            </a:pPr>
            <a:r>
              <a:rPr lang="en-US" sz="1300" dirty="0">
                <a:solidFill>
                  <a:srgbClr val="C8102E"/>
                </a:solidFill>
                <a:latin typeface="Arial" pitchFamily="34" charset="0"/>
                <a:ea typeface="Arial" pitchFamily="34" charset="-122"/>
                <a:cs typeface="Arial" pitchFamily="34" charset="-120"/>
              </a:rPr>
              <a:t>| IT Cost – L400 Structure</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L400 spend is change-heavy and labour-led, with cloud only starting</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74% of L400 cost is change work, delivered by labour, and more than half of that labour is external. Infrastructure is a large share and cloud is almost zero. Continuous modernisation is already under way; the lenses decide where it goes.</a:t>
            </a:r>
            <a:endParaRPr lang="en-US" sz="1250" dirty="0"/>
          </a:p>
        </p:txBody>
      </p:sp>
      <p:graphicFrame>
        <p:nvGraphicFramePr>
          <p:cNvPr id="5" name="Chart 0" descr=""/>
          <p:cNvGraphicFramePr/>
          <p:nvPr/>
        </p:nvGraphicFramePr>
        <p:xfrm>
          <a:off x="457200" y="1783080"/>
          <a:ext cx="457200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303520" y="1783080"/>
            <a:ext cx="3108960" cy="347472"/>
          </a:xfrm>
          <a:prstGeom prst="rect">
            <a:avLst/>
          </a:prstGeom>
          <a:solidFill>
            <a:srgbClr val="C8102E"/>
          </a:solidFill>
          <a:ln w="12700">
            <a:solidFill>
              <a:srgbClr val="C8102E"/>
            </a:solidFill>
            <a:prstDash val="solid"/>
          </a:ln>
        </p:spPr>
      </p:sp>
      <p:sp>
        <p:nvSpPr>
          <p:cNvPr id="7" name="Text 4"/>
          <p:cNvSpPr txBox="1"/>
          <p:nvPr/>
        </p:nvSpPr>
        <p:spPr>
          <a:xfrm>
            <a:off x="5394960" y="1783080"/>
            <a:ext cx="2926080"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L400 vs peer average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303520" y="2240280"/>
          <a:ext cx="3108960" cy="914400"/>
        </p:xfrm>
        <a:graphic>
          <a:graphicData uri="http://schemas.openxmlformats.org/drawingml/2006/table">
            <a:tbl>
              <a:tblPr/>
              <a:tblGrid>
                <a:gridCol w="1234440"/>
                <a:gridCol w="1097280"/>
                <a:gridCol w="777240"/>
              </a:tblGrid>
              <a:tr h="384048">
                <a:tc>
                  <a:txBody>
                    <a:bodyPr/>
                    <a:lstStyle/>
                    <a:p>
                      <a:pPr algn="l" indent="0" marL="0">
                        <a:buNone/>
                      </a:pPr>
                      <a:r>
                        <a:rPr lang="en-US" sz="1100" b="1" dirty="0">
                          <a:solidFill>
                            <a:srgbClr val="7F7F7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7F7F7F"/>
                          </a:solidFill>
                          <a:latin typeface="Arial" pitchFamily="34" charset="0"/>
                          <a:ea typeface="Arial" pitchFamily="34" charset="-122"/>
                          <a:cs typeface="Arial" pitchFamily="34" charset="-120"/>
                        </a:rPr>
                        <a:t>L400</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7F7F7F"/>
                          </a:solidFill>
                          <a:latin typeface="Arial" pitchFamily="34" charset="0"/>
                          <a:ea typeface="Arial" pitchFamily="34" charset="-122"/>
                          <a:cs typeface="Arial" pitchFamily="34" charset="-120"/>
                        </a:rPr>
                        <a:t>Peers</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Run share</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b="1" dirty="0">
                          <a:solidFill>
                            <a:srgbClr val="C8102E"/>
                          </a:solidFill>
                          <a:latin typeface="Arial" pitchFamily="34" charset="0"/>
                          <a:ea typeface="Arial" pitchFamily="34" charset="-122"/>
                          <a:cs typeface="Arial" pitchFamily="34" charset="-120"/>
                        </a:rPr>
                        <a:t>26%</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73%</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External labour</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b="1" dirty="0">
                          <a:solidFill>
                            <a:srgbClr val="C8102E"/>
                          </a:solidFill>
                          <a:latin typeface="Arial" pitchFamily="34" charset="0"/>
                          <a:ea typeface="Arial" pitchFamily="34" charset="-122"/>
                          <a:cs typeface="Arial" pitchFamily="34" charset="-120"/>
                        </a:rPr>
                        <a:t>39%</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19%</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Infrastructure</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b="1" dirty="0">
                          <a:solidFill>
                            <a:srgbClr val="C8102E"/>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9%</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100" dirty="0">
                          <a:solidFill>
                            <a:srgbClr val="222222"/>
                          </a:solidFill>
                          <a:latin typeface="Arial" pitchFamily="34" charset="0"/>
                          <a:ea typeface="Arial" pitchFamily="34" charset="-122"/>
                          <a:cs typeface="Arial" pitchFamily="34" charset="-120"/>
                        </a:rPr>
                        <a:t>Cloud</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b="1" dirty="0">
                          <a:solidFill>
                            <a:srgbClr val="C8102E"/>
                          </a:solidFill>
                          <a:latin typeface="Arial" pitchFamily="34" charset="0"/>
                          <a:ea typeface="Arial" pitchFamily="34" charset="-122"/>
                          <a:cs typeface="Arial" pitchFamily="34" charset="-120"/>
                        </a:rPr>
                        <a:t>0.1%→1.6%</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100" dirty="0">
                          <a:solidFill>
                            <a:srgbClr val="222222"/>
                          </a:solidFill>
                          <a:latin typeface="Arial" pitchFamily="34" charset="0"/>
                          <a:ea typeface="Arial" pitchFamily="34" charset="-122"/>
                          <a:cs typeface="Arial" pitchFamily="34" charset="-120"/>
                        </a:rPr>
                        <a:t>17%*</a:t>
                      </a:r>
                      <a:endParaRPr lang="en-US" sz="11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bl>
          </a:graphicData>
        </a:graphic>
      </p:graphicFrame>
      <p:sp>
        <p:nvSpPr>
          <p:cNvPr id="9" name="Text 5"/>
          <p:cNvSpPr txBox="1"/>
          <p:nvPr/>
        </p:nvSpPr>
        <p:spPr>
          <a:xfrm>
            <a:off x="5303520" y="4251960"/>
            <a:ext cx="3108960" cy="548640"/>
          </a:xfrm>
          <a:prstGeom prst="rect">
            <a:avLst/>
          </a:prstGeom>
          <a:noFill/>
          <a:ln/>
        </p:spPr>
        <p:txBody>
          <a:bodyPr wrap="square" lIns="0" tIns="0" rIns="0" bIns="0" rtlCol="0" anchor="ctr"/>
          <a:lstStyle/>
          <a:p>
            <a:pPr indent="0" marL="0">
              <a:buNone/>
            </a:pPr>
            <a:r>
              <a:rPr lang="en-US" sz="850" i="1" dirty="0">
                <a:solidFill>
                  <a:srgbClr val="7F7F7F"/>
                </a:solidFill>
                <a:latin typeface="Arial" pitchFamily="34" charset="0"/>
                <a:ea typeface="Arial" pitchFamily="34" charset="-122"/>
                <a:cs typeface="Arial" pitchFamily="34" charset="-120"/>
              </a:rPr>
              <a:t>*Peer cloud = share of modernisation investment. Peer mix is enterprise-wide, L400 mix is platform-only: directional.</a:t>
            </a:r>
            <a:endParaRPr lang="en-US" sz="850" dirty="0"/>
          </a:p>
        </p:txBody>
      </p:sp>
      <p:sp>
        <p:nvSpPr>
          <p:cNvPr id="10" name="Shape 6"/>
          <p:cNvSpPr/>
          <p:nvPr/>
        </p:nvSpPr>
        <p:spPr>
          <a:xfrm>
            <a:off x="8686800" y="1783080"/>
            <a:ext cx="3044952" cy="1371600"/>
          </a:xfrm>
          <a:prstGeom prst="rect">
            <a:avLst/>
          </a:prstGeom>
          <a:solidFill>
            <a:srgbClr val="EDEDED"/>
          </a:solidFill>
          <a:ln w="12700">
            <a:solidFill>
              <a:srgbClr val="EDEDED"/>
            </a:solidFill>
            <a:prstDash val="solid"/>
          </a:ln>
        </p:spPr>
      </p:sp>
      <p:sp>
        <p:nvSpPr>
          <p:cNvPr id="11" name="Text 7"/>
          <p:cNvSpPr txBox="1"/>
          <p:nvPr/>
        </p:nvSpPr>
        <p:spPr>
          <a:xfrm>
            <a:off x="8778240" y="1783080"/>
            <a:ext cx="2862072" cy="137160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Change-heavy</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Run is 26% against 73% for peers. New builds must be modular so they do not become future run cost.</a:t>
            </a:r>
            <a:endParaRPr lang="en-US" sz="1100" dirty="0"/>
          </a:p>
        </p:txBody>
      </p:sp>
      <p:sp>
        <p:nvSpPr>
          <p:cNvPr id="12" name="Shape 8"/>
          <p:cNvSpPr/>
          <p:nvPr/>
        </p:nvSpPr>
        <p:spPr>
          <a:xfrm>
            <a:off x="8686800" y="3291840"/>
            <a:ext cx="3044952" cy="1371600"/>
          </a:xfrm>
          <a:prstGeom prst="rect">
            <a:avLst/>
          </a:prstGeom>
          <a:solidFill>
            <a:srgbClr val="EDEDED"/>
          </a:solidFill>
          <a:ln w="12700">
            <a:solidFill>
              <a:srgbClr val="EDEDED"/>
            </a:solidFill>
            <a:prstDash val="solid"/>
          </a:ln>
        </p:spPr>
      </p:sp>
      <p:sp>
        <p:nvSpPr>
          <p:cNvPr id="13" name="Text 9"/>
          <p:cNvSpPr txBox="1"/>
          <p:nvPr/>
        </p:nvSpPr>
        <p:spPr>
          <a:xfrm>
            <a:off x="8778240" y="3291840"/>
            <a:ext cx="2862072" cy="137160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Vendor reliance</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External labour is USD 3.8m → 4.2m, incl. a DXC SOW of USD 3.2m. This is the resilience lens.</a:t>
            </a:r>
            <a:endParaRPr lang="en-US" sz="1100" dirty="0"/>
          </a:p>
        </p:txBody>
      </p:sp>
      <p:sp>
        <p:nvSpPr>
          <p:cNvPr id="14" name="Shape 10"/>
          <p:cNvSpPr/>
          <p:nvPr/>
        </p:nvSpPr>
        <p:spPr>
          <a:xfrm>
            <a:off x="8686800" y="4800600"/>
            <a:ext cx="3044952" cy="1417320"/>
          </a:xfrm>
          <a:prstGeom prst="rect">
            <a:avLst/>
          </a:prstGeom>
          <a:solidFill>
            <a:srgbClr val="C8102E"/>
          </a:solidFill>
          <a:ln w="12700">
            <a:solidFill>
              <a:srgbClr val="C8102E"/>
            </a:solidFill>
            <a:prstDash val="solid"/>
          </a:ln>
        </p:spPr>
      </p:sp>
      <p:sp>
        <p:nvSpPr>
          <p:cNvPr id="15" name="Text 11"/>
          <p:cNvSpPr txBox="1"/>
          <p:nvPr/>
        </p:nvSpPr>
        <p:spPr>
          <a:xfrm>
            <a:off x="8778240" y="4800600"/>
            <a:ext cx="2862072" cy="1417320"/>
          </a:xfrm>
          <a:prstGeom prst="rect">
            <a:avLst/>
          </a:prstGeom>
          <a:noFill/>
          <a:ln/>
        </p:spPr>
        <p:txBody>
          <a:bodyPr wrap="square" lIns="635" tIns="635" rIns="635" bIns="635" rtlCol="0" anchor="ctr"/>
          <a:lstStyle/>
          <a:p>
            <a:pPr indent="0" marL="0">
              <a:buNone/>
            </a:pPr>
            <a:r>
              <a:rPr lang="en-US" sz="1100" b="1" dirty="0">
                <a:solidFill>
                  <a:srgbClr val="FFFFFF"/>
                </a:solidFill>
                <a:latin typeface="Arial" pitchFamily="34" charset="0"/>
                <a:ea typeface="Arial" pitchFamily="34" charset="-122"/>
                <a:cs typeface="Arial" pitchFamily="34" charset="-120"/>
              </a:rPr>
              <a:t>Cloud from a near-zero base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Cloud grows from USD 10k to 178k. Infrastructure (USD 1.9m) is where acceleration can free cost.</a:t>
            </a:r>
            <a:endParaRPr lang="en-US" sz="1100" dirty="0"/>
          </a:p>
        </p:txBody>
      </p:sp>
      <p:sp>
        <p:nvSpPr>
          <p:cNvPr id="16" name="Text 12"/>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L400 cost = labour view (internal + external labour + RTB).</a:t>
            </a:r>
            <a:endParaRPr lang="en-US" sz="850" dirty="0"/>
          </a:p>
        </p:txBody>
      </p:sp>
      <p:sp>
        <p:nvSpPr>
          <p:cNvPr id="17" name="Text 13"/>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05 </a:t>
            </a:r>
            <a:pPr indent="0" marL="0">
              <a:buNone/>
            </a:pPr>
            <a:r>
              <a:rPr lang="en-US" sz="1300" dirty="0">
                <a:solidFill>
                  <a:srgbClr val="C8102E"/>
                </a:solidFill>
                <a:latin typeface="Arial" pitchFamily="34" charset="0"/>
                <a:ea typeface="Arial" pitchFamily="34" charset="-122"/>
                <a:cs typeface="Arial" pitchFamily="34" charset="-120"/>
              </a:rPr>
              <a:t>| PAS Deep Dive – Like-for-like Cost to Serve</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Servicing demand matches Sun Life; the cost gap is mostly change investment</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HSBC and Sun Life get almost the same number of servicing cases per policy (434 vs 443 per 1,000). So demand doesn't explain the gap. 88% of the per-policy gap is change spend. On run cost alone, L400 costs 1.7× Sun Life: about USD 1.0m a year.</a:t>
            </a:r>
            <a:endParaRPr lang="en-US" sz="1250" dirty="0"/>
          </a:p>
        </p:txBody>
      </p:sp>
      <p:graphicFrame>
        <p:nvGraphicFramePr>
          <p:cNvPr id="5" name="Chart 0" descr=""/>
          <p:cNvGraphicFramePr/>
          <p:nvPr/>
        </p:nvGraphicFramePr>
        <p:xfrm>
          <a:off x="457200" y="1783080"/>
          <a:ext cx="420624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892040" y="1783080"/>
            <a:ext cx="6839712" cy="347472"/>
          </a:xfrm>
          <a:prstGeom prst="rect">
            <a:avLst/>
          </a:prstGeom>
          <a:solidFill>
            <a:srgbClr val="C8102E"/>
          </a:solidFill>
          <a:ln w="12700">
            <a:solidFill>
              <a:srgbClr val="C8102E"/>
            </a:solidFill>
            <a:prstDash val="solid"/>
          </a:ln>
        </p:spPr>
      </p:sp>
      <p:sp>
        <p:nvSpPr>
          <p:cNvPr id="7" name="Text 4"/>
          <p:cNvSpPr txBox="1"/>
          <p:nvPr/>
        </p:nvSpPr>
        <p:spPr>
          <a:xfrm>
            <a:off x="4983480" y="1783080"/>
            <a:ext cx="665683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Like-for-like comparison, FY2025</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92040" y="2240280"/>
          <a:ext cx="6839712" cy="914400"/>
        </p:xfrm>
        <a:graphic>
          <a:graphicData uri="http://schemas.openxmlformats.org/drawingml/2006/table">
            <a:tbl>
              <a:tblPr/>
              <a:tblGrid>
                <a:gridCol w="2743200"/>
                <a:gridCol w="777240"/>
                <a:gridCol w="868680"/>
                <a:gridCol w="1051560"/>
                <a:gridCol w="1399032"/>
              </a:tblGrid>
              <a:tr h="384048">
                <a:tc>
                  <a:txBody>
                    <a:bodyPr/>
                    <a:lstStyle/>
                    <a:p>
                      <a:pPr algn="l" indent="0" marL="0">
                        <a:buNone/>
                      </a:pPr>
                      <a:r>
                        <a:rPr lang="en-US" sz="1050" b="1" dirty="0">
                          <a:solidFill>
                            <a:srgbClr val="7F7F7F"/>
                          </a:solidFill>
                          <a:latin typeface="Arial" pitchFamily="34" charset="0"/>
                          <a:ea typeface="Arial" pitchFamily="34" charset="-122"/>
                          <a:cs typeface="Arial" pitchFamily="34" charset="-120"/>
                        </a:rPr>
                        <a:t>Metric</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7F7F7F"/>
                          </a:solidFill>
                          <a:latin typeface="Arial" pitchFamily="34" charset="0"/>
                          <a:ea typeface="Arial" pitchFamily="34" charset="-122"/>
                          <a:cs typeface="Arial" pitchFamily="34" charset="-120"/>
                        </a:rPr>
                        <a:t>HSBC</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7F7F7F"/>
                          </a:solidFill>
                          <a:latin typeface="Arial" pitchFamily="34" charset="0"/>
                          <a:ea typeface="Arial" pitchFamily="34" charset="-122"/>
                          <a:cs typeface="Arial" pitchFamily="34" charset="-120"/>
                        </a:rPr>
                        <a:t>Sun Life</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7F7F7F"/>
                          </a:solidFill>
                          <a:latin typeface="Arial" pitchFamily="34" charset="0"/>
                          <a:ea typeface="Arial" pitchFamily="34" charset="-122"/>
                          <a:cs typeface="Arial" pitchFamily="34" charset="-120"/>
                        </a:rPr>
                        <a:t>Read-across</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7F7F7F"/>
                          </a:solidFill>
                          <a:latin typeface="Arial" pitchFamily="34" charset="0"/>
                          <a:ea typeface="Arial" pitchFamily="34" charset="-122"/>
                          <a:cs typeface="Arial" pitchFamily="34" charset="-120"/>
                        </a:rPr>
                        <a:t>Basis</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Servicing cases per 1,000 policies</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434</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443</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b="1" dirty="0">
                          <a:solidFill>
                            <a:srgbClr val="C8102E"/>
                          </a:solidFill>
                          <a:latin typeface="Arial" pitchFamily="34" charset="0"/>
                          <a:ea typeface="Arial" pitchFamily="34" charset="-122"/>
                          <a:cs typeface="Arial" pitchFamily="34" charset="-120"/>
                        </a:rPr>
                        <a:t>In line</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High</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Cost per cancellation (USD)</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233</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234</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b="1" dirty="0">
                          <a:solidFill>
                            <a:srgbClr val="C8102E"/>
                          </a:solidFill>
                          <a:latin typeface="Arial" pitchFamily="34" charset="0"/>
                          <a:ea typeface="Arial" pitchFamily="34" charset="-122"/>
                          <a:cs typeface="Arial" pitchFamily="34" charset="-120"/>
                        </a:rPr>
                        <a:t>In line</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High</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Run cost per in-force policy (USD)</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3.4</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b="1" dirty="0">
                          <a:solidFill>
                            <a:srgbClr val="C8102E"/>
                          </a:solidFill>
                          <a:latin typeface="Arial" pitchFamily="34" charset="0"/>
                          <a:ea typeface="Arial" pitchFamily="34" charset="-122"/>
                          <a:cs typeface="Arial" pitchFamily="34" charset="-120"/>
                        </a:rPr>
                        <a:t>1.7×</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Medium</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Run cost per servicing case (USD)</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7.9</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4.7</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b="1" dirty="0">
                          <a:solidFill>
                            <a:srgbClr val="C8102E"/>
                          </a:solidFill>
                          <a:latin typeface="Arial" pitchFamily="34" charset="0"/>
                          <a:ea typeface="Arial" pitchFamily="34" charset="-122"/>
                          <a:cs typeface="Arial" pitchFamily="34" charset="-120"/>
                        </a:rPr>
                        <a:t>1.7×</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Medium</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Total cost per in-force policy (USD)</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13.2</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b="1" dirty="0">
                          <a:solidFill>
                            <a:srgbClr val="C8102E"/>
                          </a:solidFill>
                          <a:latin typeface="Arial" pitchFamily="34" charset="0"/>
                          <a:ea typeface="Arial" pitchFamily="34" charset="-122"/>
                          <a:cs typeface="Arial" pitchFamily="34" charset="-120"/>
                        </a:rPr>
                        <a:t>6.4×</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Low</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Share of per-policy gap from change</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88%</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b="1" dirty="0">
                          <a:solidFill>
                            <a:srgbClr val="C8102E"/>
                          </a:solidFill>
                          <a:latin typeface="Arial" pitchFamily="34" charset="0"/>
                          <a:ea typeface="Arial" pitchFamily="34" charset="-122"/>
                          <a:cs typeface="Arial" pitchFamily="34" charset="-120"/>
                        </a:rPr>
                        <a:t>Investment</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50" dirty="0">
                          <a:solidFill>
                            <a:srgbClr val="222222"/>
                          </a:solidFill>
                          <a:latin typeface="Arial" pitchFamily="34" charset="0"/>
                          <a:ea typeface="Arial" pitchFamily="34" charset="-122"/>
                          <a:cs typeface="Arial" pitchFamily="34" charset="-120"/>
                        </a:rPr>
                        <a:t>Derived</a:t>
                      </a:r>
                      <a:endParaRPr lang="en-US" sz="10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bl>
          </a:graphicData>
        </a:graphic>
      </p:graphicFrame>
      <p:sp>
        <p:nvSpPr>
          <p:cNvPr id="9" name="Shape 5"/>
          <p:cNvSpPr/>
          <p:nvPr/>
        </p:nvSpPr>
        <p:spPr>
          <a:xfrm>
            <a:off x="4892040" y="5074920"/>
            <a:ext cx="3328416" cy="1143000"/>
          </a:xfrm>
          <a:prstGeom prst="rect">
            <a:avLst/>
          </a:prstGeom>
          <a:solidFill>
            <a:srgbClr val="EDEDED"/>
          </a:solidFill>
          <a:ln w="12700">
            <a:solidFill>
              <a:srgbClr val="EDEDED"/>
            </a:solidFill>
            <a:prstDash val="solid"/>
          </a:ln>
        </p:spPr>
      </p:sp>
      <p:sp>
        <p:nvSpPr>
          <p:cNvPr id="10" name="Text 6"/>
          <p:cNvSpPr txBox="1"/>
          <p:nvPr/>
        </p:nvSpPr>
        <p:spPr>
          <a:xfrm>
            <a:off x="4983480" y="5074920"/>
            <a:ext cx="3145536" cy="114300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Why this matters</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The headline "6.5× costlier" is mostly money going into change, not waste in running the platform.</a:t>
            </a:r>
            <a:endParaRPr lang="en-US" sz="1100" dirty="0"/>
          </a:p>
        </p:txBody>
      </p:sp>
      <p:sp>
        <p:nvSpPr>
          <p:cNvPr id="11" name="Shape 7"/>
          <p:cNvSpPr/>
          <p:nvPr/>
        </p:nvSpPr>
        <p:spPr>
          <a:xfrm>
            <a:off x="8403336" y="5074920"/>
            <a:ext cx="3328416" cy="1143000"/>
          </a:xfrm>
          <a:prstGeom prst="rect">
            <a:avLst/>
          </a:prstGeom>
          <a:solidFill>
            <a:srgbClr val="C8102E"/>
          </a:solidFill>
          <a:ln w="12700">
            <a:solidFill>
              <a:srgbClr val="C8102E"/>
            </a:solidFill>
            <a:prstDash val="solid"/>
          </a:ln>
        </p:spPr>
      </p:sp>
      <p:sp>
        <p:nvSpPr>
          <p:cNvPr id="12" name="Text 8"/>
          <p:cNvSpPr txBox="1"/>
          <p:nvPr/>
        </p:nvSpPr>
        <p:spPr>
          <a:xfrm>
            <a:off x="8494776" y="5074920"/>
            <a:ext cx="3145536" cy="1143000"/>
          </a:xfrm>
          <a:prstGeom prst="rect">
            <a:avLst/>
          </a:prstGeom>
          <a:noFill/>
          <a:ln/>
        </p:spPr>
        <p:txBody>
          <a:bodyPr wrap="square" lIns="635" tIns="635" rIns="635" bIns="635" rtlCol="0" anchor="ctr"/>
          <a:lstStyle/>
          <a:p>
            <a:pPr indent="0" marL="0">
              <a:buNone/>
            </a:pPr>
            <a:r>
              <a:rPr lang="en-US" sz="1100" b="1" dirty="0">
                <a:solidFill>
                  <a:srgbClr val="FFFFFF"/>
                </a:solidFill>
                <a:latin typeface="Arial" pitchFamily="34" charset="0"/>
                <a:ea typeface="Arial" pitchFamily="34" charset="-122"/>
                <a:cs typeface="Arial" pitchFamily="34" charset="-120"/>
              </a:rPr>
              <a:t>So what for Option 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The question isn't cost level but whether USD 7.3m of change a year delivers outcomes. Tie it to KPIs.</a:t>
            </a:r>
            <a:endParaRPr lang="en-US" sz="1100" dirty="0"/>
          </a:p>
        </p:txBody>
      </p:sp>
      <p:sp>
        <p:nvSpPr>
          <p:cNvPr id="13" name="Text 9"/>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Run = L400 RTB (application, infrastructure, cloud). Sun Life = PAS operations cost; its in-force is an estimate. Sun Life change spend not reported.</a:t>
            </a:r>
            <a:endParaRPr lang="en-US" sz="850" dirty="0"/>
          </a:p>
        </p:txBody>
      </p:sp>
      <p:sp>
        <p:nvSpPr>
          <p:cNvPr id="14" name="Text 10"/>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06 </a:t>
            </a:r>
            <a:pPr indent="0" marL="0">
              <a:buNone/>
            </a:pPr>
            <a:r>
              <a:rPr lang="en-US" sz="1300" dirty="0">
                <a:solidFill>
                  <a:srgbClr val="C8102E"/>
                </a:solidFill>
                <a:latin typeface="Arial" pitchFamily="34" charset="0"/>
                <a:ea typeface="Arial" pitchFamily="34" charset="-122"/>
                <a:cs typeface="Arial" pitchFamily="34" charset="-120"/>
              </a:rPr>
              <a:t>| PAS Deep Dive – Team Economics vs Peers</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Per premium dollar, the L400 team is as lean as AIA, Prudential and Manulife</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No peer publishes PAS cost, so we built an outside-in estimate: peer PAS FTE × HSBC's loaded cost per FTE. On that basis, PAS labour costs about 0.06–0.07% of premium at every insurer. HSBC's edge is scale. The risk is that LE26 hiring (+29%) erodes it.</a:t>
            </a:r>
            <a:endParaRPr lang="en-US" sz="1250" dirty="0"/>
          </a:p>
        </p:txBody>
      </p:sp>
      <p:graphicFrame>
        <p:nvGraphicFramePr>
          <p:cNvPr id="5" name="Chart 0" descr=""/>
          <p:cNvGraphicFramePr/>
          <p:nvPr/>
        </p:nvGraphicFramePr>
        <p:xfrm>
          <a:off x="457200" y="1783080"/>
          <a:ext cx="393192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526280" y="1783080"/>
          <a:ext cx="3931920" cy="301752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892040"/>
          <a:ext cx="8001000" cy="914400"/>
        </p:xfrm>
        <a:graphic>
          <a:graphicData uri="http://schemas.openxmlformats.org/drawingml/2006/table">
            <a:tbl>
              <a:tblPr/>
              <a:tblGrid>
                <a:gridCol w="2148840"/>
                <a:gridCol w="1463040"/>
                <a:gridCol w="1463040"/>
                <a:gridCol w="1463040"/>
                <a:gridCol w="1463040"/>
              </a:tblGrid>
              <a:tr h="265176">
                <a:tc>
                  <a:txBody>
                    <a:bodyPr/>
                    <a:lstStyle/>
                    <a:p>
                      <a:pPr algn="l" indent="0" marL="0">
                        <a:buNone/>
                      </a:pP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F7F7F"/>
                          </a:solidFill>
                          <a:latin typeface="Arial" pitchFamily="34" charset="0"/>
                          <a:ea typeface="Arial" pitchFamily="34" charset="-122"/>
                          <a:cs typeface="Arial" pitchFamily="34" charset="-120"/>
                        </a:rPr>
                        <a:t>HSBC</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F7F7F"/>
                          </a:solidFill>
                          <a:latin typeface="Arial" pitchFamily="34" charset="0"/>
                          <a:ea typeface="Arial" pitchFamily="34" charset="-122"/>
                          <a:cs typeface="Arial" pitchFamily="34" charset="-120"/>
                        </a:rPr>
                        <a:t>AIA</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F7F7F"/>
                          </a:solidFill>
                          <a:latin typeface="Arial" pitchFamily="34" charset="0"/>
                          <a:ea typeface="Arial" pitchFamily="34" charset="-122"/>
                          <a:cs typeface="Arial" pitchFamily="34" charset="-120"/>
                        </a:rPr>
                        <a:t>Pru</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7F7F7F"/>
                          </a:solidFill>
                          <a:latin typeface="Arial" pitchFamily="34" charset="0"/>
                          <a:ea typeface="Arial" pitchFamily="34" charset="-122"/>
                          <a:cs typeface="Arial" pitchFamily="34" charset="-120"/>
                        </a:rPr>
                        <a:t>Manulife</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PAS FTE</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b="1" dirty="0">
                          <a:solidFill>
                            <a:srgbClr val="C8102E"/>
                          </a:solidFill>
                          <a:latin typeface="Arial" pitchFamily="34" charset="0"/>
                          <a:ea typeface="Arial" pitchFamily="34" charset="-122"/>
                          <a:cs typeface="Arial" pitchFamily="34" charset="-120"/>
                        </a:rPr>
                        <a:t>66</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55–75</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50–60</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35–45</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r h="265176">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DWP 2024, USD bn</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b="1" dirty="0">
                          <a:solidFill>
                            <a:srgbClr val="C8102E"/>
                          </a:solidFill>
                          <a:latin typeface="Arial" pitchFamily="34" charset="0"/>
                          <a:ea typeface="Arial" pitchFamily="34" charset="-122"/>
                          <a:cs typeface="Arial" pitchFamily="34" charset="-120"/>
                        </a:rPr>
                        <a:t>12.2</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11.3</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8.8</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6.8</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r h="265176">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PAS labour ÷ DWP</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b="1" dirty="0">
                          <a:solidFill>
                            <a:srgbClr val="C8102E"/>
                          </a:solidFill>
                          <a:latin typeface="Arial" pitchFamily="34" charset="0"/>
                          <a:ea typeface="Arial" pitchFamily="34" charset="-122"/>
                          <a:cs typeface="Arial" pitchFamily="34" charset="-120"/>
                        </a:rPr>
                        <a:t>0.060%</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0.064%</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0.069%</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0.065%</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r h="265176">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Est. range, USD m</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b="1" dirty="0">
                          <a:solidFill>
                            <a:srgbClr val="C8102E"/>
                          </a:solidFill>
                          <a:latin typeface="Arial" pitchFamily="34" charset="0"/>
                          <a:ea typeface="Arial" pitchFamily="34" charset="-122"/>
                          <a:cs typeface="Arial" pitchFamily="34" charset="-120"/>
                        </a:rPr>
                        <a:t>7.3</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6.1–8.3</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5.5–6.6</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r" indent="0" marL="0">
                        <a:buNone/>
                      </a:pPr>
                      <a:r>
                        <a:rPr lang="en-US" sz="1000" dirty="0">
                          <a:solidFill>
                            <a:srgbClr val="222222"/>
                          </a:solidFill>
                          <a:latin typeface="Arial" pitchFamily="34" charset="0"/>
                          <a:ea typeface="Arial" pitchFamily="34" charset="-122"/>
                          <a:cs typeface="Arial" pitchFamily="34" charset="-120"/>
                        </a:rPr>
                        <a:t>3.9–5.0</a:t>
                      </a:r>
                      <a:endParaRPr lang="en-US" sz="10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bl>
          </a:graphicData>
        </a:graphic>
      </p:graphicFrame>
      <p:sp>
        <p:nvSpPr>
          <p:cNvPr id="8" name="Shape 3"/>
          <p:cNvSpPr/>
          <p:nvPr/>
        </p:nvSpPr>
        <p:spPr>
          <a:xfrm>
            <a:off x="8732520" y="1783080"/>
            <a:ext cx="2999232" cy="1417320"/>
          </a:xfrm>
          <a:prstGeom prst="rect">
            <a:avLst/>
          </a:prstGeom>
          <a:solidFill>
            <a:srgbClr val="EDEDED"/>
          </a:solidFill>
          <a:ln w="12700">
            <a:solidFill>
              <a:srgbClr val="EDEDED"/>
            </a:solidFill>
            <a:prstDash val="solid"/>
          </a:ln>
        </p:spPr>
      </p:sp>
      <p:sp>
        <p:nvSpPr>
          <p:cNvPr id="9" name="Text 4"/>
          <p:cNvSpPr txBox="1"/>
          <p:nvPr/>
        </p:nvSpPr>
        <p:spPr>
          <a:xfrm>
            <a:off x="8823960" y="1783080"/>
            <a:ext cx="2816352" cy="141732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Method (say it upfront)</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Peer cost = PAS FTE range × HSBC loaded labour cost (USD 111k per FTE). Directional, not reported.</a:t>
            </a:r>
            <a:endParaRPr lang="en-US" sz="1100" dirty="0"/>
          </a:p>
        </p:txBody>
      </p:sp>
      <p:sp>
        <p:nvSpPr>
          <p:cNvPr id="10" name="Shape 5"/>
          <p:cNvSpPr/>
          <p:nvPr/>
        </p:nvSpPr>
        <p:spPr>
          <a:xfrm>
            <a:off x="8732520" y="3337560"/>
            <a:ext cx="2999232" cy="1371600"/>
          </a:xfrm>
          <a:prstGeom prst="rect">
            <a:avLst/>
          </a:prstGeom>
          <a:solidFill>
            <a:srgbClr val="EDEDED"/>
          </a:solidFill>
          <a:ln w="12700">
            <a:solidFill>
              <a:srgbClr val="EDEDED"/>
            </a:solidFill>
            <a:prstDash val="solid"/>
          </a:ln>
        </p:spPr>
      </p:sp>
      <p:sp>
        <p:nvSpPr>
          <p:cNvPr id="11" name="Text 6"/>
          <p:cNvSpPr txBox="1"/>
          <p:nvPr/>
        </p:nvSpPr>
        <p:spPr>
          <a:xfrm>
            <a:off x="8823960" y="3337560"/>
            <a:ext cx="2816352" cy="137160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Scale advantage</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L400 serves USD 12.2bn of premium, more than any single peer, with a similar-sized team.</a:t>
            </a:r>
            <a:endParaRPr lang="en-US" sz="1100" dirty="0"/>
          </a:p>
        </p:txBody>
      </p:sp>
      <p:sp>
        <p:nvSpPr>
          <p:cNvPr id="12" name="Shape 7"/>
          <p:cNvSpPr/>
          <p:nvPr/>
        </p:nvSpPr>
        <p:spPr>
          <a:xfrm>
            <a:off x="8732520" y="4846320"/>
            <a:ext cx="2999232" cy="1371600"/>
          </a:xfrm>
          <a:prstGeom prst="rect">
            <a:avLst/>
          </a:prstGeom>
          <a:solidFill>
            <a:srgbClr val="C8102E"/>
          </a:solidFill>
          <a:ln w="12700">
            <a:solidFill>
              <a:srgbClr val="C8102E"/>
            </a:solidFill>
            <a:prstDash val="solid"/>
          </a:ln>
        </p:spPr>
      </p:sp>
      <p:sp>
        <p:nvSpPr>
          <p:cNvPr id="13" name="Text 8"/>
          <p:cNvSpPr txBox="1"/>
          <p:nvPr/>
        </p:nvSpPr>
        <p:spPr>
          <a:xfrm>
            <a:off x="8823960" y="4846320"/>
            <a:ext cx="2816352" cy="1371600"/>
          </a:xfrm>
          <a:prstGeom prst="rect">
            <a:avLst/>
          </a:prstGeom>
          <a:noFill/>
          <a:ln/>
        </p:spPr>
        <p:txBody>
          <a:bodyPr wrap="square" lIns="635" tIns="635" rIns="635" bIns="635" rtlCol="0" anchor="ctr"/>
          <a:lstStyle/>
          <a:p>
            <a:pPr indent="0" marL="0">
              <a:buNone/>
            </a:pPr>
            <a:r>
              <a:rPr lang="en-US" sz="1100" b="1" dirty="0">
                <a:solidFill>
                  <a:srgbClr val="FFFFFF"/>
                </a:solidFill>
                <a:latin typeface="Arial" pitchFamily="34" charset="0"/>
                <a:ea typeface="Arial" pitchFamily="34" charset="-122"/>
                <a:cs typeface="Arial" pitchFamily="34" charset="-120"/>
              </a:rPr>
              <a:t>Watch-out</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FTE 66 → 85 drops premium per FTE from 185 to 144, below every peer. Growth should come from automation.</a:t>
            </a:r>
            <a:endParaRPr lang="en-US" sz="1100" dirty="0"/>
          </a:p>
        </p:txBody>
      </p:sp>
      <p:sp>
        <p:nvSpPr>
          <p:cNvPr id="14" name="Text 9"/>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HSBC FTE = L400 IT FTE; peer PAS FTE = competitor PAS metric range midpoints. Estimates assume peer cost per FTE ≈ HSBC.</a:t>
            </a:r>
            <a:endParaRPr lang="en-US" sz="850" dirty="0"/>
          </a:p>
        </p:txBody>
      </p:sp>
      <p:sp>
        <p:nvSpPr>
          <p:cNvPr id="15" name="Text 10"/>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07 </a:t>
            </a:r>
            <a:pPr indent="0" marL="0">
              <a:buNone/>
            </a:pPr>
            <a:r>
              <a:rPr lang="en-US" sz="1300" dirty="0">
                <a:solidFill>
                  <a:srgbClr val="C8102E"/>
                </a:solidFill>
                <a:latin typeface="Arial" pitchFamily="34" charset="0"/>
                <a:ea typeface="Arial" pitchFamily="34" charset="-122"/>
                <a:cs typeface="Arial" pitchFamily="34" charset="-120"/>
              </a:rPr>
              <a:t>| PAS Deep Dive – Cost Drivers &amp; Trend</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Run cost per policy is rising, because cloud is added on top of infrastructure</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In LE26, run cost per policy rises 12% while the book grows 4%. Cloud goes from USD 10k to 178k, but infrastructure still grows 18%, so the old estate isn't being retired yet. Change spend is moving from the DXC SOW to development done internally and by contractors.</a:t>
            </a:r>
            <a:endParaRPr lang="en-US" sz="1250" dirty="0"/>
          </a:p>
        </p:txBody>
      </p:sp>
      <p:graphicFrame>
        <p:nvGraphicFramePr>
          <p:cNvPr id="5" name="Chart 0" descr=""/>
          <p:cNvGraphicFramePr/>
          <p:nvPr/>
        </p:nvGraphicFramePr>
        <p:xfrm>
          <a:off x="457200" y="1783080"/>
          <a:ext cx="5669280" cy="4434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6217920"/>
            <a:ext cx="5669280" cy="182880"/>
          </a:xfrm>
          <a:prstGeom prst="rect">
            <a:avLst/>
          </a:prstGeom>
          <a:noFill/>
          <a:ln/>
        </p:spPr>
        <p:txBody>
          <a:bodyPr wrap="square" lIns="0" tIns="0" rIns="0" bIns="0" rtlCol="0" anchor="ctr"/>
          <a:lstStyle/>
          <a:p>
            <a:pPr indent="0" marL="0">
              <a:buNone/>
            </a:pPr>
            <a:r>
              <a:rPr lang="en-US" sz="850" i="1" dirty="0">
                <a:solidFill>
                  <a:srgbClr val="7F7F7F"/>
                </a:solidFill>
                <a:latin typeface="Arial" pitchFamily="34" charset="0"/>
                <a:ea typeface="Arial" pitchFamily="34" charset="-122"/>
                <a:cs typeface="Arial" pitchFamily="34" charset="-120"/>
              </a:rPr>
              <a:t>Cloud +1,680% is off a USD 10k base and runs past the axis.</a:t>
            </a:r>
            <a:endParaRPr lang="en-US" sz="850" dirty="0"/>
          </a:p>
        </p:txBody>
      </p:sp>
      <p:sp>
        <p:nvSpPr>
          <p:cNvPr id="7" name="Shape 4"/>
          <p:cNvSpPr/>
          <p:nvPr/>
        </p:nvSpPr>
        <p:spPr>
          <a:xfrm>
            <a:off x="6492240" y="1783080"/>
            <a:ext cx="5239512" cy="347472"/>
          </a:xfrm>
          <a:prstGeom prst="rect">
            <a:avLst/>
          </a:prstGeom>
          <a:solidFill>
            <a:srgbClr val="C8102E"/>
          </a:solidFill>
          <a:ln w="12700">
            <a:solidFill>
              <a:srgbClr val="C8102E"/>
            </a:solidFill>
            <a:prstDash val="solid"/>
          </a:ln>
        </p:spPr>
      </p:sp>
      <p:sp>
        <p:nvSpPr>
          <p:cNvPr id="8" name="Text 5"/>
          <p:cNvSpPr txBox="1"/>
          <p:nvPr/>
        </p:nvSpPr>
        <p:spPr>
          <a:xfrm>
            <a:off x="6583680" y="1783080"/>
            <a:ext cx="505663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Unit-cost trend, FY25 → LE26</a:t>
            </a:r>
            <a:endParaRPr lang="en-US" sz="1200" dirty="0"/>
          </a:p>
        </p:txBody>
      </p:sp>
      <p:sp>
        <p:nvSpPr>
          <p:cNvPr id="9" name="Text 6"/>
          <p:cNvSpPr txBox="1"/>
          <p:nvPr/>
        </p:nvSpPr>
        <p:spPr>
          <a:xfrm>
            <a:off x="6537960" y="2240280"/>
            <a:ext cx="252831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3.4 → 3.8</a:t>
            </a:r>
            <a:endParaRPr lang="en-US" sz="3000" dirty="0"/>
          </a:p>
        </p:txBody>
      </p:sp>
      <p:sp>
        <p:nvSpPr>
          <p:cNvPr id="10" name="Text 7"/>
          <p:cNvSpPr txBox="1"/>
          <p:nvPr/>
        </p:nvSpPr>
        <p:spPr>
          <a:xfrm>
            <a:off x="6537960" y="2807208"/>
            <a:ext cx="252831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Run cost per in-force policy (USD)</a:t>
            </a:r>
            <a:endParaRPr lang="en-US" sz="1050" dirty="0"/>
          </a:p>
        </p:txBody>
      </p:sp>
      <p:sp>
        <p:nvSpPr>
          <p:cNvPr id="11" name="Text 8"/>
          <p:cNvSpPr txBox="1"/>
          <p:nvPr/>
        </p:nvSpPr>
        <p:spPr>
          <a:xfrm>
            <a:off x="9249156" y="2240280"/>
            <a:ext cx="252831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306k → 363k</a:t>
            </a:r>
            <a:endParaRPr lang="en-US" sz="3000" dirty="0"/>
          </a:p>
        </p:txBody>
      </p:sp>
      <p:sp>
        <p:nvSpPr>
          <p:cNvPr id="12" name="Text 9"/>
          <p:cNvSpPr txBox="1"/>
          <p:nvPr/>
        </p:nvSpPr>
        <p:spPr>
          <a:xfrm>
            <a:off x="9249156" y="2807208"/>
            <a:ext cx="252831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Change spend per product (USD); 24 → 23 products</a:t>
            </a:r>
            <a:endParaRPr lang="en-US" sz="1050" dirty="0"/>
          </a:p>
        </p:txBody>
      </p:sp>
      <p:sp>
        <p:nvSpPr>
          <p:cNvPr id="13" name="Shape 10"/>
          <p:cNvSpPr/>
          <p:nvPr/>
        </p:nvSpPr>
        <p:spPr>
          <a:xfrm>
            <a:off x="6492240" y="3474720"/>
            <a:ext cx="2528316" cy="1325880"/>
          </a:xfrm>
          <a:prstGeom prst="rect">
            <a:avLst/>
          </a:prstGeom>
          <a:solidFill>
            <a:srgbClr val="EDEDED"/>
          </a:solidFill>
          <a:ln w="12700">
            <a:solidFill>
              <a:srgbClr val="EDEDED"/>
            </a:solidFill>
            <a:prstDash val="solid"/>
          </a:ln>
        </p:spPr>
      </p:sp>
      <p:sp>
        <p:nvSpPr>
          <p:cNvPr id="14" name="Text 11"/>
          <p:cNvSpPr txBox="1"/>
          <p:nvPr/>
        </p:nvSpPr>
        <p:spPr>
          <a:xfrm>
            <a:off x="6583680" y="3474720"/>
            <a:ext cx="2345436" cy="132588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Dual running</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Cloud is added while infrastructure still grows. The saving only comes when on-premise capacity is retired.</a:t>
            </a:r>
            <a:endParaRPr lang="en-US" sz="1100" dirty="0"/>
          </a:p>
        </p:txBody>
      </p:sp>
      <p:sp>
        <p:nvSpPr>
          <p:cNvPr id="15" name="Shape 12"/>
          <p:cNvSpPr/>
          <p:nvPr/>
        </p:nvSpPr>
        <p:spPr>
          <a:xfrm>
            <a:off x="9203436" y="3474720"/>
            <a:ext cx="2528316" cy="1325880"/>
          </a:xfrm>
          <a:prstGeom prst="rect">
            <a:avLst/>
          </a:prstGeom>
          <a:solidFill>
            <a:srgbClr val="EDEDED"/>
          </a:solidFill>
          <a:ln w="12700">
            <a:solidFill>
              <a:srgbClr val="EDEDED"/>
            </a:solidFill>
            <a:prstDash val="solid"/>
          </a:ln>
        </p:spPr>
      </p:sp>
      <p:sp>
        <p:nvSpPr>
          <p:cNvPr id="16" name="Text 13"/>
          <p:cNvSpPr txBox="1"/>
          <p:nvPr/>
        </p:nvSpPr>
        <p:spPr>
          <a:xfrm>
            <a:off x="9294876" y="3474720"/>
            <a:ext cx="2345436" cy="1325880"/>
          </a:xfrm>
          <a:prstGeom prst="rect">
            <a:avLst/>
          </a:prstGeom>
          <a:noFill/>
          <a:ln/>
        </p:spPr>
        <p:txBody>
          <a:bodyPr wrap="square" lIns="635" tIns="635" rIns="635" bIns="635" rtlCol="0" anchor="ctr"/>
          <a:lstStyle/>
          <a:p>
            <a:pPr indent="0" marL="0">
              <a:buNone/>
            </a:pPr>
            <a:r>
              <a:rPr lang="en-US" sz="1100" b="1" dirty="0">
                <a:solidFill>
                  <a:srgbClr val="C8102E"/>
                </a:solidFill>
                <a:latin typeface="Arial" pitchFamily="34" charset="0"/>
                <a:ea typeface="Arial" pitchFamily="34" charset="-122"/>
                <a:cs typeface="Arial" pitchFamily="34" charset="-120"/>
              </a:rPr>
              <a:t>Sourcing shift</a:t>
            </a:r>
            <a:endParaRPr lang="en-US" sz="1100" dirty="0"/>
          </a:p>
          <a:p>
            <a:pPr indent="0" marL="0">
              <a:buNone/>
            </a:pPr>
            <a:r>
              <a:rPr lang="en-US" sz="1100" dirty="0">
                <a:solidFill>
                  <a:srgbClr val="222222"/>
                </a:solidFill>
                <a:latin typeface="Arial" pitchFamily="34" charset="0"/>
                <a:ea typeface="Arial" pitchFamily="34" charset="-122"/>
                <a:cs typeface="Arial" pitchFamily="34" charset="-120"/>
              </a:rPr>
              <a:t>The DXC SOW falls 18%, but contractors keep total external labour rising 11%.</a:t>
            </a:r>
            <a:endParaRPr lang="en-US" sz="1100" dirty="0"/>
          </a:p>
        </p:txBody>
      </p:sp>
      <p:sp>
        <p:nvSpPr>
          <p:cNvPr id="17" name="Shape 14"/>
          <p:cNvSpPr/>
          <p:nvPr/>
        </p:nvSpPr>
        <p:spPr>
          <a:xfrm>
            <a:off x="6492240" y="4937760"/>
            <a:ext cx="5239512" cy="1280160"/>
          </a:xfrm>
          <a:prstGeom prst="rect">
            <a:avLst/>
          </a:prstGeom>
          <a:solidFill>
            <a:srgbClr val="C8102E"/>
          </a:solidFill>
          <a:ln w="12700">
            <a:solidFill>
              <a:srgbClr val="C8102E"/>
            </a:solidFill>
            <a:prstDash val="solid"/>
          </a:ln>
        </p:spPr>
      </p:sp>
      <p:sp>
        <p:nvSpPr>
          <p:cNvPr id="18" name="Text 15"/>
          <p:cNvSpPr txBox="1"/>
          <p:nvPr/>
        </p:nvSpPr>
        <p:spPr>
          <a:xfrm>
            <a:off x="6583680" y="4937760"/>
            <a:ext cx="5056632" cy="1280160"/>
          </a:xfrm>
          <a:prstGeom prst="rect">
            <a:avLst/>
          </a:prstGeom>
          <a:noFill/>
          <a:ln/>
        </p:spPr>
        <p:txBody>
          <a:bodyPr wrap="square" lIns="635" tIns="635" rIns="635" bIns="635" rtlCol="0" anchor="ctr"/>
          <a:lstStyle/>
          <a:p>
            <a:pPr algn="l" indent="0" marL="0">
              <a:buNone/>
            </a:pPr>
            <a:r>
              <a:rPr lang="en-US" sz="1150" b="1" dirty="0">
                <a:solidFill>
                  <a:srgbClr val="FFFFFF"/>
                </a:solidFill>
                <a:latin typeface="Arial" pitchFamily="34" charset="0"/>
                <a:ea typeface="Arial" pitchFamily="34" charset="-122"/>
                <a:cs typeface="Arial" pitchFamily="34" charset="-120"/>
              </a:rPr>
              <a:t>Implication: set a decommissioning target for each cloud step, and an in-sourcing target, so modernisation lowers run cost per policy instead of adding to it.</a:t>
            </a:r>
            <a:endParaRPr lang="en-US" sz="1150" dirty="0"/>
          </a:p>
        </p:txBody>
      </p:sp>
      <p:sp>
        <p:nvSpPr>
          <p:cNvPr id="19" name="Text 16"/>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Method 1 cost table for DXC SOW and in-house development; labour view for internal/external labour.</a:t>
            </a:r>
            <a:endParaRPr lang="en-US" sz="850" dirty="0"/>
          </a:p>
        </p:txBody>
      </p:sp>
      <p:sp>
        <p:nvSpPr>
          <p:cNvPr id="20" name="Text 17"/>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08 </a:t>
            </a:r>
            <a:pPr indent="0" marL="0">
              <a:buNone/>
            </a:pPr>
            <a:r>
              <a:rPr lang="en-US" sz="1300" dirty="0">
                <a:solidFill>
                  <a:srgbClr val="C8102E"/>
                </a:solidFill>
                <a:latin typeface="Arial" pitchFamily="34" charset="0"/>
                <a:ea typeface="Arial" pitchFamily="34" charset="-122"/>
                <a:cs typeface="Arial" pitchFamily="34" charset="-120"/>
              </a:rPr>
              <a:t>| PAS Deep Dive – Automation Headroom</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L400 already automates batch processing; the manual work sits in 323k cases</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99.5% of L400's 68.6m transactions are system-generated. The work people touch is the 323k servicing cases a year, and HSBC doesn't measure how many of those go straight through. Moving from Sun Life's 14% STP to the 30–70% market range takes 53k–182k cases out of manual handling.</a:t>
            </a:r>
            <a:endParaRPr lang="en-US" sz="1250" dirty="0"/>
          </a:p>
        </p:txBody>
      </p:sp>
      <p:graphicFrame>
        <p:nvGraphicFramePr>
          <p:cNvPr id="5" name="Chart 0" descr=""/>
          <p:cNvGraphicFramePr/>
          <p:nvPr/>
        </p:nvGraphicFramePr>
        <p:xfrm>
          <a:off x="457200" y="1783080"/>
          <a:ext cx="512064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57200" y="5760720"/>
            <a:ext cx="5120640" cy="457200"/>
          </a:xfrm>
          <a:prstGeom prst="rect">
            <a:avLst/>
          </a:prstGeom>
          <a:solidFill>
            <a:srgbClr val="8C8C8C"/>
          </a:solidFill>
          <a:ln w="12700">
            <a:solidFill>
              <a:srgbClr val="8C8C8C"/>
            </a:solidFill>
            <a:prstDash val="solid"/>
          </a:ln>
        </p:spPr>
      </p:sp>
      <p:sp>
        <p:nvSpPr>
          <p:cNvPr id="7" name="Text 4"/>
          <p:cNvSpPr txBox="1"/>
          <p:nvPr/>
        </p:nvSpPr>
        <p:spPr>
          <a:xfrm>
            <a:off x="548640" y="5760720"/>
            <a:ext cx="4937760" cy="457200"/>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Digital submissions +22% vs all submissions +3.7% in LE26.</a:t>
            </a:r>
            <a:endParaRPr lang="en-US" sz="1050" dirty="0"/>
          </a:p>
        </p:txBody>
      </p:sp>
      <p:sp>
        <p:nvSpPr>
          <p:cNvPr id="8" name="Shape 5"/>
          <p:cNvSpPr/>
          <p:nvPr/>
        </p:nvSpPr>
        <p:spPr>
          <a:xfrm>
            <a:off x="5852160" y="1783080"/>
            <a:ext cx="5879592" cy="347472"/>
          </a:xfrm>
          <a:prstGeom prst="rect">
            <a:avLst/>
          </a:prstGeom>
          <a:solidFill>
            <a:srgbClr val="C8102E"/>
          </a:solidFill>
          <a:ln w="12700">
            <a:solidFill>
              <a:srgbClr val="C8102E"/>
            </a:solidFill>
            <a:prstDash val="solid"/>
          </a:ln>
        </p:spPr>
      </p:sp>
      <p:sp>
        <p:nvSpPr>
          <p:cNvPr id="9" name="Text 6"/>
          <p:cNvSpPr txBox="1"/>
          <p:nvPr/>
        </p:nvSpPr>
        <p:spPr>
          <a:xfrm>
            <a:off x="5943600" y="1783080"/>
            <a:ext cx="569671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PAS maturity indicators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52160" y="2240280"/>
          <a:ext cx="5879592" cy="914400"/>
        </p:xfrm>
        <a:graphic>
          <a:graphicData uri="http://schemas.openxmlformats.org/drawingml/2006/table">
            <a:tbl>
              <a:tblPr/>
              <a:tblGrid>
                <a:gridCol w="1874520"/>
                <a:gridCol w="1051560"/>
                <a:gridCol w="685800"/>
                <a:gridCol w="685800"/>
                <a:gridCol w="822960"/>
                <a:gridCol w="758952"/>
              </a:tblGrid>
              <a:tr h="384048">
                <a:tc>
                  <a:txBody>
                    <a:bodyPr/>
                    <a:lstStyle/>
                    <a:p>
                      <a:pPr algn="l" indent="0" marL="0">
                        <a:buNone/>
                      </a:pPr>
                      <a:r>
                        <a:rPr lang="en-US" sz="1000" b="1" dirty="0">
                          <a:solidFill>
                            <a:srgbClr val="7F7F7F"/>
                          </a:solidFill>
                          <a:latin typeface="Arial" pitchFamily="34" charset="0"/>
                          <a:ea typeface="Arial" pitchFamily="34" charset="-122"/>
                          <a:cs typeface="Arial" pitchFamily="34" charset="-120"/>
                        </a:rPr>
                        <a:t>Indicator</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F7F7F"/>
                          </a:solidFill>
                          <a:latin typeface="Arial" pitchFamily="34" charset="0"/>
                          <a:ea typeface="Arial" pitchFamily="34" charset="-122"/>
                          <a:cs typeface="Arial" pitchFamily="34" charset="-120"/>
                        </a:rPr>
                        <a:t>HSBC</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F7F7F"/>
                          </a:solidFill>
                          <a:latin typeface="Arial" pitchFamily="34" charset="0"/>
                          <a:ea typeface="Arial" pitchFamily="34" charset="-122"/>
                          <a:cs typeface="Arial" pitchFamily="34" charset="-120"/>
                        </a:rPr>
                        <a:t>AIA</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F7F7F"/>
                          </a:solidFill>
                          <a:latin typeface="Arial" pitchFamily="34" charset="0"/>
                          <a:ea typeface="Arial" pitchFamily="34" charset="-122"/>
                          <a:cs typeface="Arial" pitchFamily="34" charset="-120"/>
                        </a:rPr>
                        <a:t>Pru</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F7F7F"/>
                          </a:solidFill>
                          <a:latin typeface="Arial" pitchFamily="34" charset="0"/>
                          <a:ea typeface="Arial" pitchFamily="34" charset="-122"/>
                          <a:cs typeface="Arial" pitchFamily="34" charset="-120"/>
                        </a:rPr>
                        <a:t>Manulife</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F7F7F"/>
                          </a:solidFill>
                          <a:latin typeface="Arial" pitchFamily="34" charset="0"/>
                          <a:ea typeface="Arial" pitchFamily="34" charset="-122"/>
                          <a:cs typeface="Arial" pitchFamily="34" charset="-120"/>
                        </a:rPr>
                        <a:t>Market</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STP rate</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b="1" dirty="0">
                          <a:solidFill>
                            <a:srgbClr val="C8102E"/>
                          </a:solidFill>
                          <a:latin typeface="Arial" pitchFamily="34" charset="0"/>
                          <a:ea typeface="Arial" pitchFamily="34" charset="-122"/>
                          <a:cs typeface="Arial" pitchFamily="34" charset="-120"/>
                        </a:rPr>
                        <a:t>Not measured</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&gt;70%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&gt;50%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&gt;10%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30–70%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Digital submission rate</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b="1" dirty="0">
                          <a:solidFill>
                            <a:srgbClr val="C8102E"/>
                          </a:solidFill>
                          <a:latin typeface="Arial" pitchFamily="34" charset="0"/>
                          <a:ea typeface="Arial" pitchFamily="34" charset="-122"/>
                          <a:cs typeface="Arial" pitchFamily="34" charset="-120"/>
                        </a:rPr>
                        <a:t>19.6%</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30–70%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Digital services enabled</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b="1" dirty="0">
                          <a:solidFill>
                            <a:srgbClr val="C8102E"/>
                          </a:solidFill>
                          <a:latin typeface="Arial" pitchFamily="34" charset="0"/>
                          <a:ea typeface="Arial" pitchFamily="34" charset="-122"/>
                          <a:cs typeface="Arial" pitchFamily="34" charset="-120"/>
                        </a:rPr>
                        <a:t>Not measured</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&gt;80%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&gt;80%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&gt;50%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30–70%</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Cloud share (modernisation)</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b="1" dirty="0">
                          <a:solidFill>
                            <a:srgbClr val="C8102E"/>
                          </a:solidFill>
                          <a:latin typeface="Arial" pitchFamily="34" charset="0"/>
                          <a:ea typeface="Arial" pitchFamily="34" charset="-122"/>
                          <a:cs typeface="Arial" pitchFamily="34" charset="-120"/>
                        </a:rPr>
                        <a:t>1.6%*</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17%</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17%</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16%</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r h="384048">
                <a:tc>
                  <a:txBody>
                    <a:bodyPr/>
                    <a:lstStyle/>
                    <a:p>
                      <a:pPr algn="l" indent="0" marL="0">
                        <a:buNone/>
                      </a:pPr>
                      <a:r>
                        <a:rPr lang="en-US" sz="1000" dirty="0">
                          <a:solidFill>
                            <a:srgbClr val="222222"/>
                          </a:solidFill>
                          <a:latin typeface="Arial" pitchFamily="34" charset="0"/>
                          <a:ea typeface="Arial" pitchFamily="34" charset="-122"/>
                          <a:cs typeface="Arial" pitchFamily="34" charset="-120"/>
                        </a:rPr>
                        <a:t>PAS maturity</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b="1" dirty="0">
                          <a:solidFill>
                            <a:srgbClr val="C8102E"/>
                          </a:solidFill>
                          <a:latin typeface="Arial" pitchFamily="34" charset="0"/>
                          <a:ea typeface="Arial" pitchFamily="34" charset="-122"/>
                          <a:cs typeface="Arial" pitchFamily="34" charset="-120"/>
                        </a:rPr>
                        <a:t>Est. L1–2</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Level 3</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Level 2</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Level 2</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c>
                  <a:txBody>
                    <a:bodyPr/>
                    <a:lstStyle/>
                    <a:p>
                      <a:pPr algn="ctr" indent="0" marL="0">
                        <a:buNone/>
                      </a:pPr>
                      <a:r>
                        <a:rPr lang="en-US" sz="1000" dirty="0">
                          <a:solidFill>
                            <a:srgbClr val="222222"/>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DED"/>
                    </a:solidFill>
                  </a:tcPr>
                </a:tc>
              </a:tr>
            </a:tbl>
          </a:graphicData>
        </a:graphic>
      </p:graphicFrame>
      <p:sp>
        <p:nvSpPr>
          <p:cNvPr id="11" name="Text 7"/>
          <p:cNvSpPr txBox="1"/>
          <p:nvPr/>
        </p:nvSpPr>
        <p:spPr>
          <a:xfrm>
            <a:off x="5852160" y="4572000"/>
            <a:ext cx="5879592" cy="320040"/>
          </a:xfrm>
          <a:prstGeom prst="rect">
            <a:avLst/>
          </a:prstGeom>
          <a:noFill/>
          <a:ln/>
        </p:spPr>
        <p:txBody>
          <a:bodyPr wrap="square" lIns="0" tIns="0" rIns="0" bIns="0" rtlCol="0" anchor="ctr"/>
          <a:lstStyle/>
          <a:p>
            <a:pPr indent="0" marL="0">
              <a:buNone/>
            </a:pPr>
            <a:r>
              <a:rPr lang="en-US" sz="850" i="1" dirty="0">
                <a:solidFill>
                  <a:srgbClr val="7F7F7F"/>
                </a:solidFill>
                <a:latin typeface="Arial" pitchFamily="34" charset="0"/>
                <a:ea typeface="Arial" pitchFamily="34" charset="-122"/>
                <a:cs typeface="Arial" pitchFamily="34" charset="-120"/>
              </a:rPr>
              <a:t>*HSBC = cloud share of L400 cost, LE26. HSBC maturity is an indicative team view, to be validated.</a:t>
            </a:r>
            <a:endParaRPr lang="en-US" sz="850" dirty="0"/>
          </a:p>
        </p:txBody>
      </p:sp>
      <p:sp>
        <p:nvSpPr>
          <p:cNvPr id="12" name="Shape 8"/>
          <p:cNvSpPr/>
          <p:nvPr/>
        </p:nvSpPr>
        <p:spPr>
          <a:xfrm>
            <a:off x="5852160" y="5029200"/>
            <a:ext cx="5879592" cy="1188720"/>
          </a:xfrm>
          <a:prstGeom prst="rect">
            <a:avLst/>
          </a:prstGeom>
          <a:solidFill>
            <a:srgbClr val="C8102E"/>
          </a:solidFill>
          <a:ln w="12700">
            <a:solidFill>
              <a:srgbClr val="C8102E"/>
            </a:solidFill>
            <a:prstDash val="solid"/>
          </a:ln>
        </p:spPr>
      </p:sp>
      <p:sp>
        <p:nvSpPr>
          <p:cNvPr id="13" name="Text 9"/>
          <p:cNvSpPr txBox="1"/>
          <p:nvPr/>
        </p:nvSpPr>
        <p:spPr>
          <a:xfrm>
            <a:off x="5943600" y="5029200"/>
            <a:ext cx="5696712" cy="1188720"/>
          </a:xfrm>
          <a:prstGeom prst="rect">
            <a:avLst/>
          </a:prstGeom>
          <a:noFill/>
          <a:ln/>
        </p:spPr>
        <p:txBody>
          <a:bodyPr wrap="square" lIns="635" tIns="635" rIns="635" bIns="635" rtlCol="0" anchor="ctr"/>
          <a:lstStyle/>
          <a:p>
            <a:pPr algn="l" indent="0" marL="0">
              <a:buNone/>
            </a:pPr>
            <a:r>
              <a:rPr lang="en-US" sz="1150" b="1" dirty="0">
                <a:solidFill>
                  <a:srgbClr val="FFFFFF"/>
                </a:solidFill>
                <a:latin typeface="Arial" pitchFamily="34" charset="0"/>
                <a:ea typeface="Arial" pitchFamily="34" charset="-122"/>
                <a:cs typeface="Arial" pitchFamily="34" charset="-120"/>
              </a:rPr>
              <a:t>Implication: tag each of the 323k cases as automatic or manual, by case type and segment. That gives the STP baseline and shows which journeys to automate first.</a:t>
            </a:r>
            <a:endParaRPr lang="en-US" sz="1150" dirty="0"/>
          </a:p>
        </p:txBody>
      </p:sp>
      <p:sp>
        <p:nvSpPr>
          <p:cNvPr id="14" name="Text 10"/>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STP scenarios apply rates to FY25 servicing cases (323,274). Peer figures are lower bounds from competitor PAS reference.</a:t>
            </a:r>
            <a:endParaRPr lang="en-US" sz="850" dirty="0"/>
          </a:p>
        </p:txBody>
      </p:sp>
      <p:sp>
        <p:nvSpPr>
          <p:cNvPr id="15" name="Text 11"/>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09 </a:t>
            </a:r>
            <a:pPr indent="0" marL="0">
              <a:buNone/>
            </a:pPr>
            <a:r>
              <a:rPr lang="en-US" sz="1300" dirty="0">
                <a:solidFill>
                  <a:srgbClr val="C8102E"/>
                </a:solidFill>
                <a:latin typeface="Arial" pitchFamily="34" charset="0"/>
                <a:ea typeface="Arial" pitchFamily="34" charset="-122"/>
                <a:cs typeface="Arial" pitchFamily="34" charset="-120"/>
              </a:rPr>
              <a:t>| PAS Benchmark KPI Set</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Nine PAS KPIs to benchmark now and track through Option 3+</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Every KPI has an HSBC value today, a comparator we can defend, and a direction under Option 3+. Blanks show where HSBC needs to start measuring. These become the scorecard for each modernisation step.</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240280"/>
                <a:gridCol w="2514600"/>
                <a:gridCol w="1234440"/>
                <a:gridCol w="2103120"/>
                <a:gridCol w="1645920"/>
                <a:gridCol w="1536192"/>
              </a:tblGrid>
              <a:tr h="429768">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KPI</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8102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Definition</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8102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HSBC FY25</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8102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Best comparator</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8102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Option 3+ direction</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8102E"/>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Lens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8102E"/>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Run cost per in-force policy</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L400 RTB ÷ in-force policies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USD 3.4</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Sun Life USD 2.1</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Down to ~2.5</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Technology</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Run cost per servicing case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L400 RTB ÷ servicing cases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USD 7.9</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Sun Life USD 4.7</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Down</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Technology</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Servicing intensity</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Cases per 1,000 policies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434</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Sun Life 443</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Track by segment</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HNW vs mass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STP rate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Auto cases ÷ servicing cases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Not measured</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Market 30–70%</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Baseline, then up</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Technology</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Digital submission rate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Digital ÷ total submissions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16.7%</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Market 30–70%</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Up</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Business value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Premium per PAS FTE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DWP ÷ PAS FTE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USD 185m</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Peers USD 160–174m</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Hold ≥ peers</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Business value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PAS labour ÷ premium</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PAS labour ÷ DWP</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0.060%</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Peers ~0.064–0.069% (est.)</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Hold</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Business value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External labour share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External labour ÷ L400 cost</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39%</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Peers 15–26%</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Down</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Resilience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7F7F7"/>
                    </a:solidFill>
                  </a:tcPr>
                </a:tc>
              </a:tr>
              <a:tr h="429768">
                <a:tc>
                  <a:txBody>
                    <a:bodyPr/>
                    <a:lstStyle/>
                    <a:p>
                      <a:pPr algn="l" indent="0" marL="0">
                        <a:buNone/>
                      </a:pPr>
                      <a:r>
                        <a:rPr lang="en-US" sz="1050" b="1" dirty="0">
                          <a:solidFill>
                            <a:srgbClr val="222222"/>
                          </a:solidFill>
                          <a:latin typeface="Arial" pitchFamily="34" charset="0"/>
                          <a:ea typeface="Arial" pitchFamily="34" charset="-122"/>
                          <a:cs typeface="Arial" pitchFamily="34" charset="-120"/>
                        </a:rPr>
                        <a:t>Cloud share / infra retired</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Cloud ÷ L400; infra decommissioned</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C8102E"/>
                          </a:solidFill>
                          <a:latin typeface="Arial" pitchFamily="34" charset="0"/>
                          <a:ea typeface="Arial" pitchFamily="34" charset="-122"/>
                          <a:cs typeface="Arial" pitchFamily="34" charset="-120"/>
                        </a:rPr>
                        <a:t>0.1%</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Peers 16–17%</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Up, with infra down</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c>
                  <a:txBody>
                    <a:bodyPr/>
                    <a:lstStyle/>
                    <a:p>
                      <a:pPr algn="l" indent="0" marL="0">
                        <a:buNone/>
                      </a:pPr>
                      <a:r>
                        <a:rPr lang="en-US" sz="1050" dirty="0">
                          <a:solidFill>
                            <a:srgbClr val="222222"/>
                          </a:solidFill>
                          <a:latin typeface="Arial" pitchFamily="34" charset="0"/>
                          <a:ea typeface="Arial" pitchFamily="34" charset="-122"/>
                          <a:cs typeface="Arial" pitchFamily="34" charset="-120"/>
                        </a:rPr>
                        <a:t>Resilience</a:t>
                      </a:r>
                      <a:endParaRPr lang="en-US" sz="105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DEDED"/>
                    </a:solidFill>
                  </a:tcPr>
                </a:tc>
              </a:tr>
            </a:tbl>
          </a:graphicData>
        </a:graphic>
      </p:graphicFrame>
      <p:sp>
        <p:nvSpPr>
          <p:cNvPr id="6" name="Text 3"/>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Peer labour ÷ premium is an outside-in estimate (slide 6). Sun Life cost basis is PAS operations cost.</a:t>
            </a:r>
            <a:endParaRPr lang="en-US" sz="850" dirty="0"/>
          </a:p>
        </p:txBody>
      </p:sp>
      <p:sp>
        <p:nvSpPr>
          <p:cNvPr id="7" name="Text 4"/>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10 </a:t>
            </a:r>
            <a:pPr indent="0" marL="0">
              <a:buNone/>
            </a:pPr>
            <a:r>
              <a:rPr lang="en-US" sz="1300" dirty="0">
                <a:solidFill>
                  <a:srgbClr val="C8102E"/>
                </a:solidFill>
                <a:latin typeface="Arial" pitchFamily="34" charset="0"/>
                <a:ea typeface="Arial" pitchFamily="34" charset="-122"/>
                <a:cs typeface="Arial" pitchFamily="34" charset="-120"/>
              </a:rPr>
              <a:t>| Linking Cost to Business Outcome</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Premium is outgrowing L400 cost but not L400 headcount</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Business growth is value-led: new business premium +33% while policies grow 3.9%. L400 cost grows slower than premium, which is healthy. Headcount grows faster, which is not. Growth has to scale through automation rather than people.</a:t>
            </a:r>
            <a:endParaRPr lang="en-US" sz="1250" dirty="0"/>
          </a:p>
        </p:txBody>
      </p:sp>
      <p:graphicFrame>
        <p:nvGraphicFramePr>
          <p:cNvPr id="5" name="Chart 0" descr=""/>
          <p:cNvGraphicFramePr/>
          <p:nvPr/>
        </p:nvGraphicFramePr>
        <p:xfrm>
          <a:off x="457200" y="1783080"/>
          <a:ext cx="6035040" cy="4434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1783080"/>
            <a:ext cx="4873752" cy="347472"/>
          </a:xfrm>
          <a:prstGeom prst="rect">
            <a:avLst/>
          </a:prstGeom>
          <a:solidFill>
            <a:srgbClr val="C8102E"/>
          </a:solidFill>
          <a:ln w="12700">
            <a:solidFill>
              <a:srgbClr val="C8102E"/>
            </a:solidFill>
            <a:prstDash val="solid"/>
          </a:ln>
        </p:spPr>
      </p:sp>
      <p:sp>
        <p:nvSpPr>
          <p:cNvPr id="7" name="Text 4"/>
          <p:cNvSpPr txBox="1"/>
          <p:nvPr/>
        </p:nvSpPr>
        <p:spPr>
          <a:xfrm>
            <a:off x="6949440" y="1783080"/>
            <a:ext cx="469087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Jaws: premium growth minus cost growth</a:t>
            </a:r>
            <a:endParaRPr lang="en-US" sz="1200" dirty="0"/>
          </a:p>
        </p:txBody>
      </p:sp>
      <p:sp>
        <p:nvSpPr>
          <p:cNvPr id="8" name="Text 5"/>
          <p:cNvSpPr txBox="1"/>
          <p:nvPr/>
        </p:nvSpPr>
        <p:spPr>
          <a:xfrm>
            <a:off x="6903720" y="2240280"/>
            <a:ext cx="2345436" cy="548640"/>
          </a:xfrm>
          <a:prstGeom prst="rect">
            <a:avLst/>
          </a:prstGeom>
          <a:noFill/>
          <a:ln/>
        </p:spPr>
        <p:txBody>
          <a:bodyPr wrap="square" lIns="0" tIns="0" rIns="0" bIns="0" rtlCol="0" anchor="ctr"/>
          <a:lstStyle/>
          <a:p>
            <a:pPr indent="0" marL="0">
              <a:buNone/>
            </a:pPr>
            <a:r>
              <a:rPr lang="en-US" sz="3000" b="1" dirty="0">
                <a:solidFill>
                  <a:srgbClr val="C8102E"/>
                </a:solidFill>
                <a:latin typeface="Arial" pitchFamily="34" charset="0"/>
                <a:ea typeface="Arial" pitchFamily="34" charset="-122"/>
                <a:cs typeface="Arial" pitchFamily="34" charset="-120"/>
              </a:rPr>
              <a:t>+7.6pp</a:t>
            </a:r>
            <a:endParaRPr lang="en-US" sz="3000" dirty="0"/>
          </a:p>
        </p:txBody>
      </p:sp>
      <p:sp>
        <p:nvSpPr>
          <p:cNvPr id="9" name="Text 6"/>
          <p:cNvSpPr txBox="1"/>
          <p:nvPr/>
        </p:nvSpPr>
        <p:spPr>
          <a:xfrm>
            <a:off x="6903720" y="2807208"/>
            <a:ext cx="234543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Premium vs L400 cost: platform cost scales well</a:t>
            </a:r>
            <a:endParaRPr lang="en-US" sz="1050" dirty="0"/>
          </a:p>
        </p:txBody>
      </p:sp>
      <p:sp>
        <p:nvSpPr>
          <p:cNvPr id="10" name="Text 7"/>
          <p:cNvSpPr txBox="1"/>
          <p:nvPr/>
        </p:nvSpPr>
        <p:spPr>
          <a:xfrm>
            <a:off x="9432036" y="2240280"/>
            <a:ext cx="2345436" cy="548640"/>
          </a:xfrm>
          <a:prstGeom prst="rect">
            <a:avLst/>
          </a:prstGeom>
          <a:noFill/>
          <a:ln/>
        </p:spPr>
        <p:txBody>
          <a:bodyPr wrap="square" lIns="0" tIns="0" rIns="0" bIns="0" rtlCol="0" anchor="ctr"/>
          <a:lstStyle/>
          <a:p>
            <a:pPr indent="0" marL="0">
              <a:buNone/>
            </a:pPr>
            <a:r>
              <a:rPr lang="en-US" sz="3000" b="1" dirty="0">
                <a:solidFill>
                  <a:srgbClr val="404040"/>
                </a:solidFill>
                <a:latin typeface="Arial" pitchFamily="34" charset="0"/>
                <a:ea typeface="Arial" pitchFamily="34" charset="-122"/>
                <a:cs typeface="Arial" pitchFamily="34" charset="-120"/>
              </a:rPr>
              <a:t>−6.9pp</a:t>
            </a:r>
            <a:endParaRPr lang="en-US" sz="3000" dirty="0"/>
          </a:p>
        </p:txBody>
      </p:sp>
      <p:sp>
        <p:nvSpPr>
          <p:cNvPr id="11" name="Text 8"/>
          <p:cNvSpPr txBox="1"/>
          <p:nvPr/>
        </p:nvSpPr>
        <p:spPr>
          <a:xfrm>
            <a:off x="9432036" y="2807208"/>
            <a:ext cx="2345436" cy="502920"/>
          </a:xfrm>
          <a:prstGeom prst="rect">
            <a:avLst/>
          </a:prstGeom>
          <a:noFill/>
          <a:ln/>
        </p:spPr>
        <p:txBody>
          <a:bodyPr wrap="square" lIns="0" tIns="0" rIns="0" bIns="0" rtlCol="0" anchor="t"/>
          <a:lstStyle/>
          <a:p>
            <a:pPr indent="0" marL="0">
              <a:buNone/>
            </a:pPr>
            <a:r>
              <a:rPr lang="en-US" sz="1050" dirty="0">
                <a:solidFill>
                  <a:srgbClr val="222222"/>
                </a:solidFill>
                <a:latin typeface="Arial" pitchFamily="34" charset="0"/>
                <a:ea typeface="Arial" pitchFamily="34" charset="-122"/>
                <a:cs typeface="Arial" pitchFamily="34" charset="-120"/>
              </a:rPr>
              <a:t>Premium vs L400 FTE: headcount outpaces premium</a:t>
            </a:r>
            <a:endParaRPr lang="en-US" sz="1050" dirty="0"/>
          </a:p>
        </p:txBody>
      </p:sp>
      <p:sp>
        <p:nvSpPr>
          <p:cNvPr id="12" name="Shape 9"/>
          <p:cNvSpPr/>
          <p:nvPr/>
        </p:nvSpPr>
        <p:spPr>
          <a:xfrm>
            <a:off x="6858000" y="3474720"/>
            <a:ext cx="4873752" cy="347472"/>
          </a:xfrm>
          <a:prstGeom prst="rect">
            <a:avLst/>
          </a:prstGeom>
          <a:solidFill>
            <a:srgbClr val="C8102E"/>
          </a:solidFill>
          <a:ln w="12700">
            <a:solidFill>
              <a:srgbClr val="C8102E"/>
            </a:solidFill>
            <a:prstDash val="solid"/>
          </a:ln>
        </p:spPr>
      </p:sp>
      <p:sp>
        <p:nvSpPr>
          <p:cNvPr id="13" name="Text 10"/>
          <p:cNvSpPr txBox="1"/>
          <p:nvPr/>
        </p:nvSpPr>
        <p:spPr>
          <a:xfrm>
            <a:off x="6949440" y="3474720"/>
            <a:ext cx="469087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Where cost should follow value</a:t>
            </a:r>
            <a:endParaRPr lang="en-US" sz="1200" dirty="0"/>
          </a:p>
        </p:txBody>
      </p:sp>
      <p:sp>
        <p:nvSpPr>
          <p:cNvPr id="14" name="Text 11"/>
          <p:cNvSpPr txBox="1"/>
          <p:nvPr/>
        </p:nvSpPr>
        <p:spPr>
          <a:xfrm>
            <a:off x="6858000" y="3931920"/>
            <a:ext cx="4873752" cy="1325880"/>
          </a:xfrm>
          <a:prstGeom prst="rect">
            <a:avLst/>
          </a:prstGeom>
          <a:noFill/>
          <a:ln/>
        </p:spPr>
        <p:txBody>
          <a:bodyPr wrap="square" lIns="635" tIns="635" rIns="635" bIns="635" rtlCol="0" anchor="t"/>
          <a:lstStyle/>
          <a:p>
            <a:pPr marL="152400" indent="-152400">
              <a:spcAft>
                <a:spcPts val="1000"/>
              </a:spcAft>
              <a:buSzPct val="100000"/>
              <a:buChar char="•"/>
            </a:pPr>
            <a:r>
              <a:rPr lang="en-US" sz="1150" dirty="0">
                <a:solidFill>
                  <a:srgbClr val="222222"/>
                </a:solidFill>
                <a:latin typeface="Arial" pitchFamily="34" charset="0"/>
                <a:ea typeface="Arial" pitchFamily="34" charset="-122"/>
                <a:cs typeface="Arial" pitchFamily="34" charset="-120"/>
              </a:rPr>
              <a:t>HNW: premium per policy is high, so invest in capability and service quality.</a:t>
            </a:r>
            <a:endParaRPr lang="en-US" sz="1150" dirty="0"/>
          </a:p>
          <a:p>
            <a:pPr marL="152400" indent="-152400">
              <a:spcAft>
                <a:spcPts val="1000"/>
              </a:spcAft>
              <a:buSzPct val="100000"/>
              <a:buChar char="•"/>
            </a:pPr>
            <a:r>
              <a:rPr lang="en-US" sz="1150" dirty="0">
                <a:solidFill>
                  <a:srgbClr val="222222"/>
                </a:solidFill>
                <a:latin typeface="Arial" pitchFamily="34" charset="0"/>
                <a:ea typeface="Arial" pitchFamily="34" charset="-122"/>
                <a:cs typeface="Arial" pitchFamily="34" charset="-120"/>
              </a:rPr>
              <a:t>Mass market: volume is flat, so invest in digital and STP to cut cost to serve.</a:t>
            </a:r>
            <a:endParaRPr lang="en-US" sz="1150" dirty="0"/>
          </a:p>
          <a:p>
            <a:pPr marL="152400" indent="-152400">
              <a:spcAft>
                <a:spcPts val="1000"/>
              </a:spcAft>
              <a:buSzPct val="100000"/>
              <a:buChar char="•"/>
            </a:pPr>
            <a:r>
              <a:rPr lang="en-US" sz="1150" dirty="0">
                <a:solidFill>
                  <a:srgbClr val="222222"/>
                </a:solidFill>
                <a:latin typeface="Arial" pitchFamily="34" charset="0"/>
                <a:ea typeface="Arial" pitchFamily="34" charset="-122"/>
                <a:cs typeface="Arial" pitchFamily="34" charset="-120"/>
              </a:rPr>
              <a:t>Servicing: 323k cases a year; automate the highest-volume changes first.</a:t>
            </a:r>
            <a:endParaRPr lang="en-US" sz="1150" dirty="0"/>
          </a:p>
        </p:txBody>
      </p:sp>
      <p:sp>
        <p:nvSpPr>
          <p:cNvPr id="15" name="Shape 12"/>
          <p:cNvSpPr/>
          <p:nvPr/>
        </p:nvSpPr>
        <p:spPr>
          <a:xfrm>
            <a:off x="6858000" y="5532120"/>
            <a:ext cx="4873752" cy="685800"/>
          </a:xfrm>
          <a:prstGeom prst="rect">
            <a:avLst/>
          </a:prstGeom>
          <a:solidFill>
            <a:srgbClr val="8C8C8C"/>
          </a:solidFill>
          <a:ln w="12700">
            <a:solidFill>
              <a:srgbClr val="8C8C8C"/>
            </a:solidFill>
            <a:prstDash val="solid"/>
          </a:ln>
        </p:spPr>
      </p:sp>
      <p:sp>
        <p:nvSpPr>
          <p:cNvPr id="16" name="Text 13"/>
          <p:cNvSpPr txBox="1"/>
          <p:nvPr/>
        </p:nvSpPr>
        <p:spPr>
          <a:xfrm>
            <a:off x="6949440" y="5532120"/>
            <a:ext cx="4690872" cy="685800"/>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Red bars: business volume and value. Dark bars: L400 cost and capacity.</a:t>
            </a:r>
            <a:endParaRPr lang="en-US" sz="1050" dirty="0"/>
          </a:p>
        </p:txBody>
      </p:sp>
      <p:sp>
        <p:nvSpPr>
          <p:cNvPr id="17" name="Text 14"/>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 Jaws use 2024 DWP growth against LE26 vs FY25 cost/FTE growth (cross-year, directional).</a:t>
            </a:r>
            <a:endParaRPr lang="en-US" sz="850" dirty="0"/>
          </a:p>
        </p:txBody>
      </p:sp>
      <p:sp>
        <p:nvSpPr>
          <p:cNvPr id="18" name="Text 15"/>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11 </a:t>
            </a:r>
            <a:pPr indent="0" marL="0">
              <a:buNone/>
            </a:pPr>
            <a:r>
              <a:rPr lang="en-US" sz="1300" dirty="0">
                <a:solidFill>
                  <a:srgbClr val="C8102E"/>
                </a:solidFill>
                <a:latin typeface="Arial" pitchFamily="34" charset="0"/>
                <a:ea typeface="Arial" pitchFamily="34" charset="-122"/>
                <a:cs typeface="Arial" pitchFamily="34" charset="-120"/>
              </a:rPr>
              <a:t>| Benchmark Implications for Option 3+</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Each Option 3+ lens is backed by a benchmark signal and a KPI to track</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No benchmark justifies a big-bang L400 replacement. Each benchmark points to where the four lenses should direct continuous modernisation, and gives a KPI to track it.</a:t>
            </a:r>
            <a:endParaRPr lang="en-US" sz="1250" dirty="0"/>
          </a:p>
        </p:txBody>
      </p:sp>
      <p:sp>
        <p:nvSpPr>
          <p:cNvPr id="5" name="Text 3"/>
          <p:cNvSpPr txBox="1"/>
          <p:nvPr/>
        </p:nvSpPr>
        <p:spPr>
          <a:xfrm>
            <a:off x="457200" y="1490472"/>
            <a:ext cx="265176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Strategic lens</a:t>
            </a:r>
            <a:endParaRPr lang="en-US" sz="1000" dirty="0"/>
          </a:p>
        </p:txBody>
      </p:sp>
      <p:sp>
        <p:nvSpPr>
          <p:cNvPr id="6" name="Text 4"/>
          <p:cNvSpPr txBox="1"/>
          <p:nvPr/>
        </p:nvSpPr>
        <p:spPr>
          <a:xfrm>
            <a:off x="3246120" y="1490472"/>
            <a:ext cx="4297680"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Benchmark evidence</a:t>
            </a:r>
            <a:endParaRPr lang="en-US" sz="1000" dirty="0"/>
          </a:p>
        </p:txBody>
      </p:sp>
      <p:sp>
        <p:nvSpPr>
          <p:cNvPr id="7" name="Text 5"/>
          <p:cNvSpPr txBox="1"/>
          <p:nvPr/>
        </p:nvSpPr>
        <p:spPr>
          <a:xfrm>
            <a:off x="7680960" y="1490472"/>
            <a:ext cx="4050792" cy="274320"/>
          </a:xfrm>
          <a:prstGeom prst="rect">
            <a:avLst/>
          </a:prstGeom>
          <a:noFill/>
          <a:ln/>
        </p:spPr>
        <p:txBody>
          <a:bodyPr wrap="square" lIns="0" tIns="0" rIns="0" bIns="0" rtlCol="0" anchor="ctr"/>
          <a:lstStyle/>
          <a:p>
            <a:pPr indent="0" marL="0">
              <a:buNone/>
            </a:pPr>
            <a:r>
              <a:rPr lang="en-US" sz="1000" b="1" dirty="0">
                <a:solidFill>
                  <a:srgbClr val="7F7F7F"/>
                </a:solidFill>
                <a:latin typeface="Arial" pitchFamily="34" charset="0"/>
                <a:ea typeface="Arial" pitchFamily="34" charset="-122"/>
                <a:cs typeface="Arial" pitchFamily="34" charset="-120"/>
              </a:rPr>
              <a:t>What Option 3+ should do and track</a:t>
            </a:r>
            <a:endParaRPr lang="en-US" sz="1000" dirty="0"/>
          </a:p>
        </p:txBody>
      </p:sp>
      <p:sp>
        <p:nvSpPr>
          <p:cNvPr id="8" name="Shape 6"/>
          <p:cNvSpPr/>
          <p:nvPr/>
        </p:nvSpPr>
        <p:spPr>
          <a:xfrm>
            <a:off x="457200" y="1783080"/>
            <a:ext cx="2651760" cy="1024128"/>
          </a:xfrm>
          <a:prstGeom prst="rect">
            <a:avLst/>
          </a:prstGeom>
          <a:solidFill>
            <a:srgbClr val="C8102E"/>
          </a:solidFill>
          <a:ln w="12700">
            <a:solidFill>
              <a:srgbClr val="C8102E"/>
            </a:solidFill>
            <a:prstDash val="solid"/>
          </a:ln>
        </p:spPr>
      </p:sp>
      <p:sp>
        <p:nvSpPr>
          <p:cNvPr id="9" name="Text 7"/>
          <p:cNvSpPr txBox="1"/>
          <p:nvPr/>
        </p:nvSpPr>
        <p:spPr>
          <a:xfrm>
            <a:off x="548640" y="1783080"/>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1. Geo-political resilience</a:t>
            </a:r>
            <a:endParaRPr lang="en-US" sz="1300" dirty="0"/>
          </a:p>
        </p:txBody>
      </p:sp>
      <p:sp>
        <p:nvSpPr>
          <p:cNvPr id="10" name="Shape 8"/>
          <p:cNvSpPr/>
          <p:nvPr/>
        </p:nvSpPr>
        <p:spPr>
          <a:xfrm>
            <a:off x="3246120" y="1783080"/>
            <a:ext cx="4297680" cy="1024128"/>
          </a:xfrm>
          <a:prstGeom prst="rect">
            <a:avLst/>
          </a:prstGeom>
          <a:solidFill>
            <a:srgbClr val="EDEDED"/>
          </a:solidFill>
          <a:ln w="12700">
            <a:solidFill>
              <a:srgbClr val="EDEDED"/>
            </a:solidFill>
            <a:prstDash val="solid"/>
          </a:ln>
        </p:spPr>
      </p:sp>
      <p:sp>
        <p:nvSpPr>
          <p:cNvPr id="11" name="Text 9"/>
          <p:cNvSpPr txBox="1"/>
          <p:nvPr/>
        </p:nvSpPr>
        <p:spPr>
          <a:xfrm>
            <a:off x="3337560" y="1783080"/>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External labour is 39% of L400 spend against 19% for peers, incl. a USD 3.2m DXC SOW. Cloud is growing from almost zero.</a:t>
            </a:r>
            <a:endParaRPr lang="en-US" sz="1050" dirty="0"/>
          </a:p>
        </p:txBody>
      </p:sp>
      <p:sp>
        <p:nvSpPr>
          <p:cNvPr id="12" name="Shape 10"/>
          <p:cNvSpPr/>
          <p:nvPr/>
        </p:nvSpPr>
        <p:spPr>
          <a:xfrm>
            <a:off x="7680960" y="1783080"/>
            <a:ext cx="4050792" cy="1024128"/>
          </a:xfrm>
          <a:prstGeom prst="rect">
            <a:avLst/>
          </a:prstGeom>
          <a:solidFill>
            <a:srgbClr val="8C8C8C"/>
          </a:solidFill>
          <a:ln w="12700">
            <a:solidFill>
              <a:srgbClr val="8C8C8C"/>
            </a:solidFill>
            <a:prstDash val="solid"/>
          </a:ln>
        </p:spPr>
      </p:sp>
      <p:sp>
        <p:nvSpPr>
          <p:cNvPr id="13" name="Text 11"/>
          <p:cNvSpPr txBox="1"/>
          <p:nvPr/>
        </p:nvSpPr>
        <p:spPr>
          <a:xfrm>
            <a:off x="7772400" y="1783080"/>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Vendor concentration limits, portable cloud choices, and in-house L400 skills. KPI: external labour share.</a:t>
            </a:r>
            <a:endParaRPr lang="en-US" sz="1050" dirty="0"/>
          </a:p>
        </p:txBody>
      </p:sp>
      <p:sp>
        <p:nvSpPr>
          <p:cNvPr id="14" name="Shape 12"/>
          <p:cNvSpPr/>
          <p:nvPr/>
        </p:nvSpPr>
        <p:spPr>
          <a:xfrm>
            <a:off x="457200" y="2898648"/>
            <a:ext cx="2651760" cy="1024128"/>
          </a:xfrm>
          <a:prstGeom prst="rect">
            <a:avLst/>
          </a:prstGeom>
          <a:solidFill>
            <a:srgbClr val="C8102E"/>
          </a:solidFill>
          <a:ln w="12700">
            <a:solidFill>
              <a:srgbClr val="C8102E"/>
            </a:solidFill>
            <a:prstDash val="solid"/>
          </a:ln>
        </p:spPr>
      </p:sp>
      <p:sp>
        <p:nvSpPr>
          <p:cNvPr id="15" name="Text 13"/>
          <p:cNvSpPr txBox="1"/>
          <p:nvPr/>
        </p:nvSpPr>
        <p:spPr>
          <a:xfrm>
            <a:off x="548640" y="2898648"/>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2. Business value</a:t>
            </a:r>
            <a:endParaRPr lang="en-US" sz="1300" dirty="0"/>
          </a:p>
        </p:txBody>
      </p:sp>
      <p:sp>
        <p:nvSpPr>
          <p:cNvPr id="16" name="Shape 14"/>
          <p:cNvSpPr/>
          <p:nvPr/>
        </p:nvSpPr>
        <p:spPr>
          <a:xfrm>
            <a:off x="3246120" y="2898648"/>
            <a:ext cx="4297680" cy="1024128"/>
          </a:xfrm>
          <a:prstGeom prst="rect">
            <a:avLst/>
          </a:prstGeom>
          <a:solidFill>
            <a:srgbClr val="EDEDED"/>
          </a:solidFill>
          <a:ln w="12700">
            <a:solidFill>
              <a:srgbClr val="EDEDED"/>
            </a:solidFill>
            <a:prstDash val="solid"/>
          </a:ln>
        </p:spPr>
      </p:sp>
      <p:sp>
        <p:nvSpPr>
          <p:cNvPr id="17" name="Text 15"/>
          <p:cNvSpPr txBox="1"/>
          <p:nvPr/>
        </p:nvSpPr>
        <p:spPr>
          <a:xfrm>
            <a:off x="3337560" y="2898648"/>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L400 is 0.08% of DWP and grows slower than premium (+7.6pp). HSBC grows 10.2% against 4.3% for peers.</a:t>
            </a:r>
            <a:endParaRPr lang="en-US" sz="1050" dirty="0"/>
          </a:p>
        </p:txBody>
      </p:sp>
      <p:sp>
        <p:nvSpPr>
          <p:cNvPr id="18" name="Shape 16"/>
          <p:cNvSpPr/>
          <p:nvPr/>
        </p:nvSpPr>
        <p:spPr>
          <a:xfrm>
            <a:off x="7680960" y="2898648"/>
            <a:ext cx="4050792" cy="1024128"/>
          </a:xfrm>
          <a:prstGeom prst="rect">
            <a:avLst/>
          </a:prstGeom>
          <a:solidFill>
            <a:srgbClr val="8C8C8C"/>
          </a:solidFill>
          <a:ln w="12700">
            <a:solidFill>
              <a:srgbClr val="8C8C8C"/>
            </a:solidFill>
            <a:prstDash val="solid"/>
          </a:ln>
        </p:spPr>
      </p:sp>
      <p:sp>
        <p:nvSpPr>
          <p:cNvPr id="19" name="Text 17"/>
          <p:cNvSpPr txBox="1"/>
          <p:nvPr/>
        </p:nvSpPr>
        <p:spPr>
          <a:xfrm>
            <a:off x="7772400" y="2898648"/>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Fund changes that protect growth: servicing, digital submission, data. KPIs: L400 cost ÷ DWP; jaws.</a:t>
            </a:r>
            <a:endParaRPr lang="en-US" sz="1050" dirty="0"/>
          </a:p>
        </p:txBody>
      </p:sp>
      <p:sp>
        <p:nvSpPr>
          <p:cNvPr id="20" name="Shape 18"/>
          <p:cNvSpPr/>
          <p:nvPr/>
        </p:nvSpPr>
        <p:spPr>
          <a:xfrm>
            <a:off x="457200" y="4014216"/>
            <a:ext cx="2651760" cy="1024128"/>
          </a:xfrm>
          <a:prstGeom prst="rect">
            <a:avLst/>
          </a:prstGeom>
          <a:solidFill>
            <a:srgbClr val="C8102E"/>
          </a:solidFill>
          <a:ln w="12700">
            <a:solidFill>
              <a:srgbClr val="C8102E"/>
            </a:solidFill>
            <a:prstDash val="solid"/>
          </a:ln>
        </p:spPr>
      </p:sp>
      <p:sp>
        <p:nvSpPr>
          <p:cNvPr id="21" name="Text 19"/>
          <p:cNvSpPr txBox="1"/>
          <p:nvPr/>
        </p:nvSpPr>
        <p:spPr>
          <a:xfrm>
            <a:off x="548640" y="4014216"/>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3. Technology acceleration</a:t>
            </a:r>
            <a:endParaRPr lang="en-US" sz="1300" dirty="0"/>
          </a:p>
        </p:txBody>
      </p:sp>
      <p:sp>
        <p:nvSpPr>
          <p:cNvPr id="22" name="Shape 20"/>
          <p:cNvSpPr/>
          <p:nvPr/>
        </p:nvSpPr>
        <p:spPr>
          <a:xfrm>
            <a:off x="3246120" y="4014216"/>
            <a:ext cx="4297680" cy="1024128"/>
          </a:xfrm>
          <a:prstGeom prst="rect">
            <a:avLst/>
          </a:prstGeom>
          <a:solidFill>
            <a:srgbClr val="EDEDED"/>
          </a:solidFill>
          <a:ln w="12700">
            <a:solidFill>
              <a:srgbClr val="EDEDED"/>
            </a:solidFill>
            <a:prstDash val="solid"/>
          </a:ln>
        </p:spPr>
      </p:sp>
      <p:sp>
        <p:nvSpPr>
          <p:cNvPr id="23" name="Text 21"/>
          <p:cNvSpPr txBox="1"/>
          <p:nvPr/>
        </p:nvSpPr>
        <p:spPr>
          <a:xfrm>
            <a:off x="3337560" y="4014216"/>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Run cost per policy is 1.7× Sun Life and rising 12% as cloud is added on top of infrastructure. STP is not measured, against 30–70% in the market.</a:t>
            </a:r>
            <a:endParaRPr lang="en-US" sz="1050" dirty="0"/>
          </a:p>
        </p:txBody>
      </p:sp>
      <p:sp>
        <p:nvSpPr>
          <p:cNvPr id="24" name="Shape 22"/>
          <p:cNvSpPr/>
          <p:nvPr/>
        </p:nvSpPr>
        <p:spPr>
          <a:xfrm>
            <a:off x="7680960" y="4014216"/>
            <a:ext cx="4050792" cy="1024128"/>
          </a:xfrm>
          <a:prstGeom prst="rect">
            <a:avLst/>
          </a:prstGeom>
          <a:solidFill>
            <a:srgbClr val="8C8C8C"/>
          </a:solidFill>
          <a:ln w="12700">
            <a:solidFill>
              <a:srgbClr val="8C8C8C"/>
            </a:solidFill>
            <a:prstDash val="solid"/>
          </a:ln>
        </p:spPr>
      </p:sp>
      <p:sp>
        <p:nvSpPr>
          <p:cNvPr id="25" name="Text 23"/>
          <p:cNvSpPr txBox="1"/>
          <p:nvPr/>
        </p:nvSpPr>
        <p:spPr>
          <a:xfrm>
            <a:off x="7772400" y="4014216"/>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Retire infrastructure with each cloud step, automate the 323k servicing cases, and set an STP baseline. KPIs: STP %, run cost per policy.</a:t>
            </a:r>
            <a:endParaRPr lang="en-US" sz="1050" dirty="0"/>
          </a:p>
        </p:txBody>
      </p:sp>
      <p:sp>
        <p:nvSpPr>
          <p:cNvPr id="26" name="Shape 24"/>
          <p:cNvSpPr/>
          <p:nvPr/>
        </p:nvSpPr>
        <p:spPr>
          <a:xfrm>
            <a:off x="457200" y="5129784"/>
            <a:ext cx="2651760" cy="1024128"/>
          </a:xfrm>
          <a:prstGeom prst="rect">
            <a:avLst/>
          </a:prstGeom>
          <a:solidFill>
            <a:srgbClr val="C8102E"/>
          </a:solidFill>
          <a:ln w="12700">
            <a:solidFill>
              <a:srgbClr val="C8102E"/>
            </a:solidFill>
            <a:prstDash val="solid"/>
          </a:ln>
        </p:spPr>
      </p:sp>
      <p:sp>
        <p:nvSpPr>
          <p:cNvPr id="27" name="Text 25"/>
          <p:cNvSpPr txBox="1"/>
          <p:nvPr/>
        </p:nvSpPr>
        <p:spPr>
          <a:xfrm>
            <a:off x="548640" y="5129784"/>
            <a:ext cx="2468880" cy="1024128"/>
          </a:xfrm>
          <a:prstGeom prst="rect">
            <a:avLst/>
          </a:prstGeom>
          <a:noFill/>
          <a:ln/>
        </p:spPr>
        <p:txBody>
          <a:bodyPr wrap="square" lIns="635" tIns="635" rIns="635" bIns="635"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4. HNW vs mass-market</a:t>
            </a:r>
            <a:endParaRPr lang="en-US" sz="1300" dirty="0"/>
          </a:p>
        </p:txBody>
      </p:sp>
      <p:sp>
        <p:nvSpPr>
          <p:cNvPr id="28" name="Shape 26"/>
          <p:cNvSpPr/>
          <p:nvPr/>
        </p:nvSpPr>
        <p:spPr>
          <a:xfrm>
            <a:off x="3246120" y="5129784"/>
            <a:ext cx="4297680" cy="1024128"/>
          </a:xfrm>
          <a:prstGeom prst="rect">
            <a:avLst/>
          </a:prstGeom>
          <a:solidFill>
            <a:srgbClr val="EDEDED"/>
          </a:solidFill>
          <a:ln w="12700">
            <a:solidFill>
              <a:srgbClr val="EDEDED"/>
            </a:solidFill>
            <a:prstDash val="solid"/>
          </a:ln>
        </p:spPr>
      </p:sp>
      <p:sp>
        <p:nvSpPr>
          <p:cNvPr id="29" name="Text 27"/>
          <p:cNvSpPr txBox="1"/>
          <p:nvPr/>
        </p:nvSpPr>
        <p:spPr>
          <a:xfrm>
            <a:off x="3337560" y="5129784"/>
            <a:ext cx="4114800" cy="1024128"/>
          </a:xfrm>
          <a:prstGeom prst="rect">
            <a:avLst/>
          </a:prstGeom>
          <a:noFill/>
          <a:ln/>
        </p:spPr>
        <p:txBody>
          <a:bodyPr wrap="square" lIns="635" tIns="635" rIns="635" bIns="635" rtlCol="0" anchor="ctr"/>
          <a:lstStyle/>
          <a:p>
            <a:pPr indent="0" marL="0">
              <a:buNone/>
            </a:pPr>
            <a:r>
              <a:rPr lang="en-US" sz="1050" dirty="0">
                <a:solidFill>
                  <a:srgbClr val="222222"/>
                </a:solidFill>
                <a:latin typeface="Arial" pitchFamily="34" charset="0"/>
                <a:ea typeface="Arial" pitchFamily="34" charset="-122"/>
                <a:cs typeface="Arial" pitchFamily="34" charset="-120"/>
              </a:rPr>
              <a:t>Premium per policy is USD 16.4k. New business premium +33% while policies +3.9%. Digital submission is 20% against 30–70%.</a:t>
            </a:r>
            <a:endParaRPr lang="en-US" sz="1050" dirty="0"/>
          </a:p>
        </p:txBody>
      </p:sp>
      <p:sp>
        <p:nvSpPr>
          <p:cNvPr id="30" name="Shape 28"/>
          <p:cNvSpPr/>
          <p:nvPr/>
        </p:nvSpPr>
        <p:spPr>
          <a:xfrm>
            <a:off x="7680960" y="5129784"/>
            <a:ext cx="4050792" cy="1024128"/>
          </a:xfrm>
          <a:prstGeom prst="rect">
            <a:avLst/>
          </a:prstGeom>
          <a:solidFill>
            <a:srgbClr val="8C8C8C"/>
          </a:solidFill>
          <a:ln w="12700">
            <a:solidFill>
              <a:srgbClr val="8C8C8C"/>
            </a:solidFill>
            <a:prstDash val="solid"/>
          </a:ln>
        </p:spPr>
      </p:sp>
      <p:sp>
        <p:nvSpPr>
          <p:cNvPr id="31" name="Text 29"/>
          <p:cNvSpPr txBox="1"/>
          <p:nvPr/>
        </p:nvSpPr>
        <p:spPr>
          <a:xfrm>
            <a:off x="7772400" y="5129784"/>
            <a:ext cx="3867912" cy="1024128"/>
          </a:xfrm>
          <a:prstGeom prst="rect">
            <a:avLst/>
          </a:prstGeom>
          <a:noFill/>
          <a:ln/>
        </p:spPr>
        <p:txBody>
          <a:bodyPr wrap="square" lIns="635" tIns="635" rIns="635" bIns="635" rtlCol="0" anchor="ctr"/>
          <a:lstStyle/>
          <a:p>
            <a:pPr indent="0" marL="0">
              <a:buNone/>
            </a:pPr>
            <a:r>
              <a:rPr lang="en-US" sz="1050" dirty="0">
                <a:solidFill>
                  <a:srgbClr val="FFFFFF"/>
                </a:solidFill>
                <a:latin typeface="Arial" pitchFamily="34" charset="0"/>
                <a:ea typeface="Arial" pitchFamily="34" charset="-122"/>
                <a:cs typeface="Arial" pitchFamily="34" charset="-120"/>
              </a:rPr>
              <a:t>Tailored HNW capability, and a digital, high-STP path for mass market. KPI: cost to serve by segment.</a:t>
            </a:r>
            <a:endParaRPr lang="en-US" sz="1050" dirty="0"/>
          </a:p>
        </p:txBody>
      </p:sp>
      <p:sp>
        <p:nvSpPr>
          <p:cNvPr id="32" name="Text 30"/>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a:t>
            </a:r>
            <a:endParaRPr lang="en-US" sz="850" dirty="0"/>
          </a:p>
        </p:txBody>
      </p:sp>
      <p:sp>
        <p:nvSpPr>
          <p:cNvPr id="33" name="Text 31"/>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7315200" cy="274320"/>
          </a:xfrm>
          <a:prstGeom prst="rect">
            <a:avLst/>
          </a:prstGeom>
          <a:noFill/>
          <a:ln/>
        </p:spPr>
        <p:txBody>
          <a:bodyPr wrap="square" lIns="0" tIns="0" rIns="0" bIns="0" rtlCol="0" anchor="ctr"/>
          <a:lstStyle/>
          <a:p>
            <a:pPr indent="0" marL="0">
              <a:buNone/>
            </a:pPr>
            <a:r>
              <a:rPr lang="en-US" sz="1300" b="1" dirty="0">
                <a:solidFill>
                  <a:srgbClr val="C8102E"/>
                </a:solidFill>
                <a:latin typeface="Arial" pitchFamily="34" charset="0"/>
                <a:ea typeface="Arial" pitchFamily="34" charset="-122"/>
                <a:cs typeface="Arial" pitchFamily="34" charset="-120"/>
              </a:rPr>
              <a:t>Appendix </a:t>
            </a:r>
            <a:pPr indent="0" marL="0">
              <a:buNone/>
            </a:pPr>
            <a:r>
              <a:rPr lang="en-US" sz="1300" dirty="0">
                <a:solidFill>
                  <a:srgbClr val="C8102E"/>
                </a:solidFill>
                <a:latin typeface="Arial" pitchFamily="34" charset="0"/>
                <a:ea typeface="Arial" pitchFamily="34" charset="-122"/>
                <a:cs typeface="Arial" pitchFamily="34" charset="-120"/>
              </a:rPr>
              <a:t>| Data Quality &amp; Next Steps</a:t>
            </a:r>
            <a:endParaRPr lang="en-US" sz="1300" dirty="0"/>
          </a:p>
        </p:txBody>
      </p:sp>
      <p:sp>
        <p:nvSpPr>
          <p:cNvPr id="3" name="Text 1"/>
          <p:cNvSpPr txBox="1"/>
          <p:nvPr/>
        </p:nvSpPr>
        <p:spPr>
          <a:xfrm>
            <a:off x="457200" y="502920"/>
            <a:ext cx="11274552" cy="502920"/>
          </a:xfrm>
          <a:prstGeom prst="rect">
            <a:avLst/>
          </a:prstGeom>
          <a:noFill/>
          <a:ln/>
        </p:spPr>
        <p:txBody>
          <a:bodyPr wrap="square" lIns="0" tIns="0" rIns="0" bIns="0" rtlCol="0" anchor="t"/>
          <a:lstStyle/>
          <a:p>
            <a:pPr indent="0" marL="0">
              <a:buNone/>
            </a:pPr>
            <a:r>
              <a:rPr lang="en-US" sz="2200" dirty="0">
                <a:solidFill>
                  <a:srgbClr val="222222"/>
                </a:solidFill>
                <a:latin typeface="Arial" pitchFamily="34" charset="0"/>
                <a:ea typeface="Arial" pitchFamily="34" charset="-122"/>
                <a:cs typeface="Arial" pitchFamily="34" charset="-120"/>
              </a:rPr>
              <a:t>Six data gaps to close before the business case is final</a:t>
            </a:r>
            <a:endParaRPr lang="en-US" sz="2200" dirty="0"/>
          </a:p>
        </p:txBody>
      </p:sp>
      <p:sp>
        <p:nvSpPr>
          <p:cNvPr id="4" name="Text 2"/>
          <p:cNvSpPr txBox="1"/>
          <p:nvPr/>
        </p:nvSpPr>
        <p:spPr>
          <a:xfrm>
            <a:off x="457200" y="1024128"/>
            <a:ext cx="11274552" cy="548640"/>
          </a:xfrm>
          <a:prstGeom prst="rect">
            <a:avLst/>
          </a:prstGeom>
          <a:noFill/>
          <a:ln/>
        </p:spPr>
        <p:txBody>
          <a:bodyPr wrap="square" lIns="0" tIns="0" rIns="0" bIns="0" rtlCol="0" anchor="t"/>
          <a:lstStyle/>
          <a:p>
            <a:pPr indent="0" marL="0">
              <a:buNone/>
            </a:pPr>
            <a:r>
              <a:rPr lang="en-US" sz="1250" b="1" dirty="0">
                <a:solidFill>
                  <a:srgbClr val="222222"/>
                </a:solidFill>
                <a:latin typeface="Arial" pitchFamily="34" charset="0"/>
                <a:ea typeface="Arial" pitchFamily="34" charset="-122"/>
                <a:cs typeface="Arial" pitchFamily="34" charset="-120"/>
              </a:rPr>
              <a:t>Key takeaway: </a:t>
            </a:r>
            <a:pPr indent="0" marL="0">
              <a:buNone/>
            </a:pPr>
            <a:r>
              <a:rPr lang="en-US" sz="1250" dirty="0">
                <a:solidFill>
                  <a:srgbClr val="222222"/>
                </a:solidFill>
                <a:latin typeface="Arial" pitchFamily="34" charset="0"/>
                <a:ea typeface="Arial" pitchFamily="34" charset="-122"/>
                <a:cs typeface="Arial" pitchFamily="34" charset="-120"/>
              </a:rPr>
              <a:t>The direction holds: strong growth, a lean but labour-heavy L400, and no automation baseline. Ratios built on enterprise ICT, FTE and PAS cost need like-for-like data before they go to the client.</a:t>
            </a:r>
            <a:endParaRPr lang="en-US" sz="1250" dirty="0"/>
          </a:p>
        </p:txBody>
      </p:sp>
      <p:sp>
        <p:nvSpPr>
          <p:cNvPr id="5" name="Shape 3"/>
          <p:cNvSpPr/>
          <p:nvPr/>
        </p:nvSpPr>
        <p:spPr>
          <a:xfrm>
            <a:off x="457200" y="1783080"/>
            <a:ext cx="6675120" cy="347472"/>
          </a:xfrm>
          <a:prstGeom prst="rect">
            <a:avLst/>
          </a:prstGeom>
          <a:solidFill>
            <a:srgbClr val="C8102E"/>
          </a:solidFill>
          <a:ln w="12700">
            <a:solidFill>
              <a:srgbClr val="C8102E"/>
            </a:solidFill>
            <a:prstDash val="solid"/>
          </a:ln>
        </p:spPr>
      </p:sp>
      <p:sp>
        <p:nvSpPr>
          <p:cNvPr id="6" name="Text 4"/>
          <p:cNvSpPr txBox="1"/>
          <p:nvPr/>
        </p:nvSpPr>
        <p:spPr>
          <a:xfrm>
            <a:off x="548640" y="1783080"/>
            <a:ext cx="6492240"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Data gaps identified</a:t>
            </a:r>
            <a:endParaRPr lang="en-US" sz="1200" dirty="0"/>
          </a:p>
        </p:txBody>
      </p:sp>
      <p:sp>
        <p:nvSpPr>
          <p:cNvPr id="7" name="Shape 5"/>
          <p:cNvSpPr/>
          <p:nvPr/>
        </p:nvSpPr>
        <p:spPr>
          <a:xfrm>
            <a:off x="457200" y="2130552"/>
            <a:ext cx="6675120" cy="4069080"/>
          </a:xfrm>
          <a:prstGeom prst="rect">
            <a:avLst/>
          </a:prstGeom>
          <a:solidFill>
            <a:srgbClr val="EDEDED"/>
          </a:solidFill>
          <a:ln w="12700">
            <a:solidFill>
              <a:srgbClr val="EDEDED"/>
            </a:solidFill>
            <a:prstDash val="solid"/>
          </a:ln>
        </p:spPr>
      </p:sp>
      <p:sp>
        <p:nvSpPr>
          <p:cNvPr id="8" name="Text 6"/>
          <p:cNvSpPr txBox="1"/>
          <p:nvPr/>
        </p:nvSpPr>
        <p:spPr>
          <a:xfrm>
            <a:off x="594360" y="2331720"/>
            <a:ext cx="6400800" cy="3794760"/>
          </a:xfrm>
          <a:prstGeom prst="rect">
            <a:avLst/>
          </a:prstGeom>
          <a:noFill/>
          <a:ln/>
        </p:spPr>
        <p:txBody>
          <a:bodyPr wrap="square" lIns="635" tIns="635" rIns="635" bIns="635" rtlCol="0" anchor="t"/>
          <a:lstStyle/>
          <a:p>
            <a:pPr marL="152400" indent="-152400">
              <a:spcAft>
                <a:spcPts val="1700"/>
              </a:spcAft>
              <a:buSzPct val="100000"/>
              <a:buChar char="•"/>
            </a:pPr>
            <a:r>
              <a:rPr lang="en-US" sz="1300" b="1" dirty="0">
                <a:solidFill>
                  <a:srgbClr val="222222"/>
                </a:solidFill>
                <a:latin typeface="Arial" pitchFamily="34" charset="0"/>
                <a:ea typeface="Arial" pitchFamily="34" charset="-122"/>
                <a:cs typeface="Arial" pitchFamily="34" charset="-120"/>
              </a:rPr>
              <a:t>IT spend perimeter: </a:t>
            </a:r>
            <a:pPr indent="0" marL="0">
              <a:spcAft>
                <a:spcPts val="1700"/>
              </a:spcAft>
              <a:buNone/>
            </a:pPr>
            <a:r>
              <a:rPr lang="en-US" sz="1300" dirty="0">
                <a:solidFill>
                  <a:srgbClr val="222222"/>
                </a:solidFill>
                <a:latin typeface="Arial" pitchFamily="34" charset="0"/>
                <a:ea typeface="Arial" pitchFamily="34" charset="-122"/>
                <a:cs typeface="Arial" pitchFamily="34" charset="-120"/>
              </a:rPr>
              <a:t>HSBC ICT (USD 2.3bn) is bank-level. The HSBC Life share is unknown.</a:t>
            </a:r>
            <a:endParaRPr lang="en-US" sz="1300" dirty="0"/>
          </a:p>
          <a:p>
            <a:pPr marL="152400" indent="-152400">
              <a:spcAft>
                <a:spcPts val="1700"/>
              </a:spcAft>
              <a:buSzPct val="100000"/>
              <a:buChar char="•"/>
            </a:pPr>
            <a:r>
              <a:rPr lang="en-US" sz="1300" b="1" dirty="0">
                <a:solidFill>
                  <a:srgbClr val="222222"/>
                </a:solidFill>
                <a:latin typeface="Arial" pitchFamily="34" charset="0"/>
                <a:ea typeface="Arial" pitchFamily="34" charset="-122"/>
                <a:cs typeface="Arial" pitchFamily="34" charset="-120"/>
              </a:rPr>
              <a:t>Premium basis: </a:t>
            </a:r>
            <a:pPr indent="0" marL="0">
              <a:spcAft>
                <a:spcPts val="1700"/>
              </a:spcAft>
              <a:buNone/>
            </a:pPr>
            <a:r>
              <a:rPr lang="en-US" sz="1300" dirty="0">
                <a:solidFill>
                  <a:srgbClr val="222222"/>
                </a:solidFill>
                <a:latin typeface="Arial" pitchFamily="34" charset="0"/>
                <a:ea typeface="Arial" pitchFamily="34" charset="-122"/>
                <a:cs typeface="Arial" pitchFamily="34" charset="-120"/>
              </a:rPr>
              <a:t>reported premium is new business only (0.56× DWP). Use DWP for ratios.</a:t>
            </a:r>
            <a:endParaRPr lang="en-US" sz="1300" dirty="0"/>
          </a:p>
          <a:p>
            <a:pPr marL="152400" indent="-152400">
              <a:spcAft>
                <a:spcPts val="1700"/>
              </a:spcAft>
              <a:buSzPct val="100000"/>
              <a:buChar char="•"/>
            </a:pPr>
            <a:r>
              <a:rPr lang="en-US" sz="1300" b="1" dirty="0">
                <a:solidFill>
                  <a:srgbClr val="222222"/>
                </a:solidFill>
                <a:latin typeface="Arial" pitchFamily="34" charset="0"/>
                <a:ea typeface="Arial" pitchFamily="34" charset="-122"/>
                <a:cs typeface="Arial" pitchFamily="34" charset="-120"/>
              </a:rPr>
              <a:t>FTE definition: </a:t>
            </a:r>
            <a:pPr indent="0" marL="0">
              <a:spcAft>
                <a:spcPts val="1700"/>
              </a:spcAft>
              <a:buNone/>
            </a:pPr>
            <a:r>
              <a:rPr lang="en-US" sz="1300" dirty="0">
                <a:solidFill>
                  <a:srgbClr val="222222"/>
                </a:solidFill>
                <a:latin typeface="Arial" pitchFamily="34" charset="0"/>
                <a:ea typeface="Arial" pitchFamily="34" charset="-122"/>
                <a:cs typeface="Arial" pitchFamily="34" charset="-120"/>
              </a:rPr>
              <a:t>HSBC 66/85 are L400 IT FTE; peers report PAS operations FTE.</a:t>
            </a:r>
            <a:endParaRPr lang="en-US" sz="1300" dirty="0"/>
          </a:p>
          <a:p>
            <a:pPr marL="152400" indent="-152400">
              <a:spcAft>
                <a:spcPts val="1700"/>
              </a:spcAft>
              <a:buSzPct val="100000"/>
              <a:buChar char="•"/>
            </a:pPr>
            <a:r>
              <a:rPr lang="en-US" sz="1300" b="1" dirty="0">
                <a:solidFill>
                  <a:srgbClr val="222222"/>
                </a:solidFill>
                <a:latin typeface="Arial" pitchFamily="34" charset="0"/>
                <a:ea typeface="Arial" pitchFamily="34" charset="-122"/>
                <a:cs typeface="Arial" pitchFamily="34" charset="-120"/>
              </a:rPr>
              <a:t>PAS cost perimeter: </a:t>
            </a:r>
            <a:pPr indent="0" marL="0">
              <a:spcAft>
                <a:spcPts val="1700"/>
              </a:spcAft>
              <a:buNone/>
            </a:pPr>
            <a:r>
              <a:rPr lang="en-US" sz="1300" dirty="0">
                <a:solidFill>
                  <a:srgbClr val="222222"/>
                </a:solidFill>
                <a:latin typeface="Arial" pitchFamily="34" charset="0"/>
                <a:ea typeface="Arial" pitchFamily="34" charset="-122"/>
                <a:cs typeface="Arial" pitchFamily="34" charset="-120"/>
              </a:rPr>
              <a:t>HSBC = L400 IT platform cost; Sun Life = PAS operations cost.</a:t>
            </a:r>
            <a:endParaRPr lang="en-US" sz="1300" dirty="0"/>
          </a:p>
          <a:p>
            <a:pPr marL="152400" indent="-152400">
              <a:spcAft>
                <a:spcPts val="1700"/>
              </a:spcAft>
              <a:buSzPct val="100000"/>
              <a:buChar char="•"/>
            </a:pPr>
            <a:r>
              <a:rPr lang="en-US" sz="1300" b="1" dirty="0">
                <a:solidFill>
                  <a:srgbClr val="222222"/>
                </a:solidFill>
                <a:latin typeface="Arial" pitchFamily="34" charset="0"/>
                <a:ea typeface="Arial" pitchFamily="34" charset="-122"/>
                <a:cs typeface="Arial" pitchFamily="34" charset="-120"/>
              </a:rPr>
              <a:t>Automation: </a:t>
            </a:r>
            <a:pPr indent="0" marL="0">
              <a:spcAft>
                <a:spcPts val="1700"/>
              </a:spcAft>
              <a:buNone/>
            </a:pPr>
            <a:r>
              <a:rPr lang="en-US" sz="1300" dirty="0">
                <a:solidFill>
                  <a:srgbClr val="222222"/>
                </a:solidFill>
                <a:latin typeface="Arial" pitchFamily="34" charset="0"/>
                <a:ea typeface="Arial" pitchFamily="34" charset="-122"/>
                <a:cs typeface="Arial" pitchFamily="34" charset="-120"/>
              </a:rPr>
              <a:t>no STP, no automatic/manual split of 68.6m transactions, no operations cost.</a:t>
            </a:r>
            <a:endParaRPr lang="en-US" sz="1300" dirty="0"/>
          </a:p>
          <a:p>
            <a:pPr marL="152400" indent="-152400">
              <a:spcAft>
                <a:spcPts val="1700"/>
              </a:spcAft>
              <a:buSzPct val="100000"/>
              <a:buChar char="•"/>
            </a:pPr>
            <a:r>
              <a:rPr lang="en-US" sz="1300" b="1" dirty="0">
                <a:solidFill>
                  <a:srgbClr val="222222"/>
                </a:solidFill>
                <a:latin typeface="Arial" pitchFamily="34" charset="0"/>
                <a:ea typeface="Arial" pitchFamily="34" charset="-122"/>
                <a:cs typeface="Arial" pitchFamily="34" charset="-120"/>
              </a:rPr>
              <a:t>Cost mix: </a:t>
            </a:r>
            <a:pPr indent="0" marL="0">
              <a:spcAft>
                <a:spcPts val="1700"/>
              </a:spcAft>
              <a:buNone/>
            </a:pPr>
            <a:r>
              <a:rPr lang="en-US" sz="1300" dirty="0">
                <a:solidFill>
                  <a:srgbClr val="222222"/>
                </a:solidFill>
                <a:latin typeface="Arial" pitchFamily="34" charset="0"/>
                <a:ea typeface="Arial" pitchFamily="34" charset="-122"/>
                <a:cs typeface="Arial" pitchFamily="34" charset="-120"/>
              </a:rPr>
              <a:t>labour, run/change and technology shares are L400-only; peers are enterprise-wide.</a:t>
            </a:r>
            <a:endParaRPr lang="en-US" sz="1300" dirty="0"/>
          </a:p>
        </p:txBody>
      </p:sp>
      <p:sp>
        <p:nvSpPr>
          <p:cNvPr id="9" name="Shape 7"/>
          <p:cNvSpPr/>
          <p:nvPr/>
        </p:nvSpPr>
        <p:spPr>
          <a:xfrm>
            <a:off x="7406640" y="1783080"/>
            <a:ext cx="4325112" cy="347472"/>
          </a:xfrm>
          <a:prstGeom prst="rect">
            <a:avLst/>
          </a:prstGeom>
          <a:solidFill>
            <a:srgbClr val="C8102E"/>
          </a:solidFill>
          <a:ln w="12700">
            <a:solidFill>
              <a:srgbClr val="C8102E"/>
            </a:solidFill>
            <a:prstDash val="solid"/>
          </a:ln>
        </p:spPr>
      </p:sp>
      <p:sp>
        <p:nvSpPr>
          <p:cNvPr id="10" name="Text 8"/>
          <p:cNvSpPr txBox="1"/>
          <p:nvPr/>
        </p:nvSpPr>
        <p:spPr>
          <a:xfrm>
            <a:off x="7498080" y="1783080"/>
            <a:ext cx="4142232" cy="347472"/>
          </a:xfrm>
          <a:prstGeom prst="rect">
            <a:avLst/>
          </a:prstGeom>
          <a:noFill/>
          <a:ln/>
        </p:spPr>
        <p:txBody>
          <a:bodyPr wrap="square" lIns="635" tIns="635" rIns="635" bIns="635"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Proposed next steps</a:t>
            </a:r>
            <a:endParaRPr lang="en-US" sz="1200" dirty="0"/>
          </a:p>
        </p:txBody>
      </p:sp>
      <p:sp>
        <p:nvSpPr>
          <p:cNvPr id="11" name="Shape 9"/>
          <p:cNvSpPr/>
          <p:nvPr/>
        </p:nvSpPr>
        <p:spPr>
          <a:xfrm>
            <a:off x="7406640" y="2331720"/>
            <a:ext cx="548640" cy="548640"/>
          </a:xfrm>
          <a:prstGeom prst="ellipse">
            <a:avLst/>
          </a:prstGeom>
          <a:solidFill>
            <a:srgbClr val="C8102E"/>
          </a:solidFill>
          <a:ln w="12700">
            <a:solidFill>
              <a:srgbClr val="C8102E"/>
            </a:solidFill>
            <a:prstDash val="solid"/>
          </a:ln>
        </p:spPr>
      </p:sp>
      <p:sp>
        <p:nvSpPr>
          <p:cNvPr id="12" name="Text 10"/>
          <p:cNvSpPr txBox="1"/>
          <p:nvPr/>
        </p:nvSpPr>
        <p:spPr>
          <a:xfrm>
            <a:off x="7406640" y="2331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3" name="Text 11"/>
          <p:cNvSpPr txBox="1"/>
          <p:nvPr/>
        </p:nvSpPr>
        <p:spPr>
          <a:xfrm>
            <a:off x="8092440" y="2240280"/>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Obtain HSBC Life's share of ICT and its operations cost</a:t>
            </a:r>
            <a:endParaRPr lang="en-US" sz="1150" dirty="0"/>
          </a:p>
        </p:txBody>
      </p:sp>
      <p:sp>
        <p:nvSpPr>
          <p:cNvPr id="14" name="Shape 12"/>
          <p:cNvSpPr/>
          <p:nvPr/>
        </p:nvSpPr>
        <p:spPr>
          <a:xfrm>
            <a:off x="7406640" y="3319272"/>
            <a:ext cx="548640" cy="548640"/>
          </a:xfrm>
          <a:prstGeom prst="ellipse">
            <a:avLst/>
          </a:prstGeom>
          <a:solidFill>
            <a:srgbClr val="C8102E"/>
          </a:solidFill>
          <a:ln w="12700">
            <a:solidFill>
              <a:srgbClr val="C8102E"/>
            </a:solidFill>
            <a:prstDash val="solid"/>
          </a:ln>
        </p:spPr>
      </p:sp>
      <p:sp>
        <p:nvSpPr>
          <p:cNvPr id="15" name="Text 13"/>
          <p:cNvSpPr txBox="1"/>
          <p:nvPr/>
        </p:nvSpPr>
        <p:spPr>
          <a:xfrm>
            <a:off x="7406640" y="331927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4"/>
          <p:cNvSpPr txBox="1"/>
          <p:nvPr/>
        </p:nvSpPr>
        <p:spPr>
          <a:xfrm>
            <a:off x="8092440" y="3227832"/>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Split L400 transactions into automatic and manual to set an STP baseline</a:t>
            </a:r>
            <a:endParaRPr lang="en-US" sz="1150" dirty="0"/>
          </a:p>
        </p:txBody>
      </p:sp>
      <p:sp>
        <p:nvSpPr>
          <p:cNvPr id="17" name="Shape 15"/>
          <p:cNvSpPr/>
          <p:nvPr/>
        </p:nvSpPr>
        <p:spPr>
          <a:xfrm>
            <a:off x="7406640" y="4306824"/>
            <a:ext cx="548640" cy="548640"/>
          </a:xfrm>
          <a:prstGeom prst="ellipse">
            <a:avLst/>
          </a:prstGeom>
          <a:solidFill>
            <a:srgbClr val="C8102E"/>
          </a:solidFill>
          <a:ln w="12700">
            <a:solidFill>
              <a:srgbClr val="C8102E"/>
            </a:solidFill>
            <a:prstDash val="solid"/>
          </a:ln>
        </p:spPr>
      </p:sp>
      <p:sp>
        <p:nvSpPr>
          <p:cNvPr id="18" name="Text 16"/>
          <p:cNvSpPr txBox="1"/>
          <p:nvPr/>
        </p:nvSpPr>
        <p:spPr>
          <a:xfrm>
            <a:off x="7406640" y="430682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txBox="1"/>
          <p:nvPr/>
        </p:nvSpPr>
        <p:spPr>
          <a:xfrm>
            <a:off x="8092440" y="4215384"/>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Align FTE definitions (IT vs PAS operations) with peers</a:t>
            </a:r>
            <a:endParaRPr lang="en-US" sz="1150" dirty="0"/>
          </a:p>
        </p:txBody>
      </p:sp>
      <p:sp>
        <p:nvSpPr>
          <p:cNvPr id="20" name="Shape 18"/>
          <p:cNvSpPr/>
          <p:nvPr/>
        </p:nvSpPr>
        <p:spPr>
          <a:xfrm>
            <a:off x="7406640" y="5294376"/>
            <a:ext cx="548640" cy="548640"/>
          </a:xfrm>
          <a:prstGeom prst="ellipse">
            <a:avLst/>
          </a:prstGeom>
          <a:solidFill>
            <a:srgbClr val="C8102E"/>
          </a:solidFill>
          <a:ln w="12700">
            <a:solidFill>
              <a:srgbClr val="C8102E"/>
            </a:solidFill>
            <a:prstDash val="solid"/>
          </a:ln>
        </p:spPr>
      </p:sp>
      <p:sp>
        <p:nvSpPr>
          <p:cNvPr id="21" name="Text 19"/>
          <p:cNvSpPr txBox="1"/>
          <p:nvPr/>
        </p:nvSpPr>
        <p:spPr>
          <a:xfrm>
            <a:off x="7406640" y="529437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8092440" y="5202936"/>
            <a:ext cx="3639312" cy="731520"/>
          </a:xfrm>
          <a:prstGeom prst="rect">
            <a:avLst/>
          </a:prstGeom>
          <a:noFill/>
          <a:ln/>
        </p:spPr>
        <p:txBody>
          <a:bodyPr wrap="square" lIns="0" tIns="0" rIns="0" bIns="0" rtlCol="0" anchor="ctr"/>
          <a:lstStyle/>
          <a:p>
            <a:pPr indent="0" marL="0">
              <a:buNone/>
            </a:pPr>
            <a:r>
              <a:rPr lang="en-US" sz="1150" dirty="0">
                <a:solidFill>
                  <a:srgbClr val="222222"/>
                </a:solidFill>
                <a:latin typeface="Arial" pitchFamily="34" charset="0"/>
                <a:ea typeface="Arial" pitchFamily="34" charset="-122"/>
                <a:cs typeface="Arial" pitchFamily="34" charset="-120"/>
              </a:rPr>
              <a:t>Set Option 3+ KPI targets for each lens and link them to the roadmap</a:t>
            </a:r>
            <a:endParaRPr lang="en-US" sz="1150" dirty="0"/>
          </a:p>
        </p:txBody>
      </p:sp>
      <p:sp>
        <p:nvSpPr>
          <p:cNvPr id="23" name="Text 21"/>
          <p:cNvSpPr txBox="1"/>
          <p:nvPr/>
        </p:nvSpPr>
        <p:spPr>
          <a:xfrm>
            <a:off x="457200" y="6419088"/>
            <a:ext cx="10725912" cy="320040"/>
          </a:xfrm>
          <a:prstGeom prst="rect">
            <a:avLst/>
          </a:prstGeom>
          <a:noFill/>
          <a:ln/>
        </p:spPr>
        <p:txBody>
          <a:bodyPr wrap="square" lIns="0" tIns="0" rIns="0" bIns="0" rtlCol="0" anchor="b"/>
          <a:lstStyle/>
          <a:p>
            <a:pPr indent="0" marL="0">
              <a:buNone/>
            </a:pPr>
            <a:r>
              <a:rPr lang="en-US" sz="850" dirty="0">
                <a:solidFill>
                  <a:srgbClr val="7F7F7F"/>
                </a:solidFill>
                <a:latin typeface="Arial" pitchFamily="34" charset="0"/>
                <a:ea typeface="Arial" pitchFamily="34" charset="-122"/>
                <a:cs typeface="Arial" pitchFamily="34" charset="-120"/>
              </a:rPr>
              <a:t>Source: HSBC Life PAS L400 benchmarking workbook ('HSBC vs Peers KPI – ICT basis'). HSBC FY2025 actual; LE2026 = Jan–Aug annualised. HK DWP 2024 (top 8). USD at HKD 7.8.</a:t>
            </a:r>
            <a:endParaRPr lang="en-US" sz="850" dirty="0"/>
          </a:p>
        </p:txBody>
      </p:sp>
      <p:sp>
        <p:nvSpPr>
          <p:cNvPr id="24" name="Text 22"/>
          <p:cNvSpPr txBox="1"/>
          <p:nvPr/>
        </p:nvSpPr>
        <p:spPr>
          <a:xfrm>
            <a:off x="11274552" y="6419088"/>
            <a:ext cx="457200" cy="320040"/>
          </a:xfrm>
          <a:prstGeom prst="rect">
            <a:avLst/>
          </a:prstGeom>
          <a:noFill/>
          <a:ln/>
        </p:spPr>
        <p:txBody>
          <a:bodyPr wrap="square" lIns="0" tIns="0" rIns="0" bIns="0" rtlCol="0" anchor="b"/>
          <a:lstStyle/>
          <a:p>
            <a:pPr algn="r" indent="0" marL="0">
              <a:buNone/>
            </a:pPr>
            <a:r>
              <a:rPr lang="en-US" sz="900" dirty="0">
                <a:solidFill>
                  <a:srgbClr val="7F7F7F"/>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HSBC Life – IT Cost &amp; PAS (L400) Benchmark</dc:title>
  <dc:subject>PptxGenJS Presentation</dc:subject>
  <dc:creator>PptxGenJS</dc:creator>
  <cp:lastModifiedBy>PptxGenJS</cp:lastModifiedBy>
  <cp:revision>1</cp:revision>
  <dcterms:created xsi:type="dcterms:W3CDTF">2026-09-28T08:47:33Z</dcterms:created>
  <dcterms:modified xsi:type="dcterms:W3CDTF">2026-09-28T08:47:33Z</dcterms:modified>
</cp:coreProperties>
</file>