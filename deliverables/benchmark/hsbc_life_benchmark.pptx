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3.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4.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5.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6.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22222"/>
                </a:solidFill>
                <a:latin typeface="Arial"/>
              </a:defRPr>
            </a:pPr>
            <a:r>
              <a:rPr sz="1200" b="0" i="0" u="none" strike="noStrike">
                <a:solidFill>
                  <a:srgbClr val="222222"/>
                </a:solidFill>
                <a:latin typeface="Arial"/>
              </a:rPr>
              <a:t>Direct written premium (DWP) growth, %</a:t>
            </a:r>
          </a:p>
        </c:rich>
      </c:tx>
      <c:layout/>
      <c:overlay val="0"/>
    </c:title>
    <c:autoTitleDeleted val="0"/>
    <c:plotArea>
      <c:layout/>
      <c:barChart>
        <c:barDir val="col"/>
        <c:grouping val="clustered"/>
        <c:varyColors val="0"/>
        <c:ser>
          <c:idx val="0"/>
          <c:order val="0"/>
          <c:tx>
            <c:strRef>
              <c:f>Sheet1!$B$1</c:f>
              <c:strCache>
                <c:ptCount val="1"/>
                <c:pt idx="0">
                  <c:v>DWP growth 2024 (YoY)</c:v>
                </c:pt>
              </c:strCache>
            </c:strRef>
          </c:tx>
          <c:spPr>
            <a:solidFill>
              <a:srgbClr val="C8102E"/>
            </a:solidFill>
            <a:effectLst/>
          </c:spPr>
          <c:invertIfNegative val="0"/>
          <c:dLbls>
            <c:numFmt formatCode="0.0&quot;%&quot;" sourceLinked="0"/>
            <c:txPr>
              <a:bodyPr/>
              <a:lstStyle/>
              <a:p>
                <a:pPr>
                  <a:defRPr b="0" i="0" strike="noStrike" sz="1000" u="none">
                    <a:solidFill>
                      <a:srgbClr val="333333"/>
                    </a:solidFill>
                    <a:latin typeface="Arial"/>
                  </a:defRPr>
                </a:pPr>
              </a:p>
            </c:txPr>
            <c:showLegendKey val="0"/>
            <c:showVal val="1"/>
            <c:showCatName val="0"/>
            <c:showSerName val="0"/>
            <c:showPercent val="0"/>
            <c:showBubbleSize val="0"/>
            <c:showLeaderLines val="0"/>
          </c:dLbls>
          <c:cat>
            <c:multiLvlStrRef>
              <c:f>Sheet1!$A$2:$A$7</c:f>
              <c:multiLvlStrCache>
                <c:ptCount val="6"/>
                <c:lvl>
                  <c:pt idx="0">
                    <c:v>HSBC Life</c:v>
                  </c:pt>
                  <c:pt idx="1">
                    <c:v>HSBC Group on L400</c:v>
                  </c:pt>
                  <c:pt idx="2">
                    <c:v>AIA</c:v>
                  </c:pt>
                  <c:pt idx="3">
                    <c:v>Prudential</c:v>
                  </c:pt>
                  <c:pt idx="4">
                    <c:v>Manulife</c:v>
                  </c:pt>
                  <c:pt idx="5">
                    <c:v>Top-8 market</c:v>
                  </c:pt>
                </c:lvl>
              </c:multiLvlStrCache>
            </c:multiLvlStrRef>
          </c:cat>
          <c:val>
            <c:numRef>
              <c:f>Sheet1!$B$2:$B$7</c:f>
              <c:numCache>
                <c:formatCode>General</c:formatCode>
                <c:ptCount val="6"/>
                <c:pt idx="0">
                  <c:v>10.2</c:v>
                </c:pt>
                <c:pt idx="1">
                  <c:v>21.9</c:v>
                </c:pt>
                <c:pt idx="2">
                  <c:v>1.3</c:v>
                </c:pt>
                <c:pt idx="3">
                  <c:v>5.2</c:v>
                </c:pt>
                <c:pt idx="4">
                  <c:v>6.5</c:v>
                </c:pt>
                <c:pt idx="5">
                  <c:v>10.3</c:v>
                </c:pt>
              </c:numCache>
            </c:numRef>
          </c:val>
        </c:ser>
        <c:ser>
          <c:idx val="1"/>
          <c:order val="1"/>
          <c:tx>
            <c:strRef>
              <c:f>Sheet1!$C$1</c:f>
              <c:strCache>
                <c:ptCount val="1"/>
                <c:pt idx="0">
                  <c:v>DWP CAGR 2020–24</c:v>
                </c:pt>
              </c:strCache>
            </c:strRef>
          </c:tx>
          <c:spPr>
            <a:solidFill>
              <a:srgbClr val="BFBFBF"/>
            </a:solidFill>
            <a:effectLst/>
          </c:spPr>
          <c:invertIfNegative val="0"/>
          <c:dLbls>
            <c:numFmt formatCode="0.0&quot;%&quot;" sourceLinked="0"/>
            <c:txPr>
              <a:bodyPr/>
              <a:lstStyle/>
              <a:p>
                <a:pPr>
                  <a:defRPr b="0" i="0" strike="noStrike" sz="1000" u="none">
                    <a:solidFill>
                      <a:srgbClr val="333333"/>
                    </a:solidFill>
                    <a:latin typeface="Arial"/>
                  </a:defRPr>
                </a:pPr>
              </a:p>
            </c:txPr>
            <c:showLegendKey val="0"/>
            <c:showVal val="1"/>
            <c:showCatName val="0"/>
            <c:showSerName val="0"/>
            <c:showPercent val="0"/>
            <c:showBubbleSize val="0"/>
            <c:showLeaderLines val="0"/>
          </c:dLbls>
          <c:cat>
            <c:multiLvlStrRef>
              <c:f>Sheet1!$A$2:$A$7</c:f>
              <c:multiLvlStrCache>
                <c:ptCount val="6"/>
                <c:lvl>
                  <c:pt idx="0">
                    <c:v>HSBC Life</c:v>
                  </c:pt>
                  <c:pt idx="1">
                    <c:v>HSBC Group on L400</c:v>
                  </c:pt>
                  <c:pt idx="2">
                    <c:v>AIA</c:v>
                  </c:pt>
                  <c:pt idx="3">
                    <c:v>Prudential</c:v>
                  </c:pt>
                  <c:pt idx="4">
                    <c:v>Manulife</c:v>
                  </c:pt>
                  <c:pt idx="5">
                    <c:v>Top-8 market</c:v>
                  </c:pt>
                </c:lvl>
              </c:multiLvlStrCache>
            </c:multiLvlStrRef>
          </c:cat>
          <c:val>
            <c:numRef>
              <c:f>Sheet1!$C$2:$C$7</c:f>
              <c:numCache>
                <c:formatCode>General</c:formatCode>
                <c:ptCount val="6"/>
                <c:pt idx="0">
                  <c:v>8.3</c:v>
                </c:pt>
                <c:pt idx="1">
                  <c:v>12.1</c:v>
                </c:pt>
                <c:pt idx="2">
                  <c:v>-4.8</c:v>
                </c:pt>
                <c:pt idx="3">
                  <c:v>-5.5</c:v>
                </c:pt>
                <c:pt idx="4">
                  <c:v>3.6</c:v>
                </c:pt>
                <c:pt idx="5">
                  <c:v>-0.3</c:v>
                </c:pt>
              </c:numCache>
            </c:numRef>
          </c:val>
        </c:ser>
        <c:dLbls>
          <c:numFmt formatCode="0.0&quot;%&quot;" sourceLinked="0"/>
          <c:txPr>
            <a:bodyPr/>
            <a:lstStyle/>
            <a:p>
              <a:pPr>
                <a:defRPr b="0" i="0" strike="noStrike" sz="1000" u="none">
                  <a:solidFill>
                    <a:srgbClr val="333333"/>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0404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0808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latin typeface="Arial"/>
              <a:cs typeface="Aria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22222"/>
                </a:solidFill>
                <a:latin typeface="Arial"/>
              </a:defRPr>
            </a:pPr>
            <a:r>
              <a:rPr sz="1200" b="0" i="0" u="none" strike="noStrike">
                <a:solidFill>
                  <a:srgbClr val="222222"/>
                </a:solidFill>
                <a:latin typeface="Arial"/>
              </a:rPr>
              <a:t>Total ICT spend, FY2025 projected (USD m)</a:t>
            </a:r>
          </a:p>
        </c:rich>
      </c:tx>
      <c:layout/>
      <c:overlay val="0"/>
    </c:title>
    <c:autoTitleDeleted val="0"/>
    <c:plotArea>
      <c:layout/>
      <c:barChart>
        <c:barDir val="col"/>
        <c:grouping val="clustered"/>
        <c:varyColors val="0"/>
        <c:ser>
          <c:idx val="0"/>
          <c:order val="0"/>
          <c:tx>
            <c:strRef>
              <c:f>Sheet1!$B$1</c:f>
              <c:strCache>
                <c:ptCount val="1"/>
                <c:pt idx="0">
                  <c:v>ICT FY2025E (USD m)</c:v>
                </c:pt>
              </c:strCache>
            </c:strRef>
          </c:tx>
          <c:spPr>
            <a:solidFill>
              <a:srgbClr val="C8102E"/>
            </a:solidFill>
            <a:effectLst/>
          </c:spPr>
          <c:invertIfNegative val="0"/>
          <c:dLbls>
            <c:numFmt formatCode="#,##0" sourceLinked="0"/>
            <c:txPr>
              <a:bodyPr/>
              <a:lstStyle/>
              <a:p>
                <a:pPr>
                  <a:defRPr b="0" i="0" strike="noStrike" sz="1000" u="none">
                    <a:solidFill>
                      <a:srgbClr val="333333"/>
                    </a:solidFill>
                    <a:latin typeface="Arial"/>
                  </a:defRPr>
                </a:pPr>
              </a:p>
            </c:txPr>
            <c:showLegendKey val="0"/>
            <c:showVal val="1"/>
            <c:showCatName val="0"/>
            <c:showSerName val="0"/>
            <c:showPercent val="0"/>
            <c:showBubbleSize val="0"/>
            <c:showLeaderLines val="0"/>
          </c:dLbls>
          <c:dPt>
            <c:idx val="0"/>
            <c:invertIfNegative val="0"/>
            <c:bubble3D val="0"/>
            <c:spPr>
              <a:solidFill>
                <a:srgbClr val="C8102E"/>
              </a:solidFill>
              <a:effectLst/>
            </c:spPr>
          </c:dPt>
          <c:dPt>
            <c:idx val="1"/>
            <c:invertIfNegative val="0"/>
            <c:bubble3D val="0"/>
            <c:spPr>
              <a:solidFill>
                <a:srgbClr val="BFBFBF"/>
              </a:solidFill>
              <a:effectLst/>
            </c:spPr>
          </c:dPt>
          <c:dPt>
            <c:idx val="2"/>
            <c:invertIfNegative val="0"/>
            <c:bubble3D val="0"/>
            <c:spPr>
              <a:solidFill>
                <a:srgbClr val="BFBFBF"/>
              </a:solidFill>
              <a:effectLst/>
            </c:spPr>
          </c:dPt>
          <c:dPt>
            <c:idx val="3"/>
            <c:invertIfNegative val="0"/>
            <c:bubble3D val="0"/>
            <c:spPr>
              <a:solidFill>
                <a:srgbClr val="BFBFBF"/>
              </a:solidFill>
              <a:effectLst/>
            </c:spPr>
          </c:dPt>
          <c:cat>
            <c:multiLvlStrRef>
              <c:f>Sheet1!$A$2:$A$5</c:f>
              <c:multiLvlStrCache>
                <c:ptCount val="4"/>
                <c:lvl>
                  <c:pt idx="0">
                    <c:v>HSBC (bank-level)*</c:v>
                  </c:pt>
                  <c:pt idx="1">
                    <c:v>AIA</c:v>
                  </c:pt>
                  <c:pt idx="2">
                    <c:v>Prudential</c:v>
                  </c:pt>
                  <c:pt idx="3">
                    <c:v>Manulife</c:v>
                  </c:pt>
                </c:lvl>
              </c:multiLvlStrCache>
            </c:multiLvlStrRef>
          </c:cat>
          <c:val>
            <c:numRef>
              <c:f>Sheet1!$B$2:$B$5</c:f>
              <c:numCache>
                <c:formatCode>General</c:formatCode>
                <c:ptCount val="4"/>
                <c:pt idx="0">
                  <c:v>2283</c:v>
                </c:pt>
                <c:pt idx="1">
                  <c:v>1964</c:v>
                </c:pt>
                <c:pt idx="2">
                  <c:v>1113</c:v>
                </c:pt>
                <c:pt idx="3">
                  <c:v>161</c:v>
                </c:pt>
              </c:numCache>
            </c:numRef>
          </c:val>
        </c:ser>
        <c:dLbls>
          <c:numFmt formatCode="#,##0" sourceLinked="0"/>
          <c:txPr>
            <a:bodyPr/>
            <a:lstStyle/>
            <a:p>
              <a:pPr>
                <a:defRPr b="0" i="0" strike="noStrike" sz="1000" u="none">
                  <a:solidFill>
                    <a:srgbClr val="333333"/>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0404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080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22222"/>
                </a:solidFill>
                <a:latin typeface="Arial"/>
              </a:defRPr>
            </a:pPr>
            <a:r>
              <a:rPr sz="1200" b="0" i="0" u="none" strike="noStrike">
                <a:solidFill>
                  <a:srgbClr val="222222"/>
                </a:solidFill>
                <a:latin typeface="Arial"/>
              </a:rPr>
              <a:t>L400 cost by component (USD m)</a:t>
            </a:r>
          </a:p>
        </c:rich>
      </c:tx>
      <c:layout/>
      <c:overlay val="0"/>
    </c:title>
    <c:autoTitleDeleted val="0"/>
    <c:plotArea>
      <c:layout/>
      <c:barChart>
        <c:barDir val="col"/>
        <c:grouping val="stacked"/>
        <c:varyColors val="0"/>
        <c:ser>
          <c:idx val="0"/>
          <c:order val="0"/>
          <c:tx>
            <c:strRef>
              <c:f>Sheet1!$B$1</c:f>
              <c:strCache>
                <c:ptCount val="1"/>
                <c:pt idx="0">
                  <c:v>Internal labour (change)</c:v>
                </c:pt>
              </c:strCache>
            </c:strRef>
          </c:tx>
          <c:spPr>
            <a:solidFill>
              <a:srgbClr val="7A0A1C"/>
            </a:solidFill>
            <a:effectLst/>
          </c:spPr>
          <c:invertIfNegative val="0"/>
          <c:dLbls>
            <c:numFmt formatCode="0.0" sourceLinked="0"/>
            <c:txPr>
              <a:bodyPr/>
              <a:lstStyle/>
              <a:p>
                <a:pPr>
                  <a:defRPr b="0" i="0" strike="noStrike" sz="10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FY2025</c:v>
                  </c:pt>
                  <c:pt idx="1">
                    <c:v>LE2026</c:v>
                  </c:pt>
                </c:lvl>
              </c:multiLvlStrCache>
            </c:multiLvlStrRef>
          </c:cat>
          <c:val>
            <c:numRef>
              <c:f>Sheet1!$B$2:$B$3</c:f>
              <c:numCache>
                <c:formatCode>General</c:formatCode>
                <c:ptCount val="2"/>
                <c:pt idx="0">
                  <c:v>3.5</c:v>
                </c:pt>
                <c:pt idx="1">
                  <c:v>4.1</c:v>
                </c:pt>
              </c:numCache>
            </c:numRef>
          </c:val>
        </c:ser>
        <c:ser>
          <c:idx val="1"/>
          <c:order val="1"/>
          <c:tx>
            <c:strRef>
              <c:f>Sheet1!$C$1</c:f>
              <c:strCache>
                <c:ptCount val="1"/>
                <c:pt idx="0">
                  <c:v>External labour (change)</c:v>
                </c:pt>
              </c:strCache>
            </c:strRef>
          </c:tx>
          <c:spPr>
            <a:solidFill>
              <a:srgbClr val="C8102E"/>
            </a:solidFill>
            <a:effectLst/>
          </c:spPr>
          <c:invertIfNegative val="0"/>
          <c:dLbls>
            <c:numFmt formatCode="0.0" sourceLinked="0"/>
            <c:txPr>
              <a:bodyPr/>
              <a:lstStyle/>
              <a:p>
                <a:pPr>
                  <a:defRPr b="0" i="0" strike="noStrike" sz="10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FY2025</c:v>
                  </c:pt>
                  <c:pt idx="1">
                    <c:v>LE2026</c:v>
                  </c:pt>
                </c:lvl>
              </c:multiLvlStrCache>
            </c:multiLvlStrRef>
          </c:cat>
          <c:val>
            <c:numRef>
              <c:f>Sheet1!$C$2:$C$3</c:f>
              <c:numCache>
                <c:formatCode>General</c:formatCode>
                <c:ptCount val="2"/>
                <c:pt idx="0">
                  <c:v>3.8</c:v>
                </c:pt>
                <c:pt idx="1">
                  <c:v>4.2</c:v>
                </c:pt>
              </c:numCache>
            </c:numRef>
          </c:val>
        </c:ser>
        <c:ser>
          <c:idx val="2"/>
          <c:order val="2"/>
          <c:tx>
            <c:strRef>
              <c:f>Sheet1!$D$1</c:f>
              <c:strCache>
                <c:ptCount val="1"/>
                <c:pt idx="0">
                  <c:v>Infrastructure (run)</c:v>
                </c:pt>
              </c:strCache>
            </c:strRef>
          </c:tx>
          <c:spPr>
            <a:solidFill>
              <a:srgbClr val="8C8C8C"/>
            </a:solidFill>
            <a:effectLst/>
          </c:spPr>
          <c:invertIfNegative val="0"/>
          <c:dLbls>
            <c:numFmt formatCode="0.0" sourceLinked="0"/>
            <c:txPr>
              <a:bodyPr/>
              <a:lstStyle/>
              <a:p>
                <a:pPr>
                  <a:defRPr b="0" i="0" strike="noStrike" sz="10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FY2025</c:v>
                  </c:pt>
                  <c:pt idx="1">
                    <c:v>LE2026</c:v>
                  </c:pt>
                </c:lvl>
              </c:multiLvlStrCache>
            </c:multiLvlStrRef>
          </c:cat>
          <c:val>
            <c:numRef>
              <c:f>Sheet1!$D$2:$D$3</c:f>
              <c:numCache>
                <c:formatCode>General</c:formatCode>
                <c:ptCount val="2"/>
                <c:pt idx="0">
                  <c:v>1.6</c:v>
                </c:pt>
                <c:pt idx="1">
                  <c:v>1.88</c:v>
                </c:pt>
              </c:numCache>
            </c:numRef>
          </c:val>
        </c:ser>
        <c:ser>
          <c:idx val="3"/>
          <c:order val="3"/>
          <c:tx>
            <c:strRef>
              <c:f>Sheet1!$E$1</c:f>
              <c:strCache>
                <c:ptCount val="1"/>
                <c:pt idx="0">
                  <c:v>Application &amp; cloud (run)</c:v>
                </c:pt>
              </c:strCache>
            </c:strRef>
          </c:tx>
          <c:spPr>
            <a:solidFill>
              <a:srgbClr val="595959"/>
            </a:solidFill>
            <a:effectLst/>
          </c:spPr>
          <c:invertIfNegative val="0"/>
          <c:dLbls>
            <c:numFmt formatCode="0.0" sourceLinked="0"/>
            <c:txPr>
              <a:bodyPr/>
              <a:lstStyle/>
              <a:p>
                <a:pPr>
                  <a:defRPr b="0" i="0" strike="noStrike" sz="10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FY2025</c:v>
                  </c:pt>
                  <c:pt idx="1">
                    <c:v>LE2026</c:v>
                  </c:pt>
                </c:lvl>
              </c:multiLvlStrCache>
            </c:multiLvlStrRef>
          </c:cat>
          <c:val>
            <c:numRef>
              <c:f>Sheet1!$E$2:$E$3</c:f>
              <c:numCache>
                <c:formatCode>General</c:formatCode>
                <c:ptCount val="2"/>
                <c:pt idx="0">
                  <c:v>0.96</c:v>
                </c:pt>
                <c:pt idx="1">
                  <c:v>1.09</c:v>
                </c:pt>
              </c:numCache>
            </c:numRef>
          </c:val>
        </c:ser>
        <c:dLbls>
          <c:numFmt formatCode="0.0" sourceLinked="0"/>
          <c:txPr>
            <a:bodyPr/>
            <a:lstStyle/>
            <a:p>
              <a:pPr>
                <a:defRPr b="0" i="0" strike="noStrike" sz="1000" u="none">
                  <a:solidFill>
                    <a:srgbClr val="FFFFFF"/>
                  </a:solidFill>
                  <a:latin typeface="Arial"/>
                </a:defRPr>
              </a:pPr>
            </a:p>
          </c:txPr>
          <c:dLblPos val="ct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0404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08080"/>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950">
              <a:latin typeface="Arial"/>
              <a:cs typeface="Arial"/>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22222"/>
                </a:solidFill>
                <a:latin typeface="Arial"/>
              </a:defRPr>
            </a:pPr>
            <a:r>
              <a:rPr sz="1200" b="0" i="0" u="none" strike="noStrike">
                <a:solidFill>
                  <a:srgbClr val="222222"/>
                </a:solidFill>
                <a:latin typeface="Arial"/>
              </a:rPr>
              <a:t>DWP per PAS FTE (USD m)</a:t>
            </a:r>
          </a:p>
        </c:rich>
      </c:tx>
      <c:layout/>
      <c:overlay val="0"/>
    </c:title>
    <c:autoTitleDeleted val="0"/>
    <c:plotArea>
      <c:layout/>
      <c:barChart>
        <c:barDir val="col"/>
        <c:grouping val="clustered"/>
        <c:varyColors val="0"/>
        <c:ser>
          <c:idx val="0"/>
          <c:order val="0"/>
          <c:tx>
            <c:strRef>
              <c:f>Sheet1!$B$1</c:f>
              <c:strCache>
                <c:ptCount val="1"/>
                <c:pt idx="0">
                  <c:v>DWP per PAS FTE (USD m)</c:v>
                </c:pt>
              </c:strCache>
            </c:strRef>
          </c:tx>
          <c:spPr>
            <a:solidFill>
              <a:srgbClr val="C8102E"/>
            </a:solidFill>
            <a:effectLst/>
          </c:spPr>
          <c:invertIfNegative val="0"/>
          <c:dLbls>
            <c:numFmt formatCode="0" sourceLinked="0"/>
            <c:txPr>
              <a:bodyPr/>
              <a:lstStyle/>
              <a:p>
                <a:pPr>
                  <a:defRPr b="0" i="0" strike="noStrike" sz="1000" u="none">
                    <a:solidFill>
                      <a:srgbClr val="333333"/>
                    </a:solidFill>
                    <a:latin typeface="Arial"/>
                  </a:defRPr>
                </a:pPr>
              </a:p>
            </c:txPr>
            <c:showLegendKey val="0"/>
            <c:showVal val="1"/>
            <c:showCatName val="0"/>
            <c:showSerName val="0"/>
            <c:showPercent val="0"/>
            <c:showBubbleSize val="0"/>
            <c:showLeaderLines val="0"/>
          </c:dLbls>
          <c:dPt>
            <c:idx val="0"/>
            <c:invertIfNegative val="0"/>
            <c:bubble3D val="0"/>
            <c:spPr>
              <a:solidFill>
                <a:srgbClr val="C8102E"/>
              </a:solidFill>
              <a:effectLst/>
            </c:spPr>
          </c:dPt>
          <c:dPt>
            <c:idx val="1"/>
            <c:invertIfNegative val="0"/>
            <c:bubble3D val="0"/>
            <c:spPr>
              <a:solidFill>
                <a:srgbClr val="C8102E"/>
              </a:solidFill>
              <a:effectLst/>
            </c:spPr>
          </c:dPt>
          <c:dPt>
            <c:idx val="2"/>
            <c:invertIfNegative val="0"/>
            <c:bubble3D val="0"/>
            <c:spPr>
              <a:solidFill>
                <a:srgbClr val="BFBFBF"/>
              </a:solidFill>
              <a:effectLst/>
            </c:spPr>
          </c:dPt>
          <c:dPt>
            <c:idx val="3"/>
            <c:invertIfNegative val="0"/>
            <c:bubble3D val="0"/>
            <c:spPr>
              <a:solidFill>
                <a:srgbClr val="BFBFBF"/>
              </a:solidFill>
              <a:effectLst/>
            </c:spPr>
          </c:dPt>
          <c:dPt>
            <c:idx val="4"/>
            <c:invertIfNegative val="0"/>
            <c:bubble3D val="0"/>
            <c:spPr>
              <a:solidFill>
                <a:srgbClr val="BFBFBF"/>
              </a:solidFill>
              <a:effectLst/>
            </c:spPr>
          </c:dPt>
          <c:cat>
            <c:multiLvlStrRef>
              <c:f>Sheet1!$A$2:$A$6</c:f>
              <c:multiLvlStrCache>
                <c:ptCount val="5"/>
                <c:lvl>
                  <c:pt idx="0">
                    <c:v>HSBC FY25</c:v>
                  </c:pt>
                  <c:pt idx="1">
                    <c:v>HSBC LE26</c:v>
                  </c:pt>
                  <c:pt idx="2">
                    <c:v>AIA</c:v>
                  </c:pt>
                  <c:pt idx="3">
                    <c:v>Manulife</c:v>
                  </c:pt>
                  <c:pt idx="4">
                    <c:v>Prudential</c:v>
                  </c:pt>
                </c:lvl>
              </c:multiLvlStrCache>
            </c:multiLvlStrRef>
          </c:cat>
          <c:val>
            <c:numRef>
              <c:f>Sheet1!$B$2:$B$6</c:f>
              <c:numCache>
                <c:formatCode>General</c:formatCode>
                <c:ptCount val="5"/>
                <c:pt idx="0">
                  <c:v>185</c:v>
                </c:pt>
                <c:pt idx="1">
                  <c:v>144</c:v>
                </c:pt>
                <c:pt idx="2">
                  <c:v>174</c:v>
                </c:pt>
                <c:pt idx="3">
                  <c:v>170</c:v>
                </c:pt>
                <c:pt idx="4">
                  <c:v>160</c:v>
                </c:pt>
              </c:numCache>
            </c:numRef>
          </c:val>
        </c:ser>
        <c:dLbls>
          <c:numFmt formatCode="0" sourceLinked="0"/>
          <c:txPr>
            <a:bodyPr/>
            <a:lstStyle/>
            <a:p>
              <a:pPr>
                <a:defRPr b="0" i="0" strike="noStrike" sz="1000" u="none">
                  <a:solidFill>
                    <a:srgbClr val="333333"/>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0404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080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22222"/>
                </a:solidFill>
                <a:latin typeface="Arial"/>
              </a:defRPr>
            </a:pPr>
            <a:r>
              <a:rPr sz="1200" b="0" i="0" u="none" strike="noStrike">
                <a:solidFill>
                  <a:srgbClr val="222222"/>
                </a:solidFill>
                <a:latin typeface="Arial"/>
              </a:rPr>
              <a:t>Straight-through processing (STP) rate</a:t>
            </a:r>
          </a:p>
        </c:rich>
      </c:tx>
      <c:layout/>
      <c:overlay val="0"/>
    </c:title>
    <c:autoTitleDeleted val="0"/>
    <c:plotArea>
      <c:layout/>
      <c:barChart>
        <c:barDir val="bar"/>
        <c:grouping val="clustered"/>
        <c:varyColors val="0"/>
        <c:ser>
          <c:idx val="0"/>
          <c:order val="0"/>
          <c:tx>
            <c:strRef>
              <c:f>Sheet1!$B$1</c:f>
              <c:strCache>
                <c:ptCount val="1"/>
                <c:pt idx="0">
                  <c:v>STP rate</c:v>
                </c:pt>
              </c:strCache>
            </c:strRef>
          </c:tx>
          <c:spPr>
            <a:solidFill>
              <a:srgbClr val="C8102E"/>
            </a:solidFill>
            <a:effectLst/>
          </c:spPr>
          <c:invertIfNegative val="0"/>
          <c:dLbls>
            <c:numFmt formatCode="0&quot;%&quot;" sourceLinked="0"/>
            <c:txPr>
              <a:bodyPr/>
              <a:lstStyle/>
              <a:p>
                <a:pPr>
                  <a:defRPr b="0" i="0" strike="noStrike" sz="1000" u="none">
                    <a:solidFill>
                      <a:srgbClr val="333333"/>
                    </a:solidFill>
                    <a:latin typeface="Arial"/>
                  </a:defRPr>
                </a:pPr>
              </a:p>
            </c:txPr>
            <c:showLegendKey val="0"/>
            <c:showVal val="1"/>
            <c:showCatName val="0"/>
            <c:showSerName val="0"/>
            <c:showPercent val="0"/>
            <c:showBubbleSize val="0"/>
            <c:showLeaderLines val="0"/>
          </c:dLbls>
          <c:dPt>
            <c:idx val="0"/>
            <c:invertIfNegative val="0"/>
            <c:bubble3D val="0"/>
            <c:spPr>
              <a:solidFill>
                <a:srgbClr val="C8102E"/>
              </a:solidFill>
              <a:effectLst/>
            </c:spPr>
          </c:dPt>
          <c:dPt>
            <c:idx val="1"/>
            <c:invertIfNegative val="0"/>
            <c:bubble3D val="0"/>
            <c:spPr>
              <a:solidFill>
                <a:srgbClr val="BFBFBF"/>
              </a:solidFill>
              <a:effectLst/>
            </c:spPr>
          </c:dPt>
          <c:dPt>
            <c:idx val="2"/>
            <c:invertIfNegative val="0"/>
            <c:bubble3D val="0"/>
            <c:spPr>
              <a:solidFill>
                <a:srgbClr val="BFBFBF"/>
              </a:solidFill>
              <a:effectLst/>
            </c:spPr>
          </c:dPt>
          <c:dPt>
            <c:idx val="3"/>
            <c:invertIfNegative val="0"/>
            <c:bubble3D val="0"/>
            <c:spPr>
              <a:solidFill>
                <a:srgbClr val="BFBFBF"/>
              </a:solidFill>
              <a:effectLst/>
            </c:spPr>
          </c:dPt>
          <c:dPt>
            <c:idx val="4"/>
            <c:invertIfNegative val="0"/>
            <c:bubble3D val="0"/>
            <c:spPr>
              <a:solidFill>
                <a:srgbClr val="BFBFBF"/>
              </a:solidFill>
              <a:effectLst/>
            </c:spPr>
          </c:dPt>
          <c:cat>
            <c:multiLvlStrRef>
              <c:f>Sheet1!$A$2:$A$6</c:f>
              <c:multiLvlStrCache>
                <c:ptCount val="5"/>
                <c:lvl>
                  <c:pt idx="0">
                    <c:v>HSBC (not measured)</c:v>
                  </c:pt>
                  <c:pt idx="1">
                    <c:v>Sun Life</c:v>
                  </c:pt>
                  <c:pt idx="2">
                    <c:v>Manulife (&gt;)</c:v>
                  </c:pt>
                  <c:pt idx="3">
                    <c:v>Prudential (&gt;)</c:v>
                  </c:pt>
                  <c:pt idx="4">
                    <c:v>AIA (&gt;)</c:v>
                  </c:pt>
                </c:lvl>
              </c:multiLvlStrCache>
            </c:multiLvlStrRef>
          </c:cat>
          <c:val>
            <c:numRef>
              <c:f>Sheet1!$B$2:$B$6</c:f>
              <c:numCache>
                <c:formatCode>General</c:formatCode>
                <c:ptCount val="5"/>
                <c:pt idx="0">
                  <c:v>0</c:v>
                </c:pt>
                <c:pt idx="1">
                  <c:v>13.7</c:v>
                </c:pt>
                <c:pt idx="2">
                  <c:v>10</c:v>
                </c:pt>
                <c:pt idx="3">
                  <c:v>50</c:v>
                </c:pt>
                <c:pt idx="4">
                  <c:v>70</c:v>
                </c:pt>
              </c:numCache>
            </c:numRef>
          </c:val>
        </c:ser>
        <c:dLbls>
          <c:numFmt formatCode="0&quot;%&quot;" sourceLinked="0"/>
          <c:txPr>
            <a:bodyPr/>
            <a:lstStyle/>
            <a:p>
              <a:pPr>
                <a:defRPr b="0" i="0" strike="noStrike" sz="1000" u="none">
                  <a:solidFill>
                    <a:srgbClr val="333333"/>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04040"/>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8080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22222"/>
                </a:solidFill>
                <a:latin typeface="Arial"/>
              </a:defRPr>
            </a:pPr>
            <a:r>
              <a:rPr sz="1200" b="0" i="0" u="none" strike="noStrike">
                <a:solidFill>
                  <a:srgbClr val="222222"/>
                </a:solidFill>
                <a:latin typeface="Arial"/>
              </a:rPr>
              <a:t>Growth, LE2026 vs FY2025 (%)</a:t>
            </a:r>
          </a:p>
        </c:rich>
      </c:tx>
      <c:layout/>
      <c:overlay val="0"/>
    </c:title>
    <c:autoTitleDeleted val="0"/>
    <c:plotArea>
      <c:layout/>
      <c:barChart>
        <c:barDir val="bar"/>
        <c:grouping val="clustered"/>
        <c:varyColors val="0"/>
        <c:ser>
          <c:idx val="0"/>
          <c:order val="0"/>
          <c:tx>
            <c:strRef>
              <c:f>Sheet1!$B$1</c:f>
              <c:strCache>
                <c:ptCount val="1"/>
                <c:pt idx="0">
                  <c:v>Growth LE26 vs FY25</c:v>
                </c:pt>
              </c:strCache>
            </c:strRef>
          </c:tx>
          <c:spPr>
            <a:solidFill>
              <a:srgbClr val="C8102E"/>
            </a:solidFill>
            <a:effectLst/>
          </c:spPr>
          <c:invertIfNegative val="0"/>
          <c:dLbls>
            <c:numFmt formatCode="0.0&quot;%&quot;" sourceLinked="0"/>
            <c:txPr>
              <a:bodyPr/>
              <a:lstStyle/>
              <a:p>
                <a:pPr>
                  <a:defRPr b="0" i="0" strike="noStrike" sz="1000" u="none">
                    <a:solidFill>
                      <a:srgbClr val="333333"/>
                    </a:solidFill>
                    <a:latin typeface="Arial"/>
                  </a:defRPr>
                </a:pPr>
              </a:p>
            </c:txPr>
            <c:showLegendKey val="0"/>
            <c:showVal val="1"/>
            <c:showCatName val="0"/>
            <c:showSerName val="0"/>
            <c:showPercent val="0"/>
            <c:showBubbleSize val="0"/>
            <c:showLeaderLines val="0"/>
          </c:dLbls>
          <c:dPt>
            <c:idx val="0"/>
            <c:invertIfNegative val="0"/>
            <c:bubble3D val="0"/>
            <c:spPr>
              <a:solidFill>
                <a:srgbClr val="C8102E"/>
              </a:solidFill>
              <a:effectLst/>
            </c:spPr>
          </c:dPt>
          <c:dPt>
            <c:idx val="1"/>
            <c:invertIfNegative val="0"/>
            <c:bubble3D val="0"/>
            <c:spPr>
              <a:solidFill>
                <a:srgbClr val="404040"/>
              </a:solidFill>
              <a:effectLst/>
            </c:spPr>
          </c:dPt>
          <c:dPt>
            <c:idx val="2"/>
            <c:invertIfNegative val="0"/>
            <c:bubble3D val="0"/>
            <c:spPr>
              <a:solidFill>
                <a:srgbClr val="C8102E"/>
              </a:solidFill>
              <a:effectLst/>
            </c:spPr>
          </c:dPt>
          <c:dPt>
            <c:idx val="3"/>
            <c:invertIfNegative val="0"/>
            <c:bubble3D val="0"/>
            <c:spPr>
              <a:solidFill>
                <a:srgbClr val="C8102E"/>
              </a:solidFill>
              <a:effectLst/>
            </c:spPr>
          </c:dPt>
          <c:dPt>
            <c:idx val="4"/>
            <c:invertIfNegative val="0"/>
            <c:bubble3D val="0"/>
            <c:spPr>
              <a:solidFill>
                <a:srgbClr val="C8102E"/>
              </a:solidFill>
              <a:effectLst/>
            </c:spPr>
          </c:dPt>
          <c:dPt>
            <c:idx val="5"/>
            <c:invertIfNegative val="0"/>
            <c:bubble3D val="0"/>
            <c:spPr>
              <a:solidFill>
                <a:srgbClr val="404040"/>
              </a:solidFill>
              <a:effectLst/>
            </c:spPr>
          </c:dPt>
          <c:dPt>
            <c:idx val="6"/>
            <c:invertIfNegative val="0"/>
            <c:bubble3D val="0"/>
            <c:spPr>
              <a:solidFill>
                <a:srgbClr val="C8102E"/>
              </a:solidFill>
              <a:effectLst/>
            </c:spPr>
          </c:dPt>
          <c:dPt>
            <c:idx val="7"/>
            <c:invertIfNegative val="0"/>
            <c:bubble3D val="0"/>
            <c:spPr>
              <a:solidFill>
                <a:srgbClr val="C8102E"/>
              </a:solidFill>
              <a:effectLst/>
            </c:spPr>
          </c:dPt>
          <c:dPt>
            <c:idx val="8"/>
            <c:invertIfNegative val="0"/>
            <c:bubble3D val="0"/>
            <c:spPr>
              <a:solidFill>
                <a:srgbClr val="C8102E"/>
              </a:solidFill>
              <a:effectLst/>
            </c:spPr>
          </c:dPt>
          <c:cat>
            <c:multiLvlStrRef>
              <c:f>Sheet1!$A$2:$A$10</c:f>
              <c:multiLvlStrCache>
                <c:ptCount val="9"/>
                <c:lvl>
                  <c:pt idx="0">
                    <c:v>New business premium</c:v>
                  </c:pt>
                  <c:pt idx="1">
                    <c:v>L400 IT FTE</c:v>
                  </c:pt>
                  <c:pt idx="2">
                    <c:v>Digital submissions</c:v>
                  </c:pt>
                  <c:pt idx="3">
                    <c:v>Digital sales</c:v>
                  </c:pt>
                  <c:pt idx="4">
                    <c:v>New policies</c:v>
                  </c:pt>
                  <c:pt idx="5">
                    <c:v>L400 cost</c:v>
                  </c:pt>
                  <c:pt idx="6">
                    <c:v>In-force policies</c:v>
                  </c:pt>
                  <c:pt idx="7">
                    <c:v>Total submissions</c:v>
                  </c:pt>
                  <c:pt idx="8">
                    <c:v>Active customers</c:v>
                  </c:pt>
                </c:lvl>
              </c:multiLvlStrCache>
            </c:multiLvlStrRef>
          </c:cat>
          <c:val>
            <c:numRef>
              <c:f>Sheet1!$B$2:$B$10</c:f>
              <c:numCache>
                <c:formatCode>General</c:formatCode>
                <c:ptCount val="9"/>
                <c:pt idx="0">
                  <c:v>33.3</c:v>
                </c:pt>
                <c:pt idx="1">
                  <c:v>28.8</c:v>
                </c:pt>
                <c:pt idx="2">
                  <c:v>22.2</c:v>
                </c:pt>
                <c:pt idx="3">
                  <c:v>21.8</c:v>
                </c:pt>
                <c:pt idx="4">
                  <c:v>19.5</c:v>
                </c:pt>
                <c:pt idx="5">
                  <c:v>14.3</c:v>
                </c:pt>
                <c:pt idx="6">
                  <c:v>3.9</c:v>
                </c:pt>
                <c:pt idx="7">
                  <c:v>3.7</c:v>
                </c:pt>
                <c:pt idx="8">
                  <c:v>3</c:v>
                </c:pt>
              </c:numCache>
            </c:numRef>
          </c:val>
        </c:ser>
        <c:dLbls>
          <c:numFmt formatCode="0.0&quot;%&quot;" sourceLinked="0"/>
          <c:txPr>
            <a:bodyPr/>
            <a:lstStyle/>
            <a:p>
              <a:pPr>
                <a:defRPr b="0" i="0" strike="noStrike" sz="1000" u="none">
                  <a:solidFill>
                    <a:srgbClr val="333333"/>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04040"/>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8080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Storyline: market context, then IT cost (headline and L400 structure), then PAS deep dive (productivity, unit cost, automation), then cost to business outcome, then the four Option 3+ lenses. Data gaps are in the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7315200" cy="274320"/>
          </a:xfrm>
          <a:prstGeom prst="rect">
            <a:avLst/>
          </a:prstGeom>
          <a:noFill/>
          <a:ln/>
        </p:spPr>
        <p:txBody>
          <a:bodyPr wrap="square" lIns="0" tIns="0" rIns="0" bIns="0" rtlCol="0" anchor="ctr"/>
          <a:lstStyle/>
          <a:p>
            <a:pPr indent="0" marL="0">
              <a:buNone/>
            </a:pPr>
            <a:r>
              <a:rPr lang="en-US" sz="1300" b="1" dirty="0">
                <a:solidFill>
                  <a:srgbClr val="C8102E"/>
                </a:solidFill>
                <a:latin typeface="Arial" pitchFamily="34" charset="0"/>
                <a:ea typeface="Arial" pitchFamily="34" charset="-122"/>
                <a:cs typeface="Arial" pitchFamily="34" charset="-120"/>
              </a:rPr>
              <a:t>01 </a:t>
            </a:r>
            <a:pPr indent="0" marL="0">
              <a:buNone/>
            </a:pPr>
            <a:r>
              <a:rPr lang="en-US" sz="1300" dirty="0">
                <a:solidFill>
                  <a:srgbClr val="C8102E"/>
                </a:solidFill>
                <a:latin typeface="Arial" pitchFamily="34" charset="0"/>
                <a:ea typeface="Arial" pitchFamily="34" charset="-122"/>
                <a:cs typeface="Arial" pitchFamily="34" charset="-120"/>
              </a:rPr>
              <a:t>| Executive Summary</a:t>
            </a:r>
            <a:endParaRPr lang="en-US" sz="1300" dirty="0"/>
          </a:p>
        </p:txBody>
      </p:sp>
      <p:sp>
        <p:nvSpPr>
          <p:cNvPr id="3" name="Text 1"/>
          <p:cNvSpPr txBox="1"/>
          <p:nvPr/>
        </p:nvSpPr>
        <p:spPr>
          <a:xfrm>
            <a:off x="457200" y="502920"/>
            <a:ext cx="11274552" cy="502920"/>
          </a:xfrm>
          <a:prstGeom prst="rect">
            <a:avLst/>
          </a:prstGeom>
          <a:noFill/>
          <a:ln/>
        </p:spPr>
        <p:txBody>
          <a:bodyPr wrap="square" lIns="0" tIns="0" rIns="0" bIns="0" rtlCol="0" anchor="t"/>
          <a:lstStyle/>
          <a:p>
            <a:pPr indent="0" marL="0">
              <a:buNone/>
            </a:pPr>
            <a:r>
              <a:rPr lang="en-US" sz="2200" dirty="0">
                <a:solidFill>
                  <a:srgbClr val="222222"/>
                </a:solidFill>
                <a:latin typeface="Arial" pitchFamily="34" charset="0"/>
                <a:ea typeface="Arial" pitchFamily="34" charset="-122"/>
                <a:cs typeface="Arial" pitchFamily="34" charset="-120"/>
              </a:rPr>
              <a:t>Benchmarks support Option 3: modernise L400 step by step, guided by four lenses</a:t>
            </a:r>
            <a:endParaRPr lang="en-US" sz="2200" dirty="0"/>
          </a:p>
        </p:txBody>
      </p:sp>
      <p:sp>
        <p:nvSpPr>
          <p:cNvPr id="4" name="Text 2"/>
          <p:cNvSpPr txBox="1"/>
          <p:nvPr/>
        </p:nvSpPr>
        <p:spPr>
          <a:xfrm>
            <a:off x="457200" y="1024128"/>
            <a:ext cx="11274552" cy="548640"/>
          </a:xfrm>
          <a:prstGeom prst="rect">
            <a:avLst/>
          </a:prstGeom>
          <a:noFill/>
          <a:ln/>
        </p:spPr>
        <p:txBody>
          <a:bodyPr wrap="square" lIns="0" tIns="0" rIns="0" bIns="0" rtlCol="0" anchor="t"/>
          <a:lstStyle/>
          <a:p>
            <a:pPr indent="0" marL="0">
              <a:buNone/>
            </a:pPr>
            <a:r>
              <a:rPr lang="en-US" sz="1250" b="1" dirty="0">
                <a:solidFill>
                  <a:srgbClr val="222222"/>
                </a:solidFill>
                <a:latin typeface="Arial" pitchFamily="34" charset="0"/>
                <a:ea typeface="Arial" pitchFamily="34" charset="-122"/>
                <a:cs typeface="Arial" pitchFamily="34" charset="-120"/>
              </a:rPr>
              <a:t>Key takeaway: </a:t>
            </a:r>
            <a:pPr indent="0" marL="0">
              <a:buNone/>
            </a:pPr>
            <a:r>
              <a:rPr lang="en-US" sz="1250" dirty="0">
                <a:solidFill>
                  <a:srgbClr val="222222"/>
                </a:solidFill>
                <a:latin typeface="Arial" pitchFamily="34" charset="0"/>
                <a:ea typeface="Arial" pitchFamily="34" charset="-122"/>
                <a:cs typeface="Arial" pitchFamily="34" charset="-120"/>
              </a:rPr>
              <a:t>HSBC is growing faster than its peers, and L400 carries the largest life book in Hong Kong. L400 is cheap relative to premium but expensive per servicing case, and automation is not measured. That argues against a big-bang replacement and for continuous, targeted modernisation.</a:t>
            </a:r>
            <a:endParaRPr lang="en-US" sz="1250" dirty="0"/>
          </a:p>
        </p:txBody>
      </p:sp>
      <p:sp>
        <p:nvSpPr>
          <p:cNvPr id="5" name="Text 3"/>
          <p:cNvSpPr txBox="1"/>
          <p:nvPr/>
        </p:nvSpPr>
        <p:spPr>
          <a:xfrm>
            <a:off x="457200" y="1719072"/>
            <a:ext cx="2834640" cy="274320"/>
          </a:xfrm>
          <a:prstGeom prst="rect">
            <a:avLst/>
          </a:prstGeom>
          <a:noFill/>
          <a:ln/>
        </p:spPr>
        <p:txBody>
          <a:bodyPr wrap="square" lIns="0" tIns="0" rIns="0" bIns="0" rtlCol="0" anchor="ctr"/>
          <a:lstStyle/>
          <a:p>
            <a:pPr indent="0" marL="0">
              <a:buNone/>
            </a:pPr>
            <a:r>
              <a:rPr lang="en-US" sz="1000" b="1" dirty="0">
                <a:solidFill>
                  <a:srgbClr val="7F7F7F"/>
                </a:solidFill>
                <a:latin typeface="Arial" pitchFamily="34" charset="0"/>
                <a:ea typeface="Arial" pitchFamily="34" charset="-122"/>
                <a:cs typeface="Arial" pitchFamily="34" charset="-120"/>
              </a:rPr>
              <a:t>Benchmark area</a:t>
            </a:r>
            <a:endParaRPr lang="en-US" sz="1000" dirty="0"/>
          </a:p>
        </p:txBody>
      </p:sp>
      <p:sp>
        <p:nvSpPr>
          <p:cNvPr id="6" name="Text 4"/>
          <p:cNvSpPr txBox="1"/>
          <p:nvPr/>
        </p:nvSpPr>
        <p:spPr>
          <a:xfrm>
            <a:off x="3429000" y="1719072"/>
            <a:ext cx="4846320" cy="274320"/>
          </a:xfrm>
          <a:prstGeom prst="rect">
            <a:avLst/>
          </a:prstGeom>
          <a:noFill/>
          <a:ln/>
        </p:spPr>
        <p:txBody>
          <a:bodyPr wrap="square" lIns="0" tIns="0" rIns="0" bIns="0" rtlCol="0" anchor="ctr"/>
          <a:lstStyle/>
          <a:p>
            <a:pPr indent="0" marL="0">
              <a:buNone/>
            </a:pPr>
            <a:r>
              <a:rPr lang="en-US" sz="1000" b="1" dirty="0">
                <a:solidFill>
                  <a:srgbClr val="7F7F7F"/>
                </a:solidFill>
                <a:latin typeface="Arial" pitchFamily="34" charset="0"/>
                <a:ea typeface="Arial" pitchFamily="34" charset="-122"/>
                <a:cs typeface="Arial" pitchFamily="34" charset="-120"/>
              </a:rPr>
              <a:t>What the data shows</a:t>
            </a:r>
            <a:endParaRPr lang="en-US" sz="1000" dirty="0"/>
          </a:p>
        </p:txBody>
      </p:sp>
      <p:sp>
        <p:nvSpPr>
          <p:cNvPr id="7" name="Text 5"/>
          <p:cNvSpPr txBox="1"/>
          <p:nvPr/>
        </p:nvSpPr>
        <p:spPr>
          <a:xfrm>
            <a:off x="8412480" y="1719072"/>
            <a:ext cx="3319272" cy="274320"/>
          </a:xfrm>
          <a:prstGeom prst="rect">
            <a:avLst/>
          </a:prstGeom>
          <a:noFill/>
          <a:ln/>
        </p:spPr>
        <p:txBody>
          <a:bodyPr wrap="square" lIns="0" tIns="0" rIns="0" bIns="0" rtlCol="0" anchor="ctr"/>
          <a:lstStyle/>
          <a:p>
            <a:pPr indent="0" marL="0">
              <a:buNone/>
            </a:pPr>
            <a:r>
              <a:rPr lang="en-US" sz="1000" b="1" dirty="0">
                <a:solidFill>
                  <a:srgbClr val="7F7F7F"/>
                </a:solidFill>
                <a:latin typeface="Arial" pitchFamily="34" charset="0"/>
                <a:ea typeface="Arial" pitchFamily="34" charset="-122"/>
                <a:cs typeface="Arial" pitchFamily="34" charset="-120"/>
              </a:rPr>
              <a:t>So what for Option 3+</a:t>
            </a:r>
            <a:endParaRPr lang="en-US" sz="1000" dirty="0"/>
          </a:p>
        </p:txBody>
      </p:sp>
      <p:sp>
        <p:nvSpPr>
          <p:cNvPr id="8" name="Shape 6"/>
          <p:cNvSpPr/>
          <p:nvPr/>
        </p:nvSpPr>
        <p:spPr>
          <a:xfrm>
            <a:off x="457200" y="2011680"/>
            <a:ext cx="2834640" cy="932688"/>
          </a:xfrm>
          <a:prstGeom prst="rect">
            <a:avLst/>
          </a:prstGeom>
          <a:solidFill>
            <a:srgbClr val="C8102E"/>
          </a:solidFill>
          <a:ln w="12700">
            <a:solidFill>
              <a:srgbClr val="C8102E"/>
            </a:solidFill>
            <a:prstDash val="solid"/>
          </a:ln>
        </p:spPr>
      </p:sp>
      <p:sp>
        <p:nvSpPr>
          <p:cNvPr id="9" name="Text 7"/>
          <p:cNvSpPr txBox="1"/>
          <p:nvPr/>
        </p:nvSpPr>
        <p:spPr>
          <a:xfrm>
            <a:off x="548640" y="2011680"/>
            <a:ext cx="2651760" cy="932688"/>
          </a:xfrm>
          <a:prstGeom prst="rect">
            <a:avLst/>
          </a:prstGeom>
          <a:noFill/>
          <a:ln/>
        </p:spPr>
        <p:txBody>
          <a:bodyPr wrap="square" lIns="635" tIns="635" rIns="635" bIns="635" rtlCol="0" anchor="ctr"/>
          <a:lstStyle/>
          <a:p>
            <a:pPr algn="l" indent="0" marL="0">
              <a:buNone/>
            </a:pPr>
            <a:r>
              <a:rPr lang="en-US" sz="1250" b="1" dirty="0">
                <a:solidFill>
                  <a:srgbClr val="FFFFFF"/>
                </a:solidFill>
                <a:latin typeface="Arial" pitchFamily="34" charset="0"/>
                <a:ea typeface="Arial" pitchFamily="34" charset="-122"/>
                <a:cs typeface="Arial" pitchFamily="34" charset="-120"/>
              </a:rPr>
              <a:t>Market: HSBC is the growth leader</a:t>
            </a:r>
            <a:endParaRPr lang="en-US" sz="1250" dirty="0"/>
          </a:p>
        </p:txBody>
      </p:sp>
      <p:sp>
        <p:nvSpPr>
          <p:cNvPr id="10" name="Shape 8"/>
          <p:cNvSpPr/>
          <p:nvPr/>
        </p:nvSpPr>
        <p:spPr>
          <a:xfrm>
            <a:off x="3429000" y="2011680"/>
            <a:ext cx="4846320" cy="932688"/>
          </a:xfrm>
          <a:prstGeom prst="rect">
            <a:avLst/>
          </a:prstGeom>
          <a:solidFill>
            <a:srgbClr val="EDEDED"/>
          </a:solidFill>
          <a:ln w="12700">
            <a:solidFill>
              <a:srgbClr val="EDEDED"/>
            </a:solidFill>
            <a:prstDash val="solid"/>
          </a:ln>
        </p:spPr>
      </p:sp>
      <p:sp>
        <p:nvSpPr>
          <p:cNvPr id="11" name="Text 9"/>
          <p:cNvSpPr txBox="1"/>
          <p:nvPr/>
        </p:nvSpPr>
        <p:spPr>
          <a:xfrm>
            <a:off x="3520440" y="2011680"/>
            <a:ext cx="4663440" cy="932688"/>
          </a:xfrm>
          <a:prstGeom prst="rect">
            <a:avLst/>
          </a:prstGeom>
          <a:noFill/>
          <a:ln/>
        </p:spPr>
        <p:txBody>
          <a:bodyPr wrap="square" lIns="635" tIns="635" rIns="635" bIns="635" rtlCol="0" anchor="ctr"/>
          <a:lstStyle/>
          <a:p>
            <a:pPr indent="0" marL="0">
              <a:buNone/>
            </a:pPr>
            <a:r>
              <a:rPr lang="en-US" sz="1050" dirty="0">
                <a:solidFill>
                  <a:srgbClr val="222222"/>
                </a:solidFill>
                <a:latin typeface="Arial" pitchFamily="34" charset="0"/>
                <a:ea typeface="Arial" pitchFamily="34" charset="-122"/>
                <a:cs typeface="Arial" pitchFamily="34" charset="-120"/>
              </a:rPr>
              <a:t>HSBC Life premium (DWP) grew 10.2% in 2024 against a peer average of 4.3%. L400 also runs Hang Seng Insurance: USD 12.2bn DWP, 24% of the top-8 market.</a:t>
            </a:r>
            <a:endParaRPr lang="en-US" sz="1050" dirty="0"/>
          </a:p>
        </p:txBody>
      </p:sp>
      <p:sp>
        <p:nvSpPr>
          <p:cNvPr id="12" name="Shape 10"/>
          <p:cNvSpPr/>
          <p:nvPr/>
        </p:nvSpPr>
        <p:spPr>
          <a:xfrm>
            <a:off x="8412480" y="2011680"/>
            <a:ext cx="3319272" cy="932688"/>
          </a:xfrm>
          <a:prstGeom prst="rect">
            <a:avLst/>
          </a:prstGeom>
          <a:solidFill>
            <a:srgbClr val="8C8C8C"/>
          </a:solidFill>
          <a:ln w="12700">
            <a:solidFill>
              <a:srgbClr val="8C8C8C"/>
            </a:solidFill>
            <a:prstDash val="solid"/>
          </a:ln>
        </p:spPr>
      </p:sp>
      <p:sp>
        <p:nvSpPr>
          <p:cNvPr id="13" name="Text 11"/>
          <p:cNvSpPr txBox="1"/>
          <p:nvPr/>
        </p:nvSpPr>
        <p:spPr>
          <a:xfrm>
            <a:off x="8503920" y="2011680"/>
            <a:ext cx="3136392" cy="932688"/>
          </a:xfrm>
          <a:prstGeom prst="rect">
            <a:avLst/>
          </a:prstGeom>
          <a:noFill/>
          <a:ln/>
        </p:spPr>
        <p:txBody>
          <a:bodyPr wrap="square" lIns="635" tIns="635" rIns="635" bIns="635" rtlCol="0" anchor="ctr"/>
          <a:lstStyle/>
          <a:p>
            <a:pPr indent="0" marL="0">
              <a:buNone/>
            </a:pPr>
            <a:r>
              <a:rPr lang="en-US" sz="1050" dirty="0">
                <a:solidFill>
                  <a:srgbClr val="FFFFFF"/>
                </a:solidFill>
                <a:latin typeface="Arial" pitchFamily="34" charset="0"/>
                <a:ea typeface="Arial" pitchFamily="34" charset="-122"/>
                <a:cs typeface="Arial" pitchFamily="34" charset="-120"/>
              </a:rPr>
              <a:t>L400 must keep pace with growth. Stability matters, so avoid a big-bang change.</a:t>
            </a:r>
            <a:endParaRPr lang="en-US" sz="1050" dirty="0"/>
          </a:p>
        </p:txBody>
      </p:sp>
      <p:sp>
        <p:nvSpPr>
          <p:cNvPr id="14" name="Shape 12"/>
          <p:cNvSpPr/>
          <p:nvPr/>
        </p:nvSpPr>
        <p:spPr>
          <a:xfrm>
            <a:off x="457200" y="3054096"/>
            <a:ext cx="2834640" cy="932688"/>
          </a:xfrm>
          <a:prstGeom prst="rect">
            <a:avLst/>
          </a:prstGeom>
          <a:solidFill>
            <a:srgbClr val="C8102E"/>
          </a:solidFill>
          <a:ln w="12700">
            <a:solidFill>
              <a:srgbClr val="C8102E"/>
            </a:solidFill>
            <a:prstDash val="solid"/>
          </a:ln>
        </p:spPr>
      </p:sp>
      <p:sp>
        <p:nvSpPr>
          <p:cNvPr id="15" name="Text 13"/>
          <p:cNvSpPr txBox="1"/>
          <p:nvPr/>
        </p:nvSpPr>
        <p:spPr>
          <a:xfrm>
            <a:off x="548640" y="3054096"/>
            <a:ext cx="2651760" cy="932688"/>
          </a:xfrm>
          <a:prstGeom prst="rect">
            <a:avLst/>
          </a:prstGeom>
          <a:noFill/>
          <a:ln/>
        </p:spPr>
        <p:txBody>
          <a:bodyPr wrap="square" lIns="635" tIns="635" rIns="635" bIns="635" rtlCol="0" anchor="ctr"/>
          <a:lstStyle/>
          <a:p>
            <a:pPr algn="l" indent="0" marL="0">
              <a:buNone/>
            </a:pPr>
            <a:r>
              <a:rPr lang="en-US" sz="1250" b="1" dirty="0">
                <a:solidFill>
                  <a:srgbClr val="FFFFFF"/>
                </a:solidFill>
                <a:latin typeface="Arial" pitchFamily="34" charset="0"/>
                <a:ea typeface="Arial" pitchFamily="34" charset="-122"/>
                <a:cs typeface="Arial" pitchFamily="34" charset="-120"/>
              </a:rPr>
              <a:t>IT cost: small platform, change-heavy</a:t>
            </a:r>
            <a:endParaRPr lang="en-US" sz="1250" dirty="0"/>
          </a:p>
        </p:txBody>
      </p:sp>
      <p:sp>
        <p:nvSpPr>
          <p:cNvPr id="16" name="Shape 14"/>
          <p:cNvSpPr/>
          <p:nvPr/>
        </p:nvSpPr>
        <p:spPr>
          <a:xfrm>
            <a:off x="3429000" y="3054096"/>
            <a:ext cx="4846320" cy="932688"/>
          </a:xfrm>
          <a:prstGeom prst="rect">
            <a:avLst/>
          </a:prstGeom>
          <a:solidFill>
            <a:srgbClr val="EDEDED"/>
          </a:solidFill>
          <a:ln w="12700">
            <a:solidFill>
              <a:srgbClr val="EDEDED"/>
            </a:solidFill>
            <a:prstDash val="solid"/>
          </a:ln>
        </p:spPr>
      </p:sp>
      <p:sp>
        <p:nvSpPr>
          <p:cNvPr id="17" name="Text 15"/>
          <p:cNvSpPr txBox="1"/>
          <p:nvPr/>
        </p:nvSpPr>
        <p:spPr>
          <a:xfrm>
            <a:off x="3520440" y="3054096"/>
            <a:ext cx="4663440" cy="932688"/>
          </a:xfrm>
          <a:prstGeom prst="rect">
            <a:avLst/>
          </a:prstGeom>
          <a:noFill/>
          <a:ln/>
        </p:spPr>
        <p:txBody>
          <a:bodyPr wrap="square" lIns="635" tIns="635" rIns="635" bIns="635" rtlCol="0" anchor="ctr"/>
          <a:lstStyle/>
          <a:p>
            <a:pPr indent="0" marL="0">
              <a:buNone/>
            </a:pPr>
            <a:r>
              <a:rPr lang="en-US" sz="1050" dirty="0">
                <a:solidFill>
                  <a:srgbClr val="222222"/>
                </a:solidFill>
                <a:latin typeface="Arial" pitchFamily="34" charset="0"/>
                <a:ea typeface="Arial" pitchFamily="34" charset="-122"/>
                <a:cs typeface="Arial" pitchFamily="34" charset="-120"/>
              </a:rPr>
              <a:t>L400 costs USD 9.9m (0.08% of DWP). 74% is change spend, external labour is 39% (peers 19%) and cloud is 0.1%.</a:t>
            </a:r>
            <a:endParaRPr lang="en-US" sz="1050" dirty="0"/>
          </a:p>
        </p:txBody>
      </p:sp>
      <p:sp>
        <p:nvSpPr>
          <p:cNvPr id="18" name="Shape 16"/>
          <p:cNvSpPr/>
          <p:nvPr/>
        </p:nvSpPr>
        <p:spPr>
          <a:xfrm>
            <a:off x="8412480" y="3054096"/>
            <a:ext cx="3319272" cy="932688"/>
          </a:xfrm>
          <a:prstGeom prst="rect">
            <a:avLst/>
          </a:prstGeom>
          <a:solidFill>
            <a:srgbClr val="8C8C8C"/>
          </a:solidFill>
          <a:ln w="12700">
            <a:solidFill>
              <a:srgbClr val="8C8C8C"/>
            </a:solidFill>
            <a:prstDash val="solid"/>
          </a:ln>
        </p:spPr>
      </p:sp>
      <p:sp>
        <p:nvSpPr>
          <p:cNvPr id="19" name="Text 17"/>
          <p:cNvSpPr txBox="1"/>
          <p:nvPr/>
        </p:nvSpPr>
        <p:spPr>
          <a:xfrm>
            <a:off x="8503920" y="3054096"/>
            <a:ext cx="3136392" cy="932688"/>
          </a:xfrm>
          <a:prstGeom prst="rect">
            <a:avLst/>
          </a:prstGeom>
          <a:noFill/>
          <a:ln/>
        </p:spPr>
        <p:txBody>
          <a:bodyPr wrap="square" lIns="635" tIns="635" rIns="635" bIns="635" rtlCol="0" anchor="ctr"/>
          <a:lstStyle/>
          <a:p>
            <a:pPr indent="0" marL="0">
              <a:buNone/>
            </a:pPr>
            <a:r>
              <a:rPr lang="en-US" sz="1050" dirty="0">
                <a:solidFill>
                  <a:srgbClr val="FFFFFF"/>
                </a:solidFill>
                <a:latin typeface="Arial" pitchFamily="34" charset="0"/>
                <a:ea typeface="Arial" pitchFamily="34" charset="-122"/>
                <a:cs typeface="Arial" pitchFamily="34" charset="-120"/>
              </a:rPr>
              <a:t>Money already goes into change. Steer it with the lenses and reduce vendor dependence.</a:t>
            </a:r>
            <a:endParaRPr lang="en-US" sz="1050" dirty="0"/>
          </a:p>
        </p:txBody>
      </p:sp>
      <p:sp>
        <p:nvSpPr>
          <p:cNvPr id="20" name="Shape 18"/>
          <p:cNvSpPr/>
          <p:nvPr/>
        </p:nvSpPr>
        <p:spPr>
          <a:xfrm>
            <a:off x="457200" y="4096512"/>
            <a:ext cx="2834640" cy="932688"/>
          </a:xfrm>
          <a:prstGeom prst="rect">
            <a:avLst/>
          </a:prstGeom>
          <a:solidFill>
            <a:srgbClr val="C8102E"/>
          </a:solidFill>
          <a:ln w="12700">
            <a:solidFill>
              <a:srgbClr val="C8102E"/>
            </a:solidFill>
            <a:prstDash val="solid"/>
          </a:ln>
        </p:spPr>
      </p:sp>
      <p:sp>
        <p:nvSpPr>
          <p:cNvPr id="21" name="Text 19"/>
          <p:cNvSpPr txBox="1"/>
          <p:nvPr/>
        </p:nvSpPr>
        <p:spPr>
          <a:xfrm>
            <a:off x="548640" y="4096512"/>
            <a:ext cx="2651760" cy="932688"/>
          </a:xfrm>
          <a:prstGeom prst="rect">
            <a:avLst/>
          </a:prstGeom>
          <a:noFill/>
          <a:ln/>
        </p:spPr>
        <p:txBody>
          <a:bodyPr wrap="square" lIns="635" tIns="635" rIns="635" bIns="635" rtlCol="0" anchor="ctr"/>
          <a:lstStyle/>
          <a:p>
            <a:pPr algn="l" indent="0" marL="0">
              <a:buNone/>
            </a:pPr>
            <a:r>
              <a:rPr lang="en-US" sz="1250" b="1" dirty="0">
                <a:solidFill>
                  <a:srgbClr val="FFFFFF"/>
                </a:solidFill>
                <a:latin typeface="Arial" pitchFamily="34" charset="0"/>
                <a:ea typeface="Arial" pitchFamily="34" charset="-122"/>
                <a:cs typeface="Arial" pitchFamily="34" charset="-120"/>
              </a:rPr>
              <a:t>PAS: lean per premium, costly per case</a:t>
            </a:r>
            <a:endParaRPr lang="en-US" sz="1250" dirty="0"/>
          </a:p>
        </p:txBody>
      </p:sp>
      <p:sp>
        <p:nvSpPr>
          <p:cNvPr id="22" name="Shape 20"/>
          <p:cNvSpPr/>
          <p:nvPr/>
        </p:nvSpPr>
        <p:spPr>
          <a:xfrm>
            <a:off x="3429000" y="4096512"/>
            <a:ext cx="4846320" cy="932688"/>
          </a:xfrm>
          <a:prstGeom prst="rect">
            <a:avLst/>
          </a:prstGeom>
          <a:solidFill>
            <a:srgbClr val="EDEDED"/>
          </a:solidFill>
          <a:ln w="12700">
            <a:solidFill>
              <a:srgbClr val="EDEDED"/>
            </a:solidFill>
            <a:prstDash val="solid"/>
          </a:ln>
        </p:spPr>
      </p:sp>
      <p:sp>
        <p:nvSpPr>
          <p:cNvPr id="23" name="Text 21"/>
          <p:cNvSpPr txBox="1"/>
          <p:nvPr/>
        </p:nvSpPr>
        <p:spPr>
          <a:xfrm>
            <a:off x="3520440" y="4096512"/>
            <a:ext cx="4663440" cy="932688"/>
          </a:xfrm>
          <a:prstGeom prst="rect">
            <a:avLst/>
          </a:prstGeom>
          <a:noFill/>
          <a:ln/>
        </p:spPr>
        <p:txBody>
          <a:bodyPr wrap="square" lIns="635" tIns="635" rIns="635" bIns="635" rtlCol="0" anchor="ctr"/>
          <a:lstStyle/>
          <a:p>
            <a:pPr indent="0" marL="0">
              <a:buNone/>
            </a:pPr>
            <a:r>
              <a:rPr lang="en-US" sz="1050" dirty="0">
                <a:solidFill>
                  <a:srgbClr val="222222"/>
                </a:solidFill>
                <a:latin typeface="Arial" pitchFamily="34" charset="0"/>
                <a:ea typeface="Arial" pitchFamily="34" charset="-122"/>
                <a:cs typeface="Arial" pitchFamily="34" charset="-120"/>
              </a:rPr>
              <a:t>DWP per PAS FTE is USD 185m against a peer average of 168m. PAS cost per servicing case is 6.5× Sun Life. STP is not measured; peers report &gt;10% to &gt;70%.</a:t>
            </a:r>
            <a:endParaRPr lang="en-US" sz="1050" dirty="0"/>
          </a:p>
        </p:txBody>
      </p:sp>
      <p:sp>
        <p:nvSpPr>
          <p:cNvPr id="24" name="Shape 22"/>
          <p:cNvSpPr/>
          <p:nvPr/>
        </p:nvSpPr>
        <p:spPr>
          <a:xfrm>
            <a:off x="8412480" y="4096512"/>
            <a:ext cx="3319272" cy="932688"/>
          </a:xfrm>
          <a:prstGeom prst="rect">
            <a:avLst/>
          </a:prstGeom>
          <a:solidFill>
            <a:srgbClr val="8C8C8C"/>
          </a:solidFill>
          <a:ln w="12700">
            <a:solidFill>
              <a:srgbClr val="8C8C8C"/>
            </a:solidFill>
            <a:prstDash val="solid"/>
          </a:ln>
        </p:spPr>
      </p:sp>
      <p:sp>
        <p:nvSpPr>
          <p:cNvPr id="25" name="Text 23"/>
          <p:cNvSpPr txBox="1"/>
          <p:nvPr/>
        </p:nvSpPr>
        <p:spPr>
          <a:xfrm>
            <a:off x="8503920" y="4096512"/>
            <a:ext cx="3136392" cy="932688"/>
          </a:xfrm>
          <a:prstGeom prst="rect">
            <a:avLst/>
          </a:prstGeom>
          <a:noFill/>
          <a:ln/>
        </p:spPr>
        <p:txBody>
          <a:bodyPr wrap="square" lIns="635" tIns="635" rIns="635" bIns="635" rtlCol="0" anchor="ctr"/>
          <a:lstStyle/>
          <a:p>
            <a:pPr indent="0" marL="0">
              <a:buNone/>
            </a:pPr>
            <a:r>
              <a:rPr lang="en-US" sz="1050" dirty="0">
                <a:solidFill>
                  <a:srgbClr val="FFFFFF"/>
                </a:solidFill>
                <a:latin typeface="Arial" pitchFamily="34" charset="0"/>
                <a:ea typeface="Arial" pitchFamily="34" charset="-122"/>
                <a:cs typeface="Arial" pitchFamily="34" charset="-120"/>
              </a:rPr>
              <a:t>Automation is the main lever. Set an STP baseline first.</a:t>
            </a:r>
            <a:endParaRPr lang="en-US" sz="1050" dirty="0"/>
          </a:p>
        </p:txBody>
      </p:sp>
      <p:sp>
        <p:nvSpPr>
          <p:cNvPr id="26" name="Shape 24"/>
          <p:cNvSpPr/>
          <p:nvPr/>
        </p:nvSpPr>
        <p:spPr>
          <a:xfrm>
            <a:off x="457200" y="5138928"/>
            <a:ext cx="2834640" cy="932688"/>
          </a:xfrm>
          <a:prstGeom prst="rect">
            <a:avLst/>
          </a:prstGeom>
          <a:solidFill>
            <a:srgbClr val="C8102E"/>
          </a:solidFill>
          <a:ln w="12700">
            <a:solidFill>
              <a:srgbClr val="C8102E"/>
            </a:solidFill>
            <a:prstDash val="solid"/>
          </a:ln>
        </p:spPr>
      </p:sp>
      <p:sp>
        <p:nvSpPr>
          <p:cNvPr id="27" name="Text 25"/>
          <p:cNvSpPr txBox="1"/>
          <p:nvPr/>
        </p:nvSpPr>
        <p:spPr>
          <a:xfrm>
            <a:off x="548640" y="5138928"/>
            <a:ext cx="2651760" cy="932688"/>
          </a:xfrm>
          <a:prstGeom prst="rect">
            <a:avLst/>
          </a:prstGeom>
          <a:noFill/>
          <a:ln/>
        </p:spPr>
        <p:txBody>
          <a:bodyPr wrap="square" lIns="635" tIns="635" rIns="635" bIns="635" rtlCol="0" anchor="ctr"/>
          <a:lstStyle/>
          <a:p>
            <a:pPr algn="l" indent="0" marL="0">
              <a:buNone/>
            </a:pPr>
            <a:r>
              <a:rPr lang="en-US" sz="1250" b="1" dirty="0">
                <a:solidFill>
                  <a:srgbClr val="FFFFFF"/>
                </a:solidFill>
                <a:latin typeface="Arial" pitchFamily="34" charset="0"/>
                <a:ea typeface="Arial" pitchFamily="34" charset="-122"/>
                <a:cs typeface="Arial" pitchFamily="34" charset="-120"/>
              </a:rPr>
              <a:t>Outcome: premium scales, headcount too</a:t>
            </a:r>
            <a:endParaRPr lang="en-US" sz="1250" dirty="0"/>
          </a:p>
        </p:txBody>
      </p:sp>
      <p:sp>
        <p:nvSpPr>
          <p:cNvPr id="28" name="Shape 26"/>
          <p:cNvSpPr/>
          <p:nvPr/>
        </p:nvSpPr>
        <p:spPr>
          <a:xfrm>
            <a:off x="3429000" y="5138928"/>
            <a:ext cx="4846320" cy="932688"/>
          </a:xfrm>
          <a:prstGeom prst="rect">
            <a:avLst/>
          </a:prstGeom>
          <a:solidFill>
            <a:srgbClr val="EDEDED"/>
          </a:solidFill>
          <a:ln w="12700">
            <a:solidFill>
              <a:srgbClr val="EDEDED"/>
            </a:solidFill>
            <a:prstDash val="solid"/>
          </a:ln>
        </p:spPr>
      </p:sp>
      <p:sp>
        <p:nvSpPr>
          <p:cNvPr id="29" name="Text 27"/>
          <p:cNvSpPr txBox="1"/>
          <p:nvPr/>
        </p:nvSpPr>
        <p:spPr>
          <a:xfrm>
            <a:off x="3520440" y="5138928"/>
            <a:ext cx="4663440" cy="932688"/>
          </a:xfrm>
          <a:prstGeom prst="rect">
            <a:avLst/>
          </a:prstGeom>
          <a:noFill/>
          <a:ln/>
        </p:spPr>
        <p:txBody>
          <a:bodyPr wrap="square" lIns="635" tIns="635" rIns="635" bIns="635" rtlCol="0" anchor="ctr"/>
          <a:lstStyle/>
          <a:p>
            <a:pPr indent="0" marL="0">
              <a:buNone/>
            </a:pPr>
            <a:r>
              <a:rPr lang="en-US" sz="1050" dirty="0">
                <a:solidFill>
                  <a:srgbClr val="222222"/>
                </a:solidFill>
                <a:latin typeface="Arial" pitchFamily="34" charset="0"/>
                <a:ea typeface="Arial" pitchFamily="34" charset="-122"/>
                <a:cs typeface="Arial" pitchFamily="34" charset="-120"/>
              </a:rPr>
              <a:t>Premium is outgrowing L400 cost (+7.6pp) but not L400 headcount (−6.9pp). Premium per policy is high (USD 16.4k DWP).</a:t>
            </a:r>
            <a:endParaRPr lang="en-US" sz="1050" dirty="0"/>
          </a:p>
        </p:txBody>
      </p:sp>
      <p:sp>
        <p:nvSpPr>
          <p:cNvPr id="30" name="Shape 28"/>
          <p:cNvSpPr/>
          <p:nvPr/>
        </p:nvSpPr>
        <p:spPr>
          <a:xfrm>
            <a:off x="8412480" y="5138928"/>
            <a:ext cx="3319272" cy="932688"/>
          </a:xfrm>
          <a:prstGeom prst="rect">
            <a:avLst/>
          </a:prstGeom>
          <a:solidFill>
            <a:srgbClr val="8C8C8C"/>
          </a:solidFill>
          <a:ln w="12700">
            <a:solidFill>
              <a:srgbClr val="8C8C8C"/>
            </a:solidFill>
            <a:prstDash val="solid"/>
          </a:ln>
        </p:spPr>
      </p:sp>
      <p:sp>
        <p:nvSpPr>
          <p:cNvPr id="31" name="Text 29"/>
          <p:cNvSpPr txBox="1"/>
          <p:nvPr/>
        </p:nvSpPr>
        <p:spPr>
          <a:xfrm>
            <a:off x="8503920" y="5138928"/>
            <a:ext cx="3136392" cy="932688"/>
          </a:xfrm>
          <a:prstGeom prst="rect">
            <a:avLst/>
          </a:prstGeom>
          <a:noFill/>
          <a:ln/>
        </p:spPr>
        <p:txBody>
          <a:bodyPr wrap="square" lIns="635" tIns="635" rIns="635" bIns="635" rtlCol="0" anchor="ctr"/>
          <a:lstStyle/>
          <a:p>
            <a:pPr indent="0" marL="0">
              <a:buNone/>
            </a:pPr>
            <a:r>
              <a:rPr lang="en-US" sz="1050" dirty="0">
                <a:solidFill>
                  <a:srgbClr val="FFFFFF"/>
                </a:solidFill>
                <a:latin typeface="Arial" pitchFamily="34" charset="0"/>
                <a:ea typeface="Arial" pitchFamily="34" charset="-122"/>
                <a:cs typeface="Arial" pitchFamily="34" charset="-120"/>
              </a:rPr>
              <a:t>Scale through automation and segment-specific platforms, not more FTE.</a:t>
            </a:r>
            <a:endParaRPr lang="en-US" sz="1050" dirty="0"/>
          </a:p>
        </p:txBody>
      </p:sp>
      <p:sp>
        <p:nvSpPr>
          <p:cNvPr id="32" name="Text 30"/>
          <p:cNvSpPr txBox="1"/>
          <p:nvPr/>
        </p:nvSpPr>
        <p:spPr>
          <a:xfrm>
            <a:off x="457200" y="6419088"/>
            <a:ext cx="10725912" cy="320040"/>
          </a:xfrm>
          <a:prstGeom prst="rect">
            <a:avLst/>
          </a:prstGeom>
          <a:noFill/>
          <a:ln/>
        </p:spPr>
        <p:txBody>
          <a:bodyPr wrap="square" lIns="0" tIns="0" rIns="0" bIns="0" rtlCol="0" anchor="b"/>
          <a:lstStyle/>
          <a:p>
            <a:pPr indent="0" marL="0">
              <a:buNone/>
            </a:pPr>
            <a:r>
              <a:rPr lang="en-US" sz="850" dirty="0">
                <a:solidFill>
                  <a:srgbClr val="7F7F7F"/>
                </a:solidFill>
                <a:latin typeface="Arial" pitchFamily="34" charset="0"/>
                <a:ea typeface="Arial" pitchFamily="34" charset="-122"/>
                <a:cs typeface="Arial" pitchFamily="34" charset="-120"/>
              </a:rPr>
              <a:t>Source: HSBC Life PAS L400 benchmarking workbook ('HSBC vs Peers KPI – ICT basis'). HSBC FY2025 actual; LE2026 = Jan–Aug annualised. HK DWP 2024 (top 8). USD at HKD 7.8.</a:t>
            </a:r>
            <a:endParaRPr lang="en-US" sz="850" dirty="0"/>
          </a:p>
        </p:txBody>
      </p:sp>
      <p:sp>
        <p:nvSpPr>
          <p:cNvPr id="33" name="Text 31"/>
          <p:cNvSpPr txBox="1"/>
          <p:nvPr/>
        </p:nvSpPr>
        <p:spPr>
          <a:xfrm>
            <a:off x="11274552" y="6419088"/>
            <a:ext cx="457200" cy="320040"/>
          </a:xfrm>
          <a:prstGeom prst="rect">
            <a:avLst/>
          </a:prstGeom>
          <a:noFill/>
          <a:ln/>
        </p:spPr>
        <p:txBody>
          <a:bodyPr wrap="square" lIns="0" tIns="0" rIns="0" bIns="0" rtlCol="0" anchor="b"/>
          <a:lstStyle/>
          <a:p>
            <a:pPr algn="r" indent="0" marL="0">
              <a:buNone/>
            </a:pPr>
            <a:r>
              <a:rPr lang="en-US" sz="900" dirty="0">
                <a:solidFill>
                  <a:srgbClr val="7F7F7F"/>
                </a:solidFill>
                <a:latin typeface="Arial" pitchFamily="34" charset="0"/>
                <a:ea typeface="Arial" pitchFamily="34" charset="-122"/>
                <a:cs typeface="Arial"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7315200" cy="274320"/>
          </a:xfrm>
          <a:prstGeom prst="rect">
            <a:avLst/>
          </a:prstGeom>
          <a:noFill/>
          <a:ln/>
        </p:spPr>
        <p:txBody>
          <a:bodyPr wrap="square" lIns="0" tIns="0" rIns="0" bIns="0" rtlCol="0" anchor="ctr"/>
          <a:lstStyle/>
          <a:p>
            <a:pPr indent="0" marL="0">
              <a:buNone/>
            </a:pPr>
            <a:r>
              <a:rPr lang="en-US" sz="1300" b="1" dirty="0">
                <a:solidFill>
                  <a:srgbClr val="C8102E"/>
                </a:solidFill>
                <a:latin typeface="Arial" pitchFamily="34" charset="0"/>
                <a:ea typeface="Arial" pitchFamily="34" charset="-122"/>
                <a:cs typeface="Arial" pitchFamily="34" charset="-120"/>
              </a:rPr>
              <a:t>02 </a:t>
            </a:r>
            <a:pPr indent="0" marL="0">
              <a:buNone/>
            </a:pPr>
            <a:r>
              <a:rPr lang="en-US" sz="1300" dirty="0">
                <a:solidFill>
                  <a:srgbClr val="C8102E"/>
                </a:solidFill>
                <a:latin typeface="Arial" pitchFamily="34" charset="0"/>
                <a:ea typeface="Arial" pitchFamily="34" charset="-122"/>
                <a:cs typeface="Arial" pitchFamily="34" charset="-120"/>
              </a:rPr>
              <a:t>| Market Context</a:t>
            </a:r>
            <a:endParaRPr lang="en-US" sz="1300" dirty="0"/>
          </a:p>
        </p:txBody>
      </p:sp>
      <p:sp>
        <p:nvSpPr>
          <p:cNvPr id="3" name="Text 1"/>
          <p:cNvSpPr txBox="1"/>
          <p:nvPr/>
        </p:nvSpPr>
        <p:spPr>
          <a:xfrm>
            <a:off x="457200" y="502920"/>
            <a:ext cx="11274552" cy="502920"/>
          </a:xfrm>
          <a:prstGeom prst="rect">
            <a:avLst/>
          </a:prstGeom>
          <a:noFill/>
          <a:ln/>
        </p:spPr>
        <p:txBody>
          <a:bodyPr wrap="square" lIns="0" tIns="0" rIns="0" bIns="0" rtlCol="0" anchor="t"/>
          <a:lstStyle/>
          <a:p>
            <a:pPr indent="0" marL="0">
              <a:buNone/>
            </a:pPr>
            <a:r>
              <a:rPr lang="en-US" sz="2200" dirty="0">
                <a:solidFill>
                  <a:srgbClr val="222222"/>
                </a:solidFill>
                <a:latin typeface="Arial" pitchFamily="34" charset="0"/>
                <a:ea typeface="Arial" pitchFamily="34" charset="-122"/>
                <a:cs typeface="Arial" pitchFamily="34" charset="-120"/>
              </a:rPr>
              <a:t>HSBC is outgrowing the Hong Kong market, and L400 carries the largest book</a:t>
            </a:r>
            <a:endParaRPr lang="en-US" sz="2200" dirty="0"/>
          </a:p>
        </p:txBody>
      </p:sp>
      <p:sp>
        <p:nvSpPr>
          <p:cNvPr id="4" name="Text 2"/>
          <p:cNvSpPr txBox="1"/>
          <p:nvPr/>
        </p:nvSpPr>
        <p:spPr>
          <a:xfrm>
            <a:off x="457200" y="1024128"/>
            <a:ext cx="11274552" cy="548640"/>
          </a:xfrm>
          <a:prstGeom prst="rect">
            <a:avLst/>
          </a:prstGeom>
          <a:noFill/>
          <a:ln/>
        </p:spPr>
        <p:txBody>
          <a:bodyPr wrap="square" lIns="0" tIns="0" rIns="0" bIns="0" rtlCol="0" anchor="t"/>
          <a:lstStyle/>
          <a:p>
            <a:pPr indent="0" marL="0">
              <a:buNone/>
            </a:pPr>
            <a:r>
              <a:rPr lang="en-US" sz="1250" b="1" dirty="0">
                <a:solidFill>
                  <a:srgbClr val="222222"/>
                </a:solidFill>
                <a:latin typeface="Arial" pitchFamily="34" charset="0"/>
                <a:ea typeface="Arial" pitchFamily="34" charset="-122"/>
                <a:cs typeface="Arial" pitchFamily="34" charset="-120"/>
              </a:rPr>
              <a:t>Key takeaway: </a:t>
            </a:r>
            <a:pPr indent="0" marL="0">
              <a:buNone/>
            </a:pPr>
            <a:r>
              <a:rPr lang="en-US" sz="1250" dirty="0">
                <a:solidFill>
                  <a:srgbClr val="222222"/>
                </a:solidFill>
                <a:latin typeface="Arial" pitchFamily="34" charset="0"/>
                <a:ea typeface="Arial" pitchFamily="34" charset="-122"/>
                <a:cs typeface="Arial" pitchFamily="34" charset="-120"/>
              </a:rPr>
              <a:t>HSBC Life grew 10.2% in 2024 and 8.3% a year since 2020, while AIA and Prudential shrank. With Hang Seng Insurance, L400 supports USD 12.2bn of premium, 24% of the top-8 market. The PAS has to support growth without disruption.</a:t>
            </a:r>
            <a:endParaRPr lang="en-US" sz="1250" dirty="0"/>
          </a:p>
        </p:txBody>
      </p:sp>
      <p:graphicFrame>
        <p:nvGraphicFramePr>
          <p:cNvPr id="5" name="Chart 0" descr=""/>
          <p:cNvGraphicFramePr/>
          <p:nvPr/>
        </p:nvGraphicFramePr>
        <p:xfrm>
          <a:off x="457200" y="1783080"/>
          <a:ext cx="6400800" cy="443484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7223760" y="1783080"/>
            <a:ext cx="4507992" cy="347472"/>
          </a:xfrm>
          <a:prstGeom prst="rect">
            <a:avLst/>
          </a:prstGeom>
          <a:solidFill>
            <a:srgbClr val="C8102E"/>
          </a:solidFill>
          <a:ln w="12700">
            <a:solidFill>
              <a:srgbClr val="C8102E"/>
            </a:solidFill>
            <a:prstDash val="solid"/>
          </a:ln>
        </p:spPr>
      </p:sp>
      <p:sp>
        <p:nvSpPr>
          <p:cNvPr id="7" name="Text 4"/>
          <p:cNvSpPr txBox="1"/>
          <p:nvPr/>
        </p:nvSpPr>
        <p:spPr>
          <a:xfrm>
            <a:off x="7315200" y="1783080"/>
            <a:ext cx="4325112" cy="347472"/>
          </a:xfrm>
          <a:prstGeom prst="rect">
            <a:avLst/>
          </a:prstGeom>
          <a:noFill/>
          <a:ln/>
        </p:spPr>
        <p:txBody>
          <a:bodyPr wrap="square" lIns="635" tIns="635" rIns="635" bIns="635" rtlCol="0" anchor="ctr"/>
          <a:lstStyle/>
          <a:p>
            <a:pPr algn="l" indent="0" marL="0">
              <a:buNone/>
            </a:pPr>
            <a:r>
              <a:rPr lang="en-US" sz="1200" b="1" dirty="0">
                <a:solidFill>
                  <a:srgbClr val="FFFFFF"/>
                </a:solidFill>
                <a:latin typeface="Arial" pitchFamily="34" charset="0"/>
                <a:ea typeface="Arial" pitchFamily="34" charset="-122"/>
                <a:cs typeface="Arial" pitchFamily="34" charset="-120"/>
              </a:rPr>
              <a:t>DWP 2024 (USD bn) and share of top 8</a:t>
            </a:r>
            <a:endParaRPr lang="en-US" sz="1200" dirty="0"/>
          </a:p>
        </p:txBody>
      </p:sp>
      <p:sp>
        <p:nvSpPr>
          <p:cNvPr id="8" name="Text 5"/>
          <p:cNvSpPr txBox="1"/>
          <p:nvPr/>
        </p:nvSpPr>
        <p:spPr>
          <a:xfrm>
            <a:off x="7269480" y="2240280"/>
            <a:ext cx="2162556" cy="548640"/>
          </a:xfrm>
          <a:prstGeom prst="rect">
            <a:avLst/>
          </a:prstGeom>
          <a:noFill/>
          <a:ln/>
        </p:spPr>
        <p:txBody>
          <a:bodyPr wrap="square" lIns="0" tIns="0" rIns="0" bIns="0" rtlCol="0" anchor="ctr"/>
          <a:lstStyle/>
          <a:p>
            <a:pPr indent="0" marL="0">
              <a:buNone/>
            </a:pPr>
            <a:r>
              <a:rPr lang="en-US" sz="3000" b="1" dirty="0">
                <a:solidFill>
                  <a:srgbClr val="C8102E"/>
                </a:solidFill>
                <a:latin typeface="Arial" pitchFamily="34" charset="0"/>
                <a:ea typeface="Arial" pitchFamily="34" charset="-122"/>
                <a:cs typeface="Arial" pitchFamily="34" charset="-120"/>
              </a:rPr>
              <a:t>12.2</a:t>
            </a:r>
            <a:endParaRPr lang="en-US" sz="3000" dirty="0"/>
          </a:p>
        </p:txBody>
      </p:sp>
      <p:sp>
        <p:nvSpPr>
          <p:cNvPr id="9" name="Text 6"/>
          <p:cNvSpPr txBox="1"/>
          <p:nvPr/>
        </p:nvSpPr>
        <p:spPr>
          <a:xfrm>
            <a:off x="7269480" y="2807208"/>
            <a:ext cx="2162556" cy="502920"/>
          </a:xfrm>
          <a:prstGeom prst="rect">
            <a:avLst/>
          </a:prstGeom>
          <a:noFill/>
          <a:ln/>
        </p:spPr>
        <p:txBody>
          <a:bodyPr wrap="square" lIns="0" tIns="0" rIns="0" bIns="0" rtlCol="0" anchor="t"/>
          <a:lstStyle/>
          <a:p>
            <a:pPr indent="0" marL="0">
              <a:buNone/>
            </a:pPr>
            <a:r>
              <a:rPr lang="en-US" sz="1050" dirty="0">
                <a:solidFill>
                  <a:srgbClr val="222222"/>
                </a:solidFill>
                <a:latin typeface="Arial" pitchFamily="34" charset="0"/>
                <a:ea typeface="Arial" pitchFamily="34" charset="-122"/>
                <a:cs typeface="Arial" pitchFamily="34" charset="-120"/>
              </a:rPr>
              <a:t>HSBC Group on L400 (24% share, #1)</a:t>
            </a:r>
            <a:endParaRPr lang="en-US" sz="1050" dirty="0"/>
          </a:p>
        </p:txBody>
      </p:sp>
      <p:sp>
        <p:nvSpPr>
          <p:cNvPr id="10" name="Text 7"/>
          <p:cNvSpPr txBox="1"/>
          <p:nvPr/>
        </p:nvSpPr>
        <p:spPr>
          <a:xfrm>
            <a:off x="9614916" y="2240280"/>
            <a:ext cx="2162556" cy="548640"/>
          </a:xfrm>
          <a:prstGeom prst="rect">
            <a:avLst/>
          </a:prstGeom>
          <a:noFill/>
          <a:ln/>
        </p:spPr>
        <p:txBody>
          <a:bodyPr wrap="square" lIns="0" tIns="0" rIns="0" bIns="0" rtlCol="0" anchor="ctr"/>
          <a:lstStyle/>
          <a:p>
            <a:pPr indent="0" marL="0">
              <a:buNone/>
            </a:pPr>
            <a:r>
              <a:rPr lang="en-US" sz="3000" b="1" dirty="0">
                <a:solidFill>
                  <a:srgbClr val="C8102E"/>
                </a:solidFill>
                <a:latin typeface="Arial" pitchFamily="34" charset="0"/>
                <a:ea typeface="Arial" pitchFamily="34" charset="-122"/>
                <a:cs typeface="Arial" pitchFamily="34" charset="-120"/>
              </a:rPr>
              <a:t>7.8</a:t>
            </a:r>
            <a:endParaRPr lang="en-US" sz="3000" dirty="0"/>
          </a:p>
        </p:txBody>
      </p:sp>
      <p:sp>
        <p:nvSpPr>
          <p:cNvPr id="11" name="Text 8"/>
          <p:cNvSpPr txBox="1"/>
          <p:nvPr/>
        </p:nvSpPr>
        <p:spPr>
          <a:xfrm>
            <a:off x="9614916" y="2807208"/>
            <a:ext cx="2162556" cy="502920"/>
          </a:xfrm>
          <a:prstGeom prst="rect">
            <a:avLst/>
          </a:prstGeom>
          <a:noFill/>
          <a:ln/>
        </p:spPr>
        <p:txBody>
          <a:bodyPr wrap="square" lIns="0" tIns="0" rIns="0" bIns="0" rtlCol="0" anchor="t"/>
          <a:lstStyle/>
          <a:p>
            <a:pPr indent="0" marL="0">
              <a:buNone/>
            </a:pPr>
            <a:r>
              <a:rPr lang="en-US" sz="1050" dirty="0">
                <a:solidFill>
                  <a:srgbClr val="222222"/>
                </a:solidFill>
                <a:latin typeface="Arial" pitchFamily="34" charset="0"/>
                <a:ea typeface="Arial" pitchFamily="34" charset="-122"/>
                <a:cs typeface="Arial" pitchFamily="34" charset="-120"/>
              </a:rPr>
              <a:t>HSBC Life alone (15% share, #3)</a:t>
            </a:r>
            <a:endParaRPr lang="en-US" sz="1050" dirty="0"/>
          </a:p>
        </p:txBody>
      </p:sp>
      <p:sp>
        <p:nvSpPr>
          <p:cNvPr id="12" name="Text 9"/>
          <p:cNvSpPr txBox="1"/>
          <p:nvPr/>
        </p:nvSpPr>
        <p:spPr>
          <a:xfrm>
            <a:off x="7269480" y="3383280"/>
            <a:ext cx="2162556" cy="548640"/>
          </a:xfrm>
          <a:prstGeom prst="rect">
            <a:avLst/>
          </a:prstGeom>
          <a:noFill/>
          <a:ln/>
        </p:spPr>
        <p:txBody>
          <a:bodyPr wrap="square" lIns="0" tIns="0" rIns="0" bIns="0" rtlCol="0" anchor="ctr"/>
          <a:lstStyle/>
          <a:p>
            <a:pPr indent="0" marL="0">
              <a:buNone/>
            </a:pPr>
            <a:r>
              <a:rPr lang="en-US" sz="3000" b="1" dirty="0">
                <a:solidFill>
                  <a:srgbClr val="595959"/>
                </a:solidFill>
                <a:latin typeface="Arial" pitchFamily="34" charset="0"/>
                <a:ea typeface="Arial" pitchFamily="34" charset="-122"/>
                <a:cs typeface="Arial" pitchFamily="34" charset="-120"/>
              </a:rPr>
              <a:t>11.3</a:t>
            </a:r>
            <a:endParaRPr lang="en-US" sz="3000" dirty="0"/>
          </a:p>
        </p:txBody>
      </p:sp>
      <p:sp>
        <p:nvSpPr>
          <p:cNvPr id="13" name="Text 10"/>
          <p:cNvSpPr txBox="1"/>
          <p:nvPr/>
        </p:nvSpPr>
        <p:spPr>
          <a:xfrm>
            <a:off x="7269480" y="3950208"/>
            <a:ext cx="2162556" cy="502920"/>
          </a:xfrm>
          <a:prstGeom prst="rect">
            <a:avLst/>
          </a:prstGeom>
          <a:noFill/>
          <a:ln/>
        </p:spPr>
        <p:txBody>
          <a:bodyPr wrap="square" lIns="0" tIns="0" rIns="0" bIns="0" rtlCol="0" anchor="t"/>
          <a:lstStyle/>
          <a:p>
            <a:pPr indent="0" marL="0">
              <a:buNone/>
            </a:pPr>
            <a:r>
              <a:rPr lang="en-US" sz="1050" dirty="0">
                <a:solidFill>
                  <a:srgbClr val="222222"/>
                </a:solidFill>
                <a:latin typeface="Arial" pitchFamily="34" charset="0"/>
                <a:ea typeface="Arial" pitchFamily="34" charset="-122"/>
                <a:cs typeface="Arial" pitchFamily="34" charset="-120"/>
              </a:rPr>
              <a:t>AIA (22% share)</a:t>
            </a:r>
            <a:endParaRPr lang="en-US" sz="1050" dirty="0"/>
          </a:p>
        </p:txBody>
      </p:sp>
      <p:sp>
        <p:nvSpPr>
          <p:cNvPr id="14" name="Text 11"/>
          <p:cNvSpPr txBox="1"/>
          <p:nvPr/>
        </p:nvSpPr>
        <p:spPr>
          <a:xfrm>
            <a:off x="9614916" y="3383280"/>
            <a:ext cx="2162556" cy="548640"/>
          </a:xfrm>
          <a:prstGeom prst="rect">
            <a:avLst/>
          </a:prstGeom>
          <a:noFill/>
          <a:ln/>
        </p:spPr>
        <p:txBody>
          <a:bodyPr wrap="square" lIns="0" tIns="0" rIns="0" bIns="0" rtlCol="0" anchor="ctr"/>
          <a:lstStyle/>
          <a:p>
            <a:pPr indent="0" marL="0">
              <a:buNone/>
            </a:pPr>
            <a:r>
              <a:rPr lang="en-US" sz="3000" b="1" dirty="0">
                <a:solidFill>
                  <a:srgbClr val="595959"/>
                </a:solidFill>
                <a:latin typeface="Arial" pitchFamily="34" charset="0"/>
                <a:ea typeface="Arial" pitchFamily="34" charset="-122"/>
                <a:cs typeface="Arial" pitchFamily="34" charset="-120"/>
              </a:rPr>
              <a:t>8.8 / 6.8</a:t>
            </a:r>
            <a:endParaRPr lang="en-US" sz="3000" dirty="0"/>
          </a:p>
        </p:txBody>
      </p:sp>
      <p:sp>
        <p:nvSpPr>
          <p:cNvPr id="15" name="Text 12"/>
          <p:cNvSpPr txBox="1"/>
          <p:nvPr/>
        </p:nvSpPr>
        <p:spPr>
          <a:xfrm>
            <a:off x="9614916" y="3950208"/>
            <a:ext cx="2162556" cy="502920"/>
          </a:xfrm>
          <a:prstGeom prst="rect">
            <a:avLst/>
          </a:prstGeom>
          <a:noFill/>
          <a:ln/>
        </p:spPr>
        <p:txBody>
          <a:bodyPr wrap="square" lIns="0" tIns="0" rIns="0" bIns="0" rtlCol="0" anchor="t"/>
          <a:lstStyle/>
          <a:p>
            <a:pPr indent="0" marL="0">
              <a:buNone/>
            </a:pPr>
            <a:r>
              <a:rPr lang="en-US" sz="1050" dirty="0">
                <a:solidFill>
                  <a:srgbClr val="222222"/>
                </a:solidFill>
                <a:latin typeface="Arial" pitchFamily="34" charset="0"/>
                <a:ea typeface="Arial" pitchFamily="34" charset="-122"/>
                <a:cs typeface="Arial" pitchFamily="34" charset="-120"/>
              </a:rPr>
              <a:t>Prudential / Manulife (17% / 13%)</a:t>
            </a:r>
            <a:endParaRPr lang="en-US" sz="1050" dirty="0"/>
          </a:p>
        </p:txBody>
      </p:sp>
      <p:sp>
        <p:nvSpPr>
          <p:cNvPr id="16" name="Shape 13"/>
          <p:cNvSpPr/>
          <p:nvPr/>
        </p:nvSpPr>
        <p:spPr>
          <a:xfrm>
            <a:off x="7223760" y="4617720"/>
            <a:ext cx="4507992" cy="1600200"/>
          </a:xfrm>
          <a:prstGeom prst="rect">
            <a:avLst/>
          </a:prstGeom>
          <a:solidFill>
            <a:srgbClr val="8C8C8C"/>
          </a:solidFill>
          <a:ln w="12700">
            <a:solidFill>
              <a:srgbClr val="8C8C8C"/>
            </a:solidFill>
            <a:prstDash val="solid"/>
          </a:ln>
        </p:spPr>
      </p:sp>
      <p:sp>
        <p:nvSpPr>
          <p:cNvPr id="17" name="Text 14"/>
          <p:cNvSpPr txBox="1"/>
          <p:nvPr/>
        </p:nvSpPr>
        <p:spPr>
          <a:xfrm>
            <a:off x="7315200" y="4617720"/>
            <a:ext cx="4325112" cy="1600200"/>
          </a:xfrm>
          <a:prstGeom prst="rect">
            <a:avLst/>
          </a:prstGeom>
          <a:noFill/>
          <a:ln/>
        </p:spPr>
        <p:txBody>
          <a:bodyPr wrap="square" lIns="635" tIns="635" rIns="635" bIns="635" rtlCol="0" anchor="ctr"/>
          <a:lstStyle/>
          <a:p>
            <a:pPr indent="0" marL="0">
              <a:buNone/>
            </a:pPr>
            <a:r>
              <a:rPr lang="en-US" sz="1100" dirty="0">
                <a:solidFill>
                  <a:srgbClr val="FFFFFF"/>
                </a:solidFill>
                <a:latin typeface="Arial" pitchFamily="34" charset="0"/>
                <a:ea typeface="Arial" pitchFamily="34" charset="-122"/>
                <a:cs typeface="Arial" pitchFamily="34" charset="-120"/>
              </a:rPr>
              <a:t>Growth is steady rather than a rebound: HSBC's 2024 rate is close to its 4-year trend. Hang Seng Insurance grew 50% in 2024, which adds load to the same L400 platform.</a:t>
            </a:r>
            <a:endParaRPr lang="en-US" sz="1100" dirty="0"/>
          </a:p>
        </p:txBody>
      </p:sp>
      <p:sp>
        <p:nvSpPr>
          <p:cNvPr id="18" name="Text 15"/>
          <p:cNvSpPr txBox="1"/>
          <p:nvPr/>
        </p:nvSpPr>
        <p:spPr>
          <a:xfrm>
            <a:off x="457200" y="6419088"/>
            <a:ext cx="10725912" cy="320040"/>
          </a:xfrm>
          <a:prstGeom prst="rect">
            <a:avLst/>
          </a:prstGeom>
          <a:noFill/>
          <a:ln/>
        </p:spPr>
        <p:txBody>
          <a:bodyPr wrap="square" lIns="0" tIns="0" rIns="0" bIns="0" rtlCol="0" anchor="b"/>
          <a:lstStyle/>
          <a:p>
            <a:pPr indent="0" marL="0">
              <a:buNone/>
            </a:pPr>
            <a:r>
              <a:rPr lang="en-US" sz="850" dirty="0">
                <a:solidFill>
                  <a:srgbClr val="7F7F7F"/>
                </a:solidFill>
                <a:latin typeface="Arial" pitchFamily="34" charset="0"/>
                <a:ea typeface="Arial" pitchFamily="34" charset="-122"/>
                <a:cs typeface="Arial" pitchFamily="34" charset="-120"/>
              </a:rPr>
              <a:t>Source: HSBC Life PAS L400 benchmarking workbook ('HSBC vs Peers KPI – ICT basis'). HSBC FY2025 actual; LE2026 = Jan–Aug annualised. HK DWP 2024 (top 8). USD at HKD 7.8. Group on L400 = HSBC Life (International) + Hang Seng Insurance.</a:t>
            </a:r>
            <a:endParaRPr lang="en-US" sz="850" dirty="0"/>
          </a:p>
        </p:txBody>
      </p:sp>
      <p:sp>
        <p:nvSpPr>
          <p:cNvPr id="19" name="Text 16"/>
          <p:cNvSpPr txBox="1"/>
          <p:nvPr/>
        </p:nvSpPr>
        <p:spPr>
          <a:xfrm>
            <a:off x="11274552" y="6419088"/>
            <a:ext cx="457200" cy="320040"/>
          </a:xfrm>
          <a:prstGeom prst="rect">
            <a:avLst/>
          </a:prstGeom>
          <a:noFill/>
          <a:ln/>
        </p:spPr>
        <p:txBody>
          <a:bodyPr wrap="square" lIns="0" tIns="0" rIns="0" bIns="0" rtlCol="0" anchor="b"/>
          <a:lstStyle/>
          <a:p>
            <a:pPr algn="r" indent="0" marL="0">
              <a:buNone/>
            </a:pPr>
            <a:r>
              <a:rPr lang="en-US" sz="900" dirty="0">
                <a:solidFill>
                  <a:srgbClr val="7F7F7F"/>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7315200" cy="274320"/>
          </a:xfrm>
          <a:prstGeom prst="rect">
            <a:avLst/>
          </a:prstGeom>
          <a:noFill/>
          <a:ln/>
        </p:spPr>
        <p:txBody>
          <a:bodyPr wrap="square" lIns="0" tIns="0" rIns="0" bIns="0" rtlCol="0" anchor="ctr"/>
          <a:lstStyle/>
          <a:p>
            <a:pPr indent="0" marL="0">
              <a:buNone/>
            </a:pPr>
            <a:r>
              <a:rPr lang="en-US" sz="1300" b="1" dirty="0">
                <a:solidFill>
                  <a:srgbClr val="C8102E"/>
                </a:solidFill>
                <a:latin typeface="Arial" pitchFamily="34" charset="0"/>
                <a:ea typeface="Arial" pitchFamily="34" charset="-122"/>
                <a:cs typeface="Arial" pitchFamily="34" charset="-120"/>
              </a:rPr>
              <a:t>03 </a:t>
            </a:r>
            <a:pPr indent="0" marL="0">
              <a:buNone/>
            </a:pPr>
            <a:r>
              <a:rPr lang="en-US" sz="1300" dirty="0">
                <a:solidFill>
                  <a:srgbClr val="C8102E"/>
                </a:solidFill>
                <a:latin typeface="Arial" pitchFamily="34" charset="0"/>
                <a:ea typeface="Arial" pitchFamily="34" charset="-122"/>
                <a:cs typeface="Arial" pitchFamily="34" charset="-120"/>
              </a:rPr>
              <a:t>| IT Cost – Headline</a:t>
            </a:r>
            <a:endParaRPr lang="en-US" sz="1300" dirty="0"/>
          </a:p>
        </p:txBody>
      </p:sp>
      <p:sp>
        <p:nvSpPr>
          <p:cNvPr id="3" name="Text 1"/>
          <p:cNvSpPr txBox="1"/>
          <p:nvPr/>
        </p:nvSpPr>
        <p:spPr>
          <a:xfrm>
            <a:off x="457200" y="502920"/>
            <a:ext cx="11274552" cy="502920"/>
          </a:xfrm>
          <a:prstGeom prst="rect">
            <a:avLst/>
          </a:prstGeom>
          <a:noFill/>
          <a:ln/>
        </p:spPr>
        <p:txBody>
          <a:bodyPr wrap="square" lIns="0" tIns="0" rIns="0" bIns="0" rtlCol="0" anchor="t"/>
          <a:lstStyle/>
          <a:p>
            <a:pPr indent="0" marL="0">
              <a:buNone/>
            </a:pPr>
            <a:r>
              <a:rPr lang="en-US" sz="2200" dirty="0">
                <a:solidFill>
                  <a:srgbClr val="222222"/>
                </a:solidFill>
                <a:latin typeface="Arial" pitchFamily="34" charset="0"/>
                <a:ea typeface="Arial" pitchFamily="34" charset="-122"/>
                <a:cs typeface="Arial" pitchFamily="34" charset="-120"/>
              </a:rPr>
              <a:t>Enterprise ICT cannot separate HSBC from peers; the L400 platform view can</a:t>
            </a:r>
            <a:endParaRPr lang="en-US" sz="2200" dirty="0"/>
          </a:p>
        </p:txBody>
      </p:sp>
      <p:sp>
        <p:nvSpPr>
          <p:cNvPr id="4" name="Text 2"/>
          <p:cNvSpPr txBox="1"/>
          <p:nvPr/>
        </p:nvSpPr>
        <p:spPr>
          <a:xfrm>
            <a:off x="457200" y="1024128"/>
            <a:ext cx="11274552" cy="548640"/>
          </a:xfrm>
          <a:prstGeom prst="rect">
            <a:avLst/>
          </a:prstGeom>
          <a:noFill/>
          <a:ln/>
        </p:spPr>
        <p:txBody>
          <a:bodyPr wrap="square" lIns="0" tIns="0" rIns="0" bIns="0" rtlCol="0" anchor="t"/>
          <a:lstStyle/>
          <a:p>
            <a:pPr indent="0" marL="0">
              <a:buNone/>
            </a:pPr>
            <a:r>
              <a:rPr lang="en-US" sz="1250" b="1" dirty="0">
                <a:solidFill>
                  <a:srgbClr val="222222"/>
                </a:solidFill>
                <a:latin typeface="Arial" pitchFamily="34" charset="0"/>
                <a:ea typeface="Arial" pitchFamily="34" charset="-122"/>
                <a:cs typeface="Arial" pitchFamily="34" charset="-120"/>
              </a:rPr>
              <a:t>Key takeaway: </a:t>
            </a:r>
            <a:pPr indent="0" marL="0">
              <a:buNone/>
            </a:pPr>
            <a:r>
              <a:rPr lang="en-US" sz="1250" dirty="0">
                <a:solidFill>
                  <a:srgbClr val="222222"/>
                </a:solidFill>
                <a:latin typeface="Arial" pitchFamily="34" charset="0"/>
                <a:ea typeface="Arial" pitchFamily="34" charset="-122"/>
                <a:cs typeface="Arial" pitchFamily="34" charset="-120"/>
              </a:rPr>
              <a:t>Projected ICT puts HSBC next to AIA, and every insurer grows ICT about 5% a year. But HSBC's figure is bank-level, so the HSBC Life share is unknown. The reliable view is the L400 platform: USD 9.9m, or 0.08% of the premium it supports.</a:t>
            </a:r>
            <a:endParaRPr lang="en-US" sz="1250" dirty="0"/>
          </a:p>
        </p:txBody>
      </p:sp>
      <p:graphicFrame>
        <p:nvGraphicFramePr>
          <p:cNvPr id="5" name="Chart 0" descr=""/>
          <p:cNvGraphicFramePr/>
          <p:nvPr/>
        </p:nvGraphicFramePr>
        <p:xfrm>
          <a:off x="457200" y="1783080"/>
          <a:ext cx="5852160" cy="420624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457200" y="5989320"/>
            <a:ext cx="5852160" cy="365760"/>
          </a:xfrm>
          <a:prstGeom prst="rect">
            <a:avLst/>
          </a:prstGeom>
          <a:noFill/>
          <a:ln/>
        </p:spPr>
        <p:txBody>
          <a:bodyPr wrap="square" lIns="0" tIns="0" rIns="0" bIns="0" rtlCol="0" anchor="ctr"/>
          <a:lstStyle/>
          <a:p>
            <a:pPr indent="0" marL="0">
              <a:buNone/>
            </a:pPr>
            <a:r>
              <a:rPr lang="en-US" sz="850" i="1" dirty="0">
                <a:solidFill>
                  <a:srgbClr val="7F7F7F"/>
                </a:solidFill>
                <a:latin typeface="Arial" pitchFamily="34" charset="0"/>
                <a:ea typeface="Arial" pitchFamily="34" charset="-122"/>
                <a:cs typeface="Arial" pitchFamily="34" charset="-120"/>
              </a:rPr>
              <a:t>*The Hongkong and Shanghai Banking Corp. ICT (bank entity), not HSBC Life. Projected from 2022 at 2021–22 growth (~5% p.a.).</a:t>
            </a:r>
            <a:endParaRPr lang="en-US" sz="850" dirty="0"/>
          </a:p>
        </p:txBody>
      </p:sp>
      <p:sp>
        <p:nvSpPr>
          <p:cNvPr id="7" name="Shape 4"/>
          <p:cNvSpPr/>
          <p:nvPr/>
        </p:nvSpPr>
        <p:spPr>
          <a:xfrm>
            <a:off x="6675120" y="1783080"/>
            <a:ext cx="5056632" cy="347472"/>
          </a:xfrm>
          <a:prstGeom prst="rect">
            <a:avLst/>
          </a:prstGeom>
          <a:solidFill>
            <a:srgbClr val="C8102E"/>
          </a:solidFill>
          <a:ln w="12700">
            <a:solidFill>
              <a:srgbClr val="C8102E"/>
            </a:solidFill>
            <a:prstDash val="solid"/>
          </a:ln>
        </p:spPr>
      </p:sp>
      <p:sp>
        <p:nvSpPr>
          <p:cNvPr id="8" name="Text 5"/>
          <p:cNvSpPr txBox="1"/>
          <p:nvPr/>
        </p:nvSpPr>
        <p:spPr>
          <a:xfrm>
            <a:off x="6766560" y="1783080"/>
            <a:ext cx="4873752" cy="347472"/>
          </a:xfrm>
          <a:prstGeom prst="rect">
            <a:avLst/>
          </a:prstGeom>
          <a:noFill/>
          <a:ln/>
        </p:spPr>
        <p:txBody>
          <a:bodyPr wrap="square" lIns="635" tIns="635" rIns="635" bIns="635" rtlCol="0" anchor="ctr"/>
          <a:lstStyle/>
          <a:p>
            <a:pPr algn="l" indent="0" marL="0">
              <a:buNone/>
            </a:pPr>
            <a:r>
              <a:rPr lang="en-US" sz="1200" b="1" dirty="0">
                <a:solidFill>
                  <a:srgbClr val="FFFFFF"/>
                </a:solidFill>
                <a:latin typeface="Arial" pitchFamily="34" charset="0"/>
                <a:ea typeface="Arial" pitchFamily="34" charset="-122"/>
                <a:cs typeface="Arial" pitchFamily="34" charset="-120"/>
              </a:rPr>
              <a:t>Enterprise view – low comparability</a:t>
            </a:r>
            <a:endParaRPr lang="en-US" sz="1200" dirty="0"/>
          </a:p>
        </p:txBody>
      </p:sp>
      <p:sp>
        <p:nvSpPr>
          <p:cNvPr id="9" name="Text 6"/>
          <p:cNvSpPr txBox="1"/>
          <p:nvPr/>
        </p:nvSpPr>
        <p:spPr>
          <a:xfrm>
            <a:off x="6720840" y="2240280"/>
            <a:ext cx="2436876" cy="548640"/>
          </a:xfrm>
          <a:prstGeom prst="rect">
            <a:avLst/>
          </a:prstGeom>
          <a:noFill/>
          <a:ln/>
        </p:spPr>
        <p:txBody>
          <a:bodyPr wrap="square" lIns="0" tIns="0" rIns="0" bIns="0" rtlCol="0" anchor="ctr"/>
          <a:lstStyle/>
          <a:p>
            <a:pPr indent="0" marL="0">
              <a:buNone/>
            </a:pPr>
            <a:r>
              <a:rPr lang="en-US" sz="3000" b="1" dirty="0">
                <a:solidFill>
                  <a:srgbClr val="595959"/>
                </a:solidFill>
                <a:latin typeface="Arial" pitchFamily="34" charset="0"/>
                <a:ea typeface="Arial" pitchFamily="34" charset="-122"/>
                <a:cs typeface="Arial" pitchFamily="34" charset="-120"/>
              </a:rPr>
              <a:t>18.7%</a:t>
            </a:r>
            <a:endParaRPr lang="en-US" sz="3000" dirty="0"/>
          </a:p>
        </p:txBody>
      </p:sp>
      <p:sp>
        <p:nvSpPr>
          <p:cNvPr id="10" name="Text 7"/>
          <p:cNvSpPr txBox="1"/>
          <p:nvPr/>
        </p:nvSpPr>
        <p:spPr>
          <a:xfrm>
            <a:off x="6720840" y="2807208"/>
            <a:ext cx="2436876" cy="502920"/>
          </a:xfrm>
          <a:prstGeom prst="rect">
            <a:avLst/>
          </a:prstGeom>
          <a:noFill/>
          <a:ln/>
        </p:spPr>
        <p:txBody>
          <a:bodyPr wrap="square" lIns="0" tIns="0" rIns="0" bIns="0" rtlCol="0" anchor="t"/>
          <a:lstStyle/>
          <a:p>
            <a:pPr indent="0" marL="0">
              <a:buNone/>
            </a:pPr>
            <a:r>
              <a:rPr lang="en-US" sz="1050" dirty="0">
                <a:solidFill>
                  <a:srgbClr val="222222"/>
                </a:solidFill>
                <a:latin typeface="Arial" pitchFamily="34" charset="0"/>
                <a:ea typeface="Arial" pitchFamily="34" charset="-122"/>
                <a:cs typeface="Arial" pitchFamily="34" charset="-120"/>
              </a:rPr>
              <a:t>HSBC ICT ÷ DWP (bank ICT over life premium)</a:t>
            </a:r>
            <a:endParaRPr lang="en-US" sz="1050" dirty="0"/>
          </a:p>
        </p:txBody>
      </p:sp>
      <p:sp>
        <p:nvSpPr>
          <p:cNvPr id="11" name="Text 8"/>
          <p:cNvSpPr txBox="1"/>
          <p:nvPr/>
        </p:nvSpPr>
        <p:spPr>
          <a:xfrm>
            <a:off x="9340596" y="2240280"/>
            <a:ext cx="2436876" cy="548640"/>
          </a:xfrm>
          <a:prstGeom prst="rect">
            <a:avLst/>
          </a:prstGeom>
          <a:noFill/>
          <a:ln/>
        </p:spPr>
        <p:txBody>
          <a:bodyPr wrap="square" lIns="0" tIns="0" rIns="0" bIns="0" rtlCol="0" anchor="ctr"/>
          <a:lstStyle/>
          <a:p>
            <a:pPr indent="0" marL="0">
              <a:buNone/>
            </a:pPr>
            <a:r>
              <a:rPr lang="en-US" sz="3000" b="1" dirty="0">
                <a:solidFill>
                  <a:srgbClr val="595959"/>
                </a:solidFill>
                <a:latin typeface="Arial" pitchFamily="34" charset="0"/>
                <a:ea typeface="Arial" pitchFamily="34" charset="-122"/>
                <a:cs typeface="Arial" pitchFamily="34" charset="-120"/>
              </a:rPr>
              <a:t>10.8%</a:t>
            </a:r>
            <a:endParaRPr lang="en-US" sz="3000" dirty="0"/>
          </a:p>
        </p:txBody>
      </p:sp>
      <p:sp>
        <p:nvSpPr>
          <p:cNvPr id="12" name="Text 9"/>
          <p:cNvSpPr txBox="1"/>
          <p:nvPr/>
        </p:nvSpPr>
        <p:spPr>
          <a:xfrm>
            <a:off x="9340596" y="2807208"/>
            <a:ext cx="2436876" cy="502920"/>
          </a:xfrm>
          <a:prstGeom prst="rect">
            <a:avLst/>
          </a:prstGeom>
          <a:noFill/>
          <a:ln/>
        </p:spPr>
        <p:txBody>
          <a:bodyPr wrap="square" lIns="0" tIns="0" rIns="0" bIns="0" rtlCol="0" anchor="t"/>
          <a:lstStyle/>
          <a:p>
            <a:pPr indent="0" marL="0">
              <a:buNone/>
            </a:pPr>
            <a:r>
              <a:rPr lang="en-US" sz="1050" dirty="0">
                <a:solidFill>
                  <a:srgbClr val="222222"/>
                </a:solidFill>
                <a:latin typeface="Arial" pitchFamily="34" charset="0"/>
                <a:ea typeface="Arial" pitchFamily="34" charset="-122"/>
                <a:cs typeface="Arial" pitchFamily="34" charset="-120"/>
              </a:rPr>
              <a:t>Peer average ICT ÷ DWP (market 4.1%)</a:t>
            </a:r>
            <a:endParaRPr lang="en-US" sz="1050" dirty="0"/>
          </a:p>
        </p:txBody>
      </p:sp>
      <p:sp>
        <p:nvSpPr>
          <p:cNvPr id="13" name="Shape 10"/>
          <p:cNvSpPr/>
          <p:nvPr/>
        </p:nvSpPr>
        <p:spPr>
          <a:xfrm>
            <a:off x="6675120" y="3474720"/>
            <a:ext cx="5056632" cy="347472"/>
          </a:xfrm>
          <a:prstGeom prst="rect">
            <a:avLst/>
          </a:prstGeom>
          <a:solidFill>
            <a:srgbClr val="C8102E"/>
          </a:solidFill>
          <a:ln w="12700">
            <a:solidFill>
              <a:srgbClr val="C8102E"/>
            </a:solidFill>
            <a:prstDash val="solid"/>
          </a:ln>
        </p:spPr>
      </p:sp>
      <p:sp>
        <p:nvSpPr>
          <p:cNvPr id="14" name="Text 11"/>
          <p:cNvSpPr txBox="1"/>
          <p:nvPr/>
        </p:nvSpPr>
        <p:spPr>
          <a:xfrm>
            <a:off x="6766560" y="3474720"/>
            <a:ext cx="4873752" cy="347472"/>
          </a:xfrm>
          <a:prstGeom prst="rect">
            <a:avLst/>
          </a:prstGeom>
          <a:noFill/>
          <a:ln/>
        </p:spPr>
        <p:txBody>
          <a:bodyPr wrap="square" lIns="635" tIns="635" rIns="635" bIns="635" rtlCol="0" anchor="ctr"/>
          <a:lstStyle/>
          <a:p>
            <a:pPr algn="l" indent="0" marL="0">
              <a:buNone/>
            </a:pPr>
            <a:r>
              <a:rPr lang="en-US" sz="1200" b="1" dirty="0">
                <a:solidFill>
                  <a:srgbClr val="FFFFFF"/>
                </a:solidFill>
                <a:latin typeface="Arial" pitchFamily="34" charset="0"/>
                <a:ea typeface="Arial" pitchFamily="34" charset="-122"/>
                <a:cs typeface="Arial" pitchFamily="34" charset="-120"/>
              </a:rPr>
              <a:t>L400 platform view – usable</a:t>
            </a:r>
            <a:endParaRPr lang="en-US" sz="1200" dirty="0"/>
          </a:p>
        </p:txBody>
      </p:sp>
      <p:sp>
        <p:nvSpPr>
          <p:cNvPr id="15" name="Text 12"/>
          <p:cNvSpPr txBox="1"/>
          <p:nvPr/>
        </p:nvSpPr>
        <p:spPr>
          <a:xfrm>
            <a:off x="6720840" y="3931920"/>
            <a:ext cx="2436876" cy="548640"/>
          </a:xfrm>
          <a:prstGeom prst="rect">
            <a:avLst/>
          </a:prstGeom>
          <a:noFill/>
          <a:ln/>
        </p:spPr>
        <p:txBody>
          <a:bodyPr wrap="square" lIns="0" tIns="0" rIns="0" bIns="0" rtlCol="0" anchor="ctr"/>
          <a:lstStyle/>
          <a:p>
            <a:pPr indent="0" marL="0">
              <a:buNone/>
            </a:pPr>
            <a:r>
              <a:rPr lang="en-US" sz="3000" b="1" dirty="0">
                <a:solidFill>
                  <a:srgbClr val="C8102E"/>
                </a:solidFill>
                <a:latin typeface="Arial" pitchFamily="34" charset="0"/>
                <a:ea typeface="Arial" pitchFamily="34" charset="-122"/>
                <a:cs typeface="Arial" pitchFamily="34" charset="-120"/>
              </a:rPr>
              <a:t>9.9 → 11.3</a:t>
            </a:r>
            <a:endParaRPr lang="en-US" sz="3000" dirty="0"/>
          </a:p>
        </p:txBody>
      </p:sp>
      <p:sp>
        <p:nvSpPr>
          <p:cNvPr id="16" name="Text 13"/>
          <p:cNvSpPr txBox="1"/>
          <p:nvPr/>
        </p:nvSpPr>
        <p:spPr>
          <a:xfrm>
            <a:off x="6720840" y="4498848"/>
            <a:ext cx="2436876" cy="502920"/>
          </a:xfrm>
          <a:prstGeom prst="rect">
            <a:avLst/>
          </a:prstGeom>
          <a:noFill/>
          <a:ln/>
        </p:spPr>
        <p:txBody>
          <a:bodyPr wrap="square" lIns="0" tIns="0" rIns="0" bIns="0" rtlCol="0" anchor="t"/>
          <a:lstStyle/>
          <a:p>
            <a:pPr indent="0" marL="0">
              <a:buNone/>
            </a:pPr>
            <a:r>
              <a:rPr lang="en-US" sz="1050" dirty="0">
                <a:solidFill>
                  <a:srgbClr val="222222"/>
                </a:solidFill>
                <a:latin typeface="Arial" pitchFamily="34" charset="0"/>
                <a:ea typeface="Arial" pitchFamily="34" charset="-122"/>
                <a:cs typeface="Arial" pitchFamily="34" charset="-120"/>
              </a:rPr>
              <a:t>L400 cost, USD m, FY25 → LE26 (+14%)</a:t>
            </a:r>
            <a:endParaRPr lang="en-US" sz="1050" dirty="0"/>
          </a:p>
        </p:txBody>
      </p:sp>
      <p:sp>
        <p:nvSpPr>
          <p:cNvPr id="17" name="Text 14"/>
          <p:cNvSpPr txBox="1"/>
          <p:nvPr/>
        </p:nvSpPr>
        <p:spPr>
          <a:xfrm>
            <a:off x="9340596" y="3931920"/>
            <a:ext cx="2436876" cy="548640"/>
          </a:xfrm>
          <a:prstGeom prst="rect">
            <a:avLst/>
          </a:prstGeom>
          <a:noFill/>
          <a:ln/>
        </p:spPr>
        <p:txBody>
          <a:bodyPr wrap="square" lIns="0" tIns="0" rIns="0" bIns="0" rtlCol="0" anchor="ctr"/>
          <a:lstStyle/>
          <a:p>
            <a:pPr indent="0" marL="0">
              <a:buNone/>
            </a:pPr>
            <a:r>
              <a:rPr lang="en-US" sz="3000" b="1" dirty="0">
                <a:solidFill>
                  <a:srgbClr val="C8102E"/>
                </a:solidFill>
                <a:latin typeface="Arial" pitchFamily="34" charset="0"/>
                <a:ea typeface="Arial" pitchFamily="34" charset="-122"/>
                <a:cs typeface="Arial" pitchFamily="34" charset="-120"/>
              </a:rPr>
              <a:t>0.08%</a:t>
            </a:r>
            <a:endParaRPr lang="en-US" sz="3000" dirty="0"/>
          </a:p>
        </p:txBody>
      </p:sp>
      <p:sp>
        <p:nvSpPr>
          <p:cNvPr id="18" name="Text 15"/>
          <p:cNvSpPr txBox="1"/>
          <p:nvPr/>
        </p:nvSpPr>
        <p:spPr>
          <a:xfrm>
            <a:off x="9340596" y="4498848"/>
            <a:ext cx="2436876" cy="502920"/>
          </a:xfrm>
          <a:prstGeom prst="rect">
            <a:avLst/>
          </a:prstGeom>
          <a:noFill/>
          <a:ln/>
        </p:spPr>
        <p:txBody>
          <a:bodyPr wrap="square" lIns="0" tIns="0" rIns="0" bIns="0" rtlCol="0" anchor="t"/>
          <a:lstStyle/>
          <a:p>
            <a:pPr indent="0" marL="0">
              <a:buNone/>
            </a:pPr>
            <a:r>
              <a:rPr lang="en-US" sz="1050" dirty="0">
                <a:solidFill>
                  <a:srgbClr val="222222"/>
                </a:solidFill>
                <a:latin typeface="Arial" pitchFamily="34" charset="0"/>
                <a:ea typeface="Arial" pitchFamily="34" charset="-122"/>
                <a:cs typeface="Arial" pitchFamily="34" charset="-120"/>
              </a:rPr>
              <a:t>L400 cost ÷ DWP (Sun Life PAS 0.91%)</a:t>
            </a:r>
            <a:endParaRPr lang="en-US" sz="1050" dirty="0"/>
          </a:p>
        </p:txBody>
      </p:sp>
      <p:sp>
        <p:nvSpPr>
          <p:cNvPr id="19" name="Shape 16"/>
          <p:cNvSpPr/>
          <p:nvPr/>
        </p:nvSpPr>
        <p:spPr>
          <a:xfrm>
            <a:off x="6675120" y="5074920"/>
            <a:ext cx="5056632" cy="1097280"/>
          </a:xfrm>
          <a:prstGeom prst="rect">
            <a:avLst/>
          </a:prstGeom>
          <a:solidFill>
            <a:srgbClr val="8C8C8C"/>
          </a:solidFill>
          <a:ln w="12700">
            <a:solidFill>
              <a:srgbClr val="8C8C8C"/>
            </a:solidFill>
            <a:prstDash val="solid"/>
          </a:ln>
        </p:spPr>
      </p:sp>
      <p:sp>
        <p:nvSpPr>
          <p:cNvPr id="20" name="Text 17"/>
          <p:cNvSpPr txBox="1"/>
          <p:nvPr/>
        </p:nvSpPr>
        <p:spPr>
          <a:xfrm>
            <a:off x="6766560" y="5074920"/>
            <a:ext cx="4873752" cy="1097280"/>
          </a:xfrm>
          <a:prstGeom prst="rect">
            <a:avLst/>
          </a:prstGeom>
          <a:noFill/>
          <a:ln/>
        </p:spPr>
        <p:txBody>
          <a:bodyPr wrap="square" lIns="635" tIns="635" rIns="635" bIns="635" rtlCol="0" anchor="ctr"/>
          <a:lstStyle/>
          <a:p>
            <a:pPr indent="0" marL="0">
              <a:buNone/>
            </a:pPr>
            <a:r>
              <a:rPr lang="en-US" sz="1100" dirty="0">
                <a:solidFill>
                  <a:srgbClr val="FFFFFF"/>
                </a:solidFill>
                <a:latin typeface="Arial" pitchFamily="34" charset="0"/>
                <a:ea typeface="Arial" pitchFamily="34" charset="-122"/>
                <a:cs typeface="Arial" pitchFamily="34" charset="-120"/>
              </a:rPr>
              <a:t>Use L400 cost and unit costs for the story. Enterprise ICT only confirms that HSBC is not under-investing.</a:t>
            </a:r>
            <a:endParaRPr lang="en-US" sz="1100" dirty="0"/>
          </a:p>
        </p:txBody>
      </p:sp>
      <p:sp>
        <p:nvSpPr>
          <p:cNvPr id="21" name="Text 18"/>
          <p:cNvSpPr txBox="1"/>
          <p:nvPr/>
        </p:nvSpPr>
        <p:spPr>
          <a:xfrm>
            <a:off x="457200" y="6419088"/>
            <a:ext cx="10725912" cy="320040"/>
          </a:xfrm>
          <a:prstGeom prst="rect">
            <a:avLst/>
          </a:prstGeom>
          <a:noFill/>
          <a:ln/>
        </p:spPr>
        <p:txBody>
          <a:bodyPr wrap="square" lIns="0" tIns="0" rIns="0" bIns="0" rtlCol="0" anchor="b"/>
          <a:lstStyle/>
          <a:p>
            <a:pPr indent="0" marL="0">
              <a:buNone/>
            </a:pPr>
            <a:r>
              <a:rPr lang="en-US" sz="850" dirty="0">
                <a:solidFill>
                  <a:srgbClr val="7F7F7F"/>
                </a:solidFill>
                <a:latin typeface="Arial" pitchFamily="34" charset="0"/>
                <a:ea typeface="Arial" pitchFamily="34" charset="-122"/>
                <a:cs typeface="Arial" pitchFamily="34" charset="-120"/>
              </a:rPr>
              <a:t>Source: HSBC Life PAS L400 benchmarking workbook ('HSBC vs Peers KPI – ICT basis'). HSBC FY2025 actual; LE2026 = Jan–Aug annualised. HK DWP 2024 (top 8). USD at HKD 7.8. Sun Life PAS cost is an operations cost, so the 0.91% is indicative.</a:t>
            </a:r>
            <a:endParaRPr lang="en-US" sz="850" dirty="0"/>
          </a:p>
        </p:txBody>
      </p:sp>
      <p:sp>
        <p:nvSpPr>
          <p:cNvPr id="22" name="Text 19"/>
          <p:cNvSpPr txBox="1"/>
          <p:nvPr/>
        </p:nvSpPr>
        <p:spPr>
          <a:xfrm>
            <a:off x="11274552" y="6419088"/>
            <a:ext cx="457200" cy="320040"/>
          </a:xfrm>
          <a:prstGeom prst="rect">
            <a:avLst/>
          </a:prstGeom>
          <a:noFill/>
          <a:ln/>
        </p:spPr>
        <p:txBody>
          <a:bodyPr wrap="square" lIns="0" tIns="0" rIns="0" bIns="0" rtlCol="0" anchor="b"/>
          <a:lstStyle/>
          <a:p>
            <a:pPr algn="r" indent="0" marL="0">
              <a:buNone/>
            </a:pPr>
            <a:r>
              <a:rPr lang="en-US" sz="900" dirty="0">
                <a:solidFill>
                  <a:srgbClr val="7F7F7F"/>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7315200" cy="274320"/>
          </a:xfrm>
          <a:prstGeom prst="rect">
            <a:avLst/>
          </a:prstGeom>
          <a:noFill/>
          <a:ln/>
        </p:spPr>
        <p:txBody>
          <a:bodyPr wrap="square" lIns="0" tIns="0" rIns="0" bIns="0" rtlCol="0" anchor="ctr"/>
          <a:lstStyle/>
          <a:p>
            <a:pPr indent="0" marL="0">
              <a:buNone/>
            </a:pPr>
            <a:r>
              <a:rPr lang="en-US" sz="1300" b="1" dirty="0">
                <a:solidFill>
                  <a:srgbClr val="C8102E"/>
                </a:solidFill>
                <a:latin typeface="Arial" pitchFamily="34" charset="0"/>
                <a:ea typeface="Arial" pitchFamily="34" charset="-122"/>
                <a:cs typeface="Arial" pitchFamily="34" charset="-120"/>
              </a:rPr>
              <a:t>04 </a:t>
            </a:r>
            <a:pPr indent="0" marL="0">
              <a:buNone/>
            </a:pPr>
            <a:r>
              <a:rPr lang="en-US" sz="1300" dirty="0">
                <a:solidFill>
                  <a:srgbClr val="C8102E"/>
                </a:solidFill>
                <a:latin typeface="Arial" pitchFamily="34" charset="0"/>
                <a:ea typeface="Arial" pitchFamily="34" charset="-122"/>
                <a:cs typeface="Arial" pitchFamily="34" charset="-120"/>
              </a:rPr>
              <a:t>| IT Cost – L400 Structure</a:t>
            </a:r>
            <a:endParaRPr lang="en-US" sz="1300" dirty="0"/>
          </a:p>
        </p:txBody>
      </p:sp>
      <p:sp>
        <p:nvSpPr>
          <p:cNvPr id="3" name="Text 1"/>
          <p:cNvSpPr txBox="1"/>
          <p:nvPr/>
        </p:nvSpPr>
        <p:spPr>
          <a:xfrm>
            <a:off x="457200" y="502920"/>
            <a:ext cx="11274552" cy="502920"/>
          </a:xfrm>
          <a:prstGeom prst="rect">
            <a:avLst/>
          </a:prstGeom>
          <a:noFill/>
          <a:ln/>
        </p:spPr>
        <p:txBody>
          <a:bodyPr wrap="square" lIns="0" tIns="0" rIns="0" bIns="0" rtlCol="0" anchor="t"/>
          <a:lstStyle/>
          <a:p>
            <a:pPr indent="0" marL="0">
              <a:buNone/>
            </a:pPr>
            <a:r>
              <a:rPr lang="en-US" sz="2200" dirty="0">
                <a:solidFill>
                  <a:srgbClr val="222222"/>
                </a:solidFill>
                <a:latin typeface="Arial" pitchFamily="34" charset="0"/>
                <a:ea typeface="Arial" pitchFamily="34" charset="-122"/>
                <a:cs typeface="Arial" pitchFamily="34" charset="-120"/>
              </a:rPr>
              <a:t>L400 spend is change-heavy and labour-led, with cloud only starting</a:t>
            </a:r>
            <a:endParaRPr lang="en-US" sz="2200" dirty="0"/>
          </a:p>
        </p:txBody>
      </p:sp>
      <p:sp>
        <p:nvSpPr>
          <p:cNvPr id="4" name="Text 2"/>
          <p:cNvSpPr txBox="1"/>
          <p:nvPr/>
        </p:nvSpPr>
        <p:spPr>
          <a:xfrm>
            <a:off x="457200" y="1024128"/>
            <a:ext cx="11274552" cy="548640"/>
          </a:xfrm>
          <a:prstGeom prst="rect">
            <a:avLst/>
          </a:prstGeom>
          <a:noFill/>
          <a:ln/>
        </p:spPr>
        <p:txBody>
          <a:bodyPr wrap="square" lIns="0" tIns="0" rIns="0" bIns="0" rtlCol="0" anchor="t"/>
          <a:lstStyle/>
          <a:p>
            <a:pPr indent="0" marL="0">
              <a:buNone/>
            </a:pPr>
            <a:r>
              <a:rPr lang="en-US" sz="1250" b="1" dirty="0">
                <a:solidFill>
                  <a:srgbClr val="222222"/>
                </a:solidFill>
                <a:latin typeface="Arial" pitchFamily="34" charset="0"/>
                <a:ea typeface="Arial" pitchFamily="34" charset="-122"/>
                <a:cs typeface="Arial" pitchFamily="34" charset="-120"/>
              </a:rPr>
              <a:t>Key takeaway: </a:t>
            </a:r>
            <a:pPr indent="0" marL="0">
              <a:buNone/>
            </a:pPr>
            <a:r>
              <a:rPr lang="en-US" sz="1250" dirty="0">
                <a:solidFill>
                  <a:srgbClr val="222222"/>
                </a:solidFill>
                <a:latin typeface="Arial" pitchFamily="34" charset="0"/>
                <a:ea typeface="Arial" pitchFamily="34" charset="-122"/>
                <a:cs typeface="Arial" pitchFamily="34" charset="-120"/>
              </a:rPr>
              <a:t>74% of L400 cost is change work, delivered by labour, and more than half of that labour is external. Infrastructure is a large share and cloud is almost zero. Continuous modernisation is already under way; the lenses decide where it goes.</a:t>
            </a:r>
            <a:endParaRPr lang="en-US" sz="1250" dirty="0"/>
          </a:p>
        </p:txBody>
      </p:sp>
      <p:graphicFrame>
        <p:nvGraphicFramePr>
          <p:cNvPr id="5" name="Chart 0" descr=""/>
          <p:cNvGraphicFramePr/>
          <p:nvPr/>
        </p:nvGraphicFramePr>
        <p:xfrm>
          <a:off x="457200" y="1783080"/>
          <a:ext cx="4572000" cy="443484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303520" y="1783080"/>
            <a:ext cx="3108960" cy="347472"/>
          </a:xfrm>
          <a:prstGeom prst="rect">
            <a:avLst/>
          </a:prstGeom>
          <a:solidFill>
            <a:srgbClr val="C8102E"/>
          </a:solidFill>
          <a:ln w="12700">
            <a:solidFill>
              <a:srgbClr val="C8102E"/>
            </a:solidFill>
            <a:prstDash val="solid"/>
          </a:ln>
        </p:spPr>
      </p:sp>
      <p:sp>
        <p:nvSpPr>
          <p:cNvPr id="7" name="Text 4"/>
          <p:cNvSpPr txBox="1"/>
          <p:nvPr/>
        </p:nvSpPr>
        <p:spPr>
          <a:xfrm>
            <a:off x="5394960" y="1783080"/>
            <a:ext cx="2926080" cy="347472"/>
          </a:xfrm>
          <a:prstGeom prst="rect">
            <a:avLst/>
          </a:prstGeom>
          <a:noFill/>
          <a:ln/>
        </p:spPr>
        <p:txBody>
          <a:bodyPr wrap="square" lIns="635" tIns="635" rIns="635" bIns="635" rtlCol="0" anchor="ctr"/>
          <a:lstStyle/>
          <a:p>
            <a:pPr algn="l" indent="0" marL="0">
              <a:buNone/>
            </a:pPr>
            <a:r>
              <a:rPr lang="en-US" sz="1200" b="1" dirty="0">
                <a:solidFill>
                  <a:srgbClr val="FFFFFF"/>
                </a:solidFill>
                <a:latin typeface="Arial" pitchFamily="34" charset="0"/>
                <a:ea typeface="Arial" pitchFamily="34" charset="-122"/>
                <a:cs typeface="Arial" pitchFamily="34" charset="-120"/>
              </a:rPr>
              <a:t>L400 vs peer average</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303520" y="2240280"/>
          <a:ext cx="3108960" cy="914400"/>
        </p:xfrm>
        <a:graphic>
          <a:graphicData uri="http://schemas.openxmlformats.org/drawingml/2006/table">
            <a:tbl>
              <a:tblPr/>
              <a:tblGrid>
                <a:gridCol w="1234440"/>
                <a:gridCol w="1097280"/>
                <a:gridCol w="777240"/>
              </a:tblGrid>
              <a:tr h="384048">
                <a:tc>
                  <a:txBody>
                    <a:bodyPr/>
                    <a:lstStyle/>
                    <a:p>
                      <a:pPr algn="l" indent="0" marL="0">
                        <a:buNone/>
                      </a:pPr>
                      <a:r>
                        <a:rPr lang="en-US" sz="1100" b="1" dirty="0">
                          <a:solidFill>
                            <a:srgbClr val="7F7F7F"/>
                          </a:solidFill>
                          <a:latin typeface="Arial" pitchFamily="34" charset="0"/>
                          <a:ea typeface="Arial" pitchFamily="34" charset="-122"/>
                          <a:cs typeface="Arial" pitchFamily="34" charset="-120"/>
                        </a:rPr>
                        <a:t>Metric</a:t>
                      </a:r>
                      <a:endParaRPr lang="en-US" sz="11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7F7F7F"/>
                          </a:solidFill>
                          <a:latin typeface="Arial" pitchFamily="34" charset="0"/>
                          <a:ea typeface="Arial" pitchFamily="34" charset="-122"/>
                          <a:cs typeface="Arial" pitchFamily="34" charset="-120"/>
                        </a:rPr>
                        <a:t>L400</a:t>
                      </a:r>
                      <a:endParaRPr lang="en-US" sz="11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7F7F7F"/>
                          </a:solidFill>
                          <a:latin typeface="Arial" pitchFamily="34" charset="0"/>
                          <a:ea typeface="Arial" pitchFamily="34" charset="-122"/>
                          <a:cs typeface="Arial" pitchFamily="34" charset="-120"/>
                        </a:rPr>
                        <a:t>Peers</a:t>
                      </a:r>
                      <a:endParaRPr lang="en-US" sz="11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r>
              <a:tr h="384048">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Run share</a:t>
                      </a:r>
                      <a:endParaRPr lang="en-US" sz="11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DED"/>
                    </a:solidFill>
                  </a:tcPr>
                </a:tc>
                <a:tc>
                  <a:txBody>
                    <a:bodyPr/>
                    <a:lstStyle/>
                    <a:p>
                      <a:pPr algn="r" indent="0" marL="0">
                        <a:buNone/>
                      </a:pPr>
                      <a:r>
                        <a:rPr lang="en-US" sz="1100" b="1" dirty="0">
                          <a:solidFill>
                            <a:srgbClr val="C8102E"/>
                          </a:solidFill>
                          <a:latin typeface="Arial" pitchFamily="34" charset="0"/>
                          <a:ea typeface="Arial" pitchFamily="34" charset="-122"/>
                          <a:cs typeface="Arial" pitchFamily="34" charset="-120"/>
                        </a:rPr>
                        <a:t>26%</a:t>
                      </a:r>
                      <a:endParaRPr lang="en-US" sz="11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DED"/>
                    </a:solidFill>
                  </a:tcPr>
                </a:tc>
                <a:tc>
                  <a:txBody>
                    <a:bodyPr/>
                    <a:lstStyle/>
                    <a:p>
                      <a:pPr algn="r" indent="0" marL="0">
                        <a:buNone/>
                      </a:pPr>
                      <a:r>
                        <a:rPr lang="en-US" sz="1100" dirty="0">
                          <a:solidFill>
                            <a:srgbClr val="222222"/>
                          </a:solidFill>
                          <a:latin typeface="Arial" pitchFamily="34" charset="0"/>
                          <a:ea typeface="Arial" pitchFamily="34" charset="-122"/>
                          <a:cs typeface="Arial" pitchFamily="34" charset="-120"/>
                        </a:rPr>
                        <a:t>73%</a:t>
                      </a:r>
                      <a:endParaRPr lang="en-US" sz="11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DED"/>
                    </a:solidFill>
                  </a:tcPr>
                </a:tc>
              </a:tr>
              <a:tr h="384048">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External labour</a:t>
                      </a:r>
                      <a:endParaRPr lang="en-US" sz="11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DED"/>
                    </a:solidFill>
                  </a:tcPr>
                </a:tc>
                <a:tc>
                  <a:txBody>
                    <a:bodyPr/>
                    <a:lstStyle/>
                    <a:p>
                      <a:pPr algn="r" indent="0" marL="0">
                        <a:buNone/>
                      </a:pPr>
                      <a:r>
                        <a:rPr lang="en-US" sz="1100" b="1" dirty="0">
                          <a:solidFill>
                            <a:srgbClr val="C8102E"/>
                          </a:solidFill>
                          <a:latin typeface="Arial" pitchFamily="34" charset="0"/>
                          <a:ea typeface="Arial" pitchFamily="34" charset="-122"/>
                          <a:cs typeface="Arial" pitchFamily="34" charset="-120"/>
                        </a:rPr>
                        <a:t>39%</a:t>
                      </a:r>
                      <a:endParaRPr lang="en-US" sz="11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DED"/>
                    </a:solidFill>
                  </a:tcPr>
                </a:tc>
                <a:tc>
                  <a:txBody>
                    <a:bodyPr/>
                    <a:lstStyle/>
                    <a:p>
                      <a:pPr algn="r" indent="0" marL="0">
                        <a:buNone/>
                      </a:pPr>
                      <a:r>
                        <a:rPr lang="en-US" sz="1100" dirty="0">
                          <a:solidFill>
                            <a:srgbClr val="222222"/>
                          </a:solidFill>
                          <a:latin typeface="Arial" pitchFamily="34" charset="0"/>
                          <a:ea typeface="Arial" pitchFamily="34" charset="-122"/>
                          <a:cs typeface="Arial" pitchFamily="34" charset="-120"/>
                        </a:rPr>
                        <a:t>19%</a:t>
                      </a:r>
                      <a:endParaRPr lang="en-US" sz="11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DED"/>
                    </a:solidFill>
                  </a:tcPr>
                </a:tc>
              </a:tr>
              <a:tr h="384048">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Infrastructure</a:t>
                      </a:r>
                      <a:endParaRPr lang="en-US" sz="11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DED"/>
                    </a:solidFill>
                  </a:tcPr>
                </a:tc>
                <a:tc>
                  <a:txBody>
                    <a:bodyPr/>
                    <a:lstStyle/>
                    <a:p>
                      <a:pPr algn="r" indent="0" marL="0">
                        <a:buNone/>
                      </a:pPr>
                      <a:r>
                        <a:rPr lang="en-US" sz="1100" b="1" dirty="0">
                          <a:solidFill>
                            <a:srgbClr val="C8102E"/>
                          </a:solidFill>
                          <a:latin typeface="Arial" pitchFamily="34" charset="0"/>
                          <a:ea typeface="Arial" pitchFamily="34" charset="-122"/>
                          <a:cs typeface="Arial" pitchFamily="34" charset="-120"/>
                        </a:rPr>
                        <a:t>16%</a:t>
                      </a:r>
                      <a:endParaRPr lang="en-US" sz="11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DED"/>
                    </a:solidFill>
                  </a:tcPr>
                </a:tc>
                <a:tc>
                  <a:txBody>
                    <a:bodyPr/>
                    <a:lstStyle/>
                    <a:p>
                      <a:pPr algn="r" indent="0" marL="0">
                        <a:buNone/>
                      </a:pPr>
                      <a:r>
                        <a:rPr lang="en-US" sz="1100" dirty="0">
                          <a:solidFill>
                            <a:srgbClr val="222222"/>
                          </a:solidFill>
                          <a:latin typeface="Arial" pitchFamily="34" charset="0"/>
                          <a:ea typeface="Arial" pitchFamily="34" charset="-122"/>
                          <a:cs typeface="Arial" pitchFamily="34" charset="-120"/>
                        </a:rPr>
                        <a:t>9%</a:t>
                      </a:r>
                      <a:endParaRPr lang="en-US" sz="11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DED"/>
                    </a:solidFill>
                  </a:tcPr>
                </a:tc>
              </a:tr>
              <a:tr h="384048">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Cloud</a:t>
                      </a:r>
                      <a:endParaRPr lang="en-US" sz="11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DED"/>
                    </a:solidFill>
                  </a:tcPr>
                </a:tc>
                <a:tc>
                  <a:txBody>
                    <a:bodyPr/>
                    <a:lstStyle/>
                    <a:p>
                      <a:pPr algn="r" indent="0" marL="0">
                        <a:buNone/>
                      </a:pPr>
                      <a:r>
                        <a:rPr lang="en-US" sz="1100" b="1" dirty="0">
                          <a:solidFill>
                            <a:srgbClr val="C8102E"/>
                          </a:solidFill>
                          <a:latin typeface="Arial" pitchFamily="34" charset="0"/>
                          <a:ea typeface="Arial" pitchFamily="34" charset="-122"/>
                          <a:cs typeface="Arial" pitchFamily="34" charset="-120"/>
                        </a:rPr>
                        <a:t>0.1%→1.6%</a:t>
                      </a:r>
                      <a:endParaRPr lang="en-US" sz="11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DED"/>
                    </a:solidFill>
                  </a:tcPr>
                </a:tc>
                <a:tc>
                  <a:txBody>
                    <a:bodyPr/>
                    <a:lstStyle/>
                    <a:p>
                      <a:pPr algn="r" indent="0" marL="0">
                        <a:buNone/>
                      </a:pPr>
                      <a:r>
                        <a:rPr lang="en-US" sz="1100" dirty="0">
                          <a:solidFill>
                            <a:srgbClr val="222222"/>
                          </a:solidFill>
                          <a:latin typeface="Arial" pitchFamily="34" charset="0"/>
                          <a:ea typeface="Arial" pitchFamily="34" charset="-122"/>
                          <a:cs typeface="Arial" pitchFamily="34" charset="-120"/>
                        </a:rPr>
                        <a:t>17%*</a:t>
                      </a:r>
                      <a:endParaRPr lang="en-US" sz="11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DED"/>
                    </a:solidFill>
                  </a:tcPr>
                </a:tc>
              </a:tr>
            </a:tbl>
          </a:graphicData>
        </a:graphic>
      </p:graphicFrame>
      <p:sp>
        <p:nvSpPr>
          <p:cNvPr id="9" name="Text 5"/>
          <p:cNvSpPr txBox="1"/>
          <p:nvPr/>
        </p:nvSpPr>
        <p:spPr>
          <a:xfrm>
            <a:off x="5303520" y="4251960"/>
            <a:ext cx="3108960" cy="548640"/>
          </a:xfrm>
          <a:prstGeom prst="rect">
            <a:avLst/>
          </a:prstGeom>
          <a:noFill/>
          <a:ln/>
        </p:spPr>
        <p:txBody>
          <a:bodyPr wrap="square" lIns="0" tIns="0" rIns="0" bIns="0" rtlCol="0" anchor="ctr"/>
          <a:lstStyle/>
          <a:p>
            <a:pPr indent="0" marL="0">
              <a:buNone/>
            </a:pPr>
            <a:r>
              <a:rPr lang="en-US" sz="850" i="1" dirty="0">
                <a:solidFill>
                  <a:srgbClr val="7F7F7F"/>
                </a:solidFill>
                <a:latin typeface="Arial" pitchFamily="34" charset="0"/>
                <a:ea typeface="Arial" pitchFamily="34" charset="-122"/>
                <a:cs typeface="Arial" pitchFamily="34" charset="-120"/>
              </a:rPr>
              <a:t>*Peer cloud = share of modernisation investment. Peer mix is enterprise-wide, L400 mix is platform-only: directional.</a:t>
            </a:r>
            <a:endParaRPr lang="en-US" sz="850" dirty="0"/>
          </a:p>
        </p:txBody>
      </p:sp>
      <p:sp>
        <p:nvSpPr>
          <p:cNvPr id="10" name="Shape 6"/>
          <p:cNvSpPr/>
          <p:nvPr/>
        </p:nvSpPr>
        <p:spPr>
          <a:xfrm>
            <a:off x="8686800" y="1783080"/>
            <a:ext cx="3044952" cy="1371600"/>
          </a:xfrm>
          <a:prstGeom prst="rect">
            <a:avLst/>
          </a:prstGeom>
          <a:solidFill>
            <a:srgbClr val="EDEDED"/>
          </a:solidFill>
          <a:ln w="12700">
            <a:solidFill>
              <a:srgbClr val="EDEDED"/>
            </a:solidFill>
            <a:prstDash val="solid"/>
          </a:ln>
        </p:spPr>
      </p:sp>
      <p:sp>
        <p:nvSpPr>
          <p:cNvPr id="11" name="Text 7"/>
          <p:cNvSpPr txBox="1"/>
          <p:nvPr/>
        </p:nvSpPr>
        <p:spPr>
          <a:xfrm>
            <a:off x="8778240" y="1783080"/>
            <a:ext cx="2862072" cy="1371600"/>
          </a:xfrm>
          <a:prstGeom prst="rect">
            <a:avLst/>
          </a:prstGeom>
          <a:noFill/>
          <a:ln/>
        </p:spPr>
        <p:txBody>
          <a:bodyPr wrap="square" lIns="635" tIns="635" rIns="635" bIns="635" rtlCol="0" anchor="ctr"/>
          <a:lstStyle/>
          <a:p>
            <a:pPr indent="0" marL="0">
              <a:buNone/>
            </a:pPr>
            <a:r>
              <a:rPr lang="en-US" sz="1100" b="1" dirty="0">
                <a:solidFill>
                  <a:srgbClr val="C8102E"/>
                </a:solidFill>
                <a:latin typeface="Arial" pitchFamily="34" charset="0"/>
                <a:ea typeface="Arial" pitchFamily="34" charset="-122"/>
                <a:cs typeface="Arial" pitchFamily="34" charset="-120"/>
              </a:rPr>
              <a:t>Change-heavy</a:t>
            </a:r>
            <a:endParaRPr lang="en-US" sz="1100" dirty="0"/>
          </a:p>
          <a:p>
            <a:pPr indent="0" marL="0">
              <a:buNone/>
            </a:pPr>
            <a:r>
              <a:rPr lang="en-US" sz="1100" dirty="0">
                <a:solidFill>
                  <a:srgbClr val="222222"/>
                </a:solidFill>
                <a:latin typeface="Arial" pitchFamily="34" charset="0"/>
                <a:ea typeface="Arial" pitchFamily="34" charset="-122"/>
                <a:cs typeface="Arial" pitchFamily="34" charset="-120"/>
              </a:rPr>
              <a:t>Run is 26% against 73% for peers. New builds must be modular so they do not become future run cost.</a:t>
            </a:r>
            <a:endParaRPr lang="en-US" sz="1100" dirty="0"/>
          </a:p>
        </p:txBody>
      </p:sp>
      <p:sp>
        <p:nvSpPr>
          <p:cNvPr id="12" name="Shape 8"/>
          <p:cNvSpPr/>
          <p:nvPr/>
        </p:nvSpPr>
        <p:spPr>
          <a:xfrm>
            <a:off x="8686800" y="3291840"/>
            <a:ext cx="3044952" cy="1371600"/>
          </a:xfrm>
          <a:prstGeom prst="rect">
            <a:avLst/>
          </a:prstGeom>
          <a:solidFill>
            <a:srgbClr val="EDEDED"/>
          </a:solidFill>
          <a:ln w="12700">
            <a:solidFill>
              <a:srgbClr val="EDEDED"/>
            </a:solidFill>
            <a:prstDash val="solid"/>
          </a:ln>
        </p:spPr>
      </p:sp>
      <p:sp>
        <p:nvSpPr>
          <p:cNvPr id="13" name="Text 9"/>
          <p:cNvSpPr txBox="1"/>
          <p:nvPr/>
        </p:nvSpPr>
        <p:spPr>
          <a:xfrm>
            <a:off x="8778240" y="3291840"/>
            <a:ext cx="2862072" cy="1371600"/>
          </a:xfrm>
          <a:prstGeom prst="rect">
            <a:avLst/>
          </a:prstGeom>
          <a:noFill/>
          <a:ln/>
        </p:spPr>
        <p:txBody>
          <a:bodyPr wrap="square" lIns="635" tIns="635" rIns="635" bIns="635" rtlCol="0" anchor="ctr"/>
          <a:lstStyle/>
          <a:p>
            <a:pPr indent="0" marL="0">
              <a:buNone/>
            </a:pPr>
            <a:r>
              <a:rPr lang="en-US" sz="1100" b="1" dirty="0">
                <a:solidFill>
                  <a:srgbClr val="C8102E"/>
                </a:solidFill>
                <a:latin typeface="Arial" pitchFamily="34" charset="0"/>
                <a:ea typeface="Arial" pitchFamily="34" charset="-122"/>
                <a:cs typeface="Arial" pitchFamily="34" charset="-120"/>
              </a:rPr>
              <a:t>Vendor reliance</a:t>
            </a:r>
            <a:endParaRPr lang="en-US" sz="1100" dirty="0"/>
          </a:p>
          <a:p>
            <a:pPr indent="0" marL="0">
              <a:buNone/>
            </a:pPr>
            <a:r>
              <a:rPr lang="en-US" sz="1100" dirty="0">
                <a:solidFill>
                  <a:srgbClr val="222222"/>
                </a:solidFill>
                <a:latin typeface="Arial" pitchFamily="34" charset="0"/>
                <a:ea typeface="Arial" pitchFamily="34" charset="-122"/>
                <a:cs typeface="Arial" pitchFamily="34" charset="-120"/>
              </a:rPr>
              <a:t>External labour is USD 3.8m → 4.2m, incl. a DXC SOW of USD 3.2m. This is the resilience lens.</a:t>
            </a:r>
            <a:endParaRPr lang="en-US" sz="1100" dirty="0"/>
          </a:p>
        </p:txBody>
      </p:sp>
      <p:sp>
        <p:nvSpPr>
          <p:cNvPr id="14" name="Shape 10"/>
          <p:cNvSpPr/>
          <p:nvPr/>
        </p:nvSpPr>
        <p:spPr>
          <a:xfrm>
            <a:off x="8686800" y="4800600"/>
            <a:ext cx="3044952" cy="1417320"/>
          </a:xfrm>
          <a:prstGeom prst="rect">
            <a:avLst/>
          </a:prstGeom>
          <a:solidFill>
            <a:srgbClr val="C8102E"/>
          </a:solidFill>
          <a:ln w="12700">
            <a:solidFill>
              <a:srgbClr val="C8102E"/>
            </a:solidFill>
            <a:prstDash val="solid"/>
          </a:ln>
        </p:spPr>
      </p:sp>
      <p:sp>
        <p:nvSpPr>
          <p:cNvPr id="15" name="Text 11"/>
          <p:cNvSpPr txBox="1"/>
          <p:nvPr/>
        </p:nvSpPr>
        <p:spPr>
          <a:xfrm>
            <a:off x="8778240" y="4800600"/>
            <a:ext cx="2862072" cy="1417320"/>
          </a:xfrm>
          <a:prstGeom prst="rect">
            <a:avLst/>
          </a:prstGeom>
          <a:noFill/>
          <a:ln/>
        </p:spPr>
        <p:txBody>
          <a:bodyPr wrap="square" lIns="635" tIns="635" rIns="635" bIns="635" rtlCol="0" anchor="ctr"/>
          <a:lstStyle/>
          <a:p>
            <a:pPr indent="0" marL="0">
              <a:buNone/>
            </a:pPr>
            <a:r>
              <a:rPr lang="en-US" sz="1100" b="1" dirty="0">
                <a:solidFill>
                  <a:srgbClr val="FFFFFF"/>
                </a:solidFill>
                <a:latin typeface="Arial" pitchFamily="34" charset="0"/>
                <a:ea typeface="Arial" pitchFamily="34" charset="-122"/>
                <a:cs typeface="Arial" pitchFamily="34" charset="-120"/>
              </a:rPr>
              <a:t>Cloud from a near-zero base</a:t>
            </a:r>
            <a:endParaRPr lang="en-US" sz="1100" dirty="0"/>
          </a:p>
          <a:p>
            <a:pPr indent="0" marL="0">
              <a:buNone/>
            </a:pPr>
            <a:r>
              <a:rPr lang="en-US" sz="1100" dirty="0">
                <a:solidFill>
                  <a:srgbClr val="FFFFFF"/>
                </a:solidFill>
                <a:latin typeface="Arial" pitchFamily="34" charset="0"/>
                <a:ea typeface="Arial" pitchFamily="34" charset="-122"/>
                <a:cs typeface="Arial" pitchFamily="34" charset="-120"/>
              </a:rPr>
              <a:t>Cloud grows from USD 10k to 178k. Infrastructure (USD 1.9m) is where acceleration can free cost.</a:t>
            </a:r>
            <a:endParaRPr lang="en-US" sz="1100" dirty="0"/>
          </a:p>
        </p:txBody>
      </p:sp>
      <p:sp>
        <p:nvSpPr>
          <p:cNvPr id="16" name="Text 12"/>
          <p:cNvSpPr txBox="1"/>
          <p:nvPr/>
        </p:nvSpPr>
        <p:spPr>
          <a:xfrm>
            <a:off x="457200" y="6419088"/>
            <a:ext cx="10725912" cy="320040"/>
          </a:xfrm>
          <a:prstGeom prst="rect">
            <a:avLst/>
          </a:prstGeom>
          <a:noFill/>
          <a:ln/>
        </p:spPr>
        <p:txBody>
          <a:bodyPr wrap="square" lIns="0" tIns="0" rIns="0" bIns="0" rtlCol="0" anchor="b"/>
          <a:lstStyle/>
          <a:p>
            <a:pPr indent="0" marL="0">
              <a:buNone/>
            </a:pPr>
            <a:r>
              <a:rPr lang="en-US" sz="850" dirty="0">
                <a:solidFill>
                  <a:srgbClr val="7F7F7F"/>
                </a:solidFill>
                <a:latin typeface="Arial" pitchFamily="34" charset="0"/>
                <a:ea typeface="Arial" pitchFamily="34" charset="-122"/>
                <a:cs typeface="Arial" pitchFamily="34" charset="-120"/>
              </a:rPr>
              <a:t>Source: HSBC Life PAS L400 benchmarking workbook ('HSBC vs Peers KPI – ICT basis'). HSBC FY2025 actual; LE2026 = Jan–Aug annualised. HK DWP 2024 (top 8). USD at HKD 7.8. L400 cost = labour view (internal + external labour + RTB).</a:t>
            </a:r>
            <a:endParaRPr lang="en-US" sz="850" dirty="0"/>
          </a:p>
        </p:txBody>
      </p:sp>
      <p:sp>
        <p:nvSpPr>
          <p:cNvPr id="17" name="Text 13"/>
          <p:cNvSpPr txBox="1"/>
          <p:nvPr/>
        </p:nvSpPr>
        <p:spPr>
          <a:xfrm>
            <a:off x="11274552" y="6419088"/>
            <a:ext cx="457200" cy="320040"/>
          </a:xfrm>
          <a:prstGeom prst="rect">
            <a:avLst/>
          </a:prstGeom>
          <a:noFill/>
          <a:ln/>
        </p:spPr>
        <p:txBody>
          <a:bodyPr wrap="square" lIns="0" tIns="0" rIns="0" bIns="0" rtlCol="0" anchor="b"/>
          <a:lstStyle/>
          <a:p>
            <a:pPr algn="r" indent="0" marL="0">
              <a:buNone/>
            </a:pPr>
            <a:r>
              <a:rPr lang="en-US" sz="900" dirty="0">
                <a:solidFill>
                  <a:srgbClr val="7F7F7F"/>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7315200" cy="274320"/>
          </a:xfrm>
          <a:prstGeom prst="rect">
            <a:avLst/>
          </a:prstGeom>
          <a:noFill/>
          <a:ln/>
        </p:spPr>
        <p:txBody>
          <a:bodyPr wrap="square" lIns="0" tIns="0" rIns="0" bIns="0" rtlCol="0" anchor="ctr"/>
          <a:lstStyle/>
          <a:p>
            <a:pPr indent="0" marL="0">
              <a:buNone/>
            </a:pPr>
            <a:r>
              <a:rPr lang="en-US" sz="1300" b="1" dirty="0">
                <a:solidFill>
                  <a:srgbClr val="C8102E"/>
                </a:solidFill>
                <a:latin typeface="Arial" pitchFamily="34" charset="0"/>
                <a:ea typeface="Arial" pitchFamily="34" charset="-122"/>
                <a:cs typeface="Arial" pitchFamily="34" charset="-120"/>
              </a:rPr>
              <a:t>05 </a:t>
            </a:r>
            <a:pPr indent="0" marL="0">
              <a:buNone/>
            </a:pPr>
            <a:r>
              <a:rPr lang="en-US" sz="1300" dirty="0">
                <a:solidFill>
                  <a:srgbClr val="C8102E"/>
                </a:solidFill>
                <a:latin typeface="Arial" pitchFamily="34" charset="0"/>
                <a:ea typeface="Arial" pitchFamily="34" charset="-122"/>
                <a:cs typeface="Arial" pitchFamily="34" charset="-120"/>
              </a:rPr>
              <a:t>| PAS Deep Dive – Productivity &amp; Unit Cost</a:t>
            </a:r>
            <a:endParaRPr lang="en-US" sz="1300" dirty="0"/>
          </a:p>
        </p:txBody>
      </p:sp>
      <p:sp>
        <p:nvSpPr>
          <p:cNvPr id="3" name="Text 1"/>
          <p:cNvSpPr txBox="1"/>
          <p:nvPr/>
        </p:nvSpPr>
        <p:spPr>
          <a:xfrm>
            <a:off x="457200" y="502920"/>
            <a:ext cx="11274552" cy="502920"/>
          </a:xfrm>
          <a:prstGeom prst="rect">
            <a:avLst/>
          </a:prstGeom>
          <a:noFill/>
          <a:ln/>
        </p:spPr>
        <p:txBody>
          <a:bodyPr wrap="square" lIns="0" tIns="0" rIns="0" bIns="0" rtlCol="0" anchor="t"/>
          <a:lstStyle/>
          <a:p>
            <a:pPr indent="0" marL="0">
              <a:buNone/>
            </a:pPr>
            <a:r>
              <a:rPr lang="en-US" sz="2200" dirty="0">
                <a:solidFill>
                  <a:srgbClr val="222222"/>
                </a:solidFill>
                <a:latin typeface="Arial" pitchFamily="34" charset="0"/>
                <a:ea typeface="Arial" pitchFamily="34" charset="-122"/>
                <a:cs typeface="Arial" pitchFamily="34" charset="-120"/>
              </a:rPr>
              <a:t>L400 looks lean per premium but costly per servicing case</a:t>
            </a:r>
            <a:endParaRPr lang="en-US" sz="2200" dirty="0"/>
          </a:p>
        </p:txBody>
      </p:sp>
      <p:sp>
        <p:nvSpPr>
          <p:cNvPr id="4" name="Text 2"/>
          <p:cNvSpPr txBox="1"/>
          <p:nvPr/>
        </p:nvSpPr>
        <p:spPr>
          <a:xfrm>
            <a:off x="457200" y="1024128"/>
            <a:ext cx="11274552" cy="548640"/>
          </a:xfrm>
          <a:prstGeom prst="rect">
            <a:avLst/>
          </a:prstGeom>
          <a:noFill/>
          <a:ln/>
        </p:spPr>
        <p:txBody>
          <a:bodyPr wrap="square" lIns="0" tIns="0" rIns="0" bIns="0" rtlCol="0" anchor="t"/>
          <a:lstStyle/>
          <a:p>
            <a:pPr indent="0" marL="0">
              <a:buNone/>
            </a:pPr>
            <a:r>
              <a:rPr lang="en-US" sz="1250" b="1" dirty="0">
                <a:solidFill>
                  <a:srgbClr val="222222"/>
                </a:solidFill>
                <a:latin typeface="Arial" pitchFamily="34" charset="0"/>
                <a:ea typeface="Arial" pitchFamily="34" charset="-122"/>
                <a:cs typeface="Arial" pitchFamily="34" charset="-120"/>
              </a:rPr>
              <a:t>Key takeaway: </a:t>
            </a:r>
            <a:pPr indent="0" marL="0">
              <a:buNone/>
            </a:pPr>
            <a:r>
              <a:rPr lang="en-US" sz="1250" dirty="0">
                <a:solidFill>
                  <a:srgbClr val="222222"/>
                </a:solidFill>
                <a:latin typeface="Arial" pitchFamily="34" charset="0"/>
                <a:ea typeface="Arial" pitchFamily="34" charset="-122"/>
                <a:cs typeface="Arial" pitchFamily="34" charset="-120"/>
              </a:rPr>
              <a:t>Per unit of premium, the L400 team is as productive as peers, and platform cost is a fraction of Sun Life's. Per servicing case it costs 6.5× more. The reason is the book: fewer, high-value policies. Cost targets should be set per segment, not with one ratio.</a:t>
            </a:r>
            <a:endParaRPr lang="en-US" sz="1250" dirty="0"/>
          </a:p>
        </p:txBody>
      </p:sp>
      <p:graphicFrame>
        <p:nvGraphicFramePr>
          <p:cNvPr id="5" name="Chart 0" descr=""/>
          <p:cNvGraphicFramePr/>
          <p:nvPr/>
        </p:nvGraphicFramePr>
        <p:xfrm>
          <a:off x="457200" y="1783080"/>
          <a:ext cx="475488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457200" y="5120640"/>
            <a:ext cx="4754880" cy="1097280"/>
          </a:xfrm>
          <a:prstGeom prst="rect">
            <a:avLst/>
          </a:prstGeom>
          <a:solidFill>
            <a:srgbClr val="8C8C8C"/>
          </a:solidFill>
          <a:ln w="12700">
            <a:solidFill>
              <a:srgbClr val="8C8C8C"/>
            </a:solidFill>
            <a:prstDash val="solid"/>
          </a:ln>
        </p:spPr>
      </p:sp>
      <p:sp>
        <p:nvSpPr>
          <p:cNvPr id="7" name="Text 4"/>
          <p:cNvSpPr txBox="1"/>
          <p:nvPr/>
        </p:nvSpPr>
        <p:spPr>
          <a:xfrm>
            <a:off x="548640" y="5120640"/>
            <a:ext cx="4572000" cy="1097280"/>
          </a:xfrm>
          <a:prstGeom prst="rect">
            <a:avLst/>
          </a:prstGeom>
          <a:noFill/>
          <a:ln/>
        </p:spPr>
        <p:txBody>
          <a:bodyPr wrap="square" lIns="635" tIns="635" rIns="635" bIns="635" rtlCol="0" anchor="ctr"/>
          <a:lstStyle/>
          <a:p>
            <a:pPr indent="0" marL="0">
              <a:buNone/>
            </a:pPr>
            <a:r>
              <a:rPr lang="en-US" sz="1100" dirty="0">
                <a:solidFill>
                  <a:srgbClr val="FFFFFF"/>
                </a:solidFill>
                <a:latin typeface="Arial" pitchFamily="34" charset="0"/>
                <a:ea typeface="Arial" pitchFamily="34" charset="-122"/>
                <a:cs typeface="Arial" pitchFamily="34" charset="-120"/>
              </a:rPr>
              <a:t>L400 IT FTE rises from 66 to 85 (+29%) in LE26, so premium per FTE drops below all peers. Peers run 40–65 PAS FTE.</a:t>
            </a:r>
            <a:endParaRPr lang="en-US" sz="1100" dirty="0"/>
          </a:p>
        </p:txBody>
      </p:sp>
      <p:sp>
        <p:nvSpPr>
          <p:cNvPr id="8" name="Shape 5"/>
          <p:cNvSpPr/>
          <p:nvPr/>
        </p:nvSpPr>
        <p:spPr>
          <a:xfrm>
            <a:off x="5486400" y="1783080"/>
            <a:ext cx="6245352" cy="347472"/>
          </a:xfrm>
          <a:prstGeom prst="rect">
            <a:avLst/>
          </a:prstGeom>
          <a:solidFill>
            <a:srgbClr val="C8102E"/>
          </a:solidFill>
          <a:ln w="12700">
            <a:solidFill>
              <a:srgbClr val="C8102E"/>
            </a:solidFill>
            <a:prstDash val="solid"/>
          </a:ln>
        </p:spPr>
      </p:sp>
      <p:sp>
        <p:nvSpPr>
          <p:cNvPr id="9" name="Text 6"/>
          <p:cNvSpPr txBox="1"/>
          <p:nvPr/>
        </p:nvSpPr>
        <p:spPr>
          <a:xfrm>
            <a:off x="5577840" y="1783080"/>
            <a:ext cx="6062472" cy="347472"/>
          </a:xfrm>
          <a:prstGeom prst="rect">
            <a:avLst/>
          </a:prstGeom>
          <a:noFill/>
          <a:ln/>
        </p:spPr>
        <p:txBody>
          <a:bodyPr wrap="square" lIns="635" tIns="635" rIns="635" bIns="635" rtlCol="0" anchor="ctr"/>
          <a:lstStyle/>
          <a:p>
            <a:pPr algn="l" indent="0" marL="0">
              <a:buNone/>
            </a:pPr>
            <a:r>
              <a:rPr lang="en-US" sz="1200" b="1" dirty="0">
                <a:solidFill>
                  <a:srgbClr val="FFFFFF"/>
                </a:solidFill>
                <a:latin typeface="Arial" pitchFamily="34" charset="0"/>
                <a:ea typeface="Arial" pitchFamily="34" charset="-122"/>
                <a:cs typeface="Arial" pitchFamily="34" charset="-120"/>
              </a:rPr>
              <a:t>PAS unit cost: HSBC FY2025 vs Sun Life</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0" y="2240280"/>
          <a:ext cx="6245352" cy="914400"/>
        </p:xfrm>
        <a:graphic>
          <a:graphicData uri="http://schemas.openxmlformats.org/drawingml/2006/table">
            <a:tbl>
              <a:tblPr/>
              <a:tblGrid>
                <a:gridCol w="2514600"/>
                <a:gridCol w="822960"/>
                <a:gridCol w="868680"/>
                <a:gridCol w="822960"/>
                <a:gridCol w="1216152"/>
              </a:tblGrid>
              <a:tr h="411480">
                <a:tc>
                  <a:txBody>
                    <a:bodyPr/>
                    <a:lstStyle/>
                    <a:p>
                      <a:pPr algn="l" indent="0" marL="0">
                        <a:buNone/>
                      </a:pPr>
                      <a:r>
                        <a:rPr lang="en-US" sz="1100" b="1" dirty="0">
                          <a:solidFill>
                            <a:srgbClr val="7F7F7F"/>
                          </a:solidFill>
                          <a:latin typeface="Arial" pitchFamily="34" charset="0"/>
                          <a:ea typeface="Arial" pitchFamily="34" charset="-122"/>
                          <a:cs typeface="Arial" pitchFamily="34" charset="-120"/>
                        </a:rPr>
                        <a:t>Metric</a:t>
                      </a:r>
                      <a:endParaRPr lang="en-US" sz="11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7F7F7F"/>
                          </a:solidFill>
                          <a:latin typeface="Arial" pitchFamily="34" charset="0"/>
                          <a:ea typeface="Arial" pitchFamily="34" charset="-122"/>
                          <a:cs typeface="Arial" pitchFamily="34" charset="-120"/>
                        </a:rPr>
                        <a:t>HSBC</a:t>
                      </a:r>
                      <a:endParaRPr lang="en-US" sz="11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7F7F7F"/>
                          </a:solidFill>
                          <a:latin typeface="Arial" pitchFamily="34" charset="0"/>
                          <a:ea typeface="Arial" pitchFamily="34" charset="-122"/>
                          <a:cs typeface="Arial" pitchFamily="34" charset="-120"/>
                        </a:rPr>
                        <a:t>Sun Life</a:t>
                      </a:r>
                      <a:endParaRPr lang="en-US" sz="11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7F7F7F"/>
                          </a:solidFill>
                          <a:latin typeface="Arial" pitchFamily="34" charset="0"/>
                          <a:ea typeface="Arial" pitchFamily="34" charset="-122"/>
                          <a:cs typeface="Arial" pitchFamily="34" charset="-120"/>
                        </a:rPr>
                        <a:t>Gap</a:t>
                      </a:r>
                      <a:endParaRPr lang="en-US" sz="11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7F7F7F"/>
                          </a:solidFill>
                          <a:latin typeface="Arial" pitchFamily="34" charset="0"/>
                          <a:ea typeface="Arial" pitchFamily="34" charset="-122"/>
                          <a:cs typeface="Arial" pitchFamily="34" charset="-120"/>
                        </a:rPr>
                        <a:t>Comparability</a:t>
                      </a:r>
                      <a:endParaRPr lang="en-US" sz="11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r>
              <a:tr h="41148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Servicing cases (#)</a:t>
                      </a:r>
                      <a:endParaRPr lang="en-US" sz="11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DED"/>
                    </a:solidFill>
                  </a:tcPr>
                </a:tc>
                <a:tc>
                  <a:txBody>
                    <a:bodyPr/>
                    <a:lstStyle/>
                    <a:p>
                      <a:pPr algn="r" indent="0" marL="0">
                        <a:buNone/>
                      </a:pPr>
                      <a:r>
                        <a:rPr lang="en-US" sz="1100" dirty="0">
                          <a:solidFill>
                            <a:srgbClr val="222222"/>
                          </a:solidFill>
                          <a:latin typeface="Arial" pitchFamily="34" charset="0"/>
                          <a:ea typeface="Arial" pitchFamily="34" charset="-122"/>
                          <a:cs typeface="Arial" pitchFamily="34" charset="-120"/>
                        </a:rPr>
                        <a:t>323k</a:t>
                      </a:r>
                      <a:endParaRPr lang="en-US" sz="11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DED"/>
                    </a:solidFill>
                  </a:tcPr>
                </a:tc>
                <a:tc>
                  <a:txBody>
                    <a:bodyPr/>
                    <a:lstStyle/>
                    <a:p>
                      <a:pPr algn="r" indent="0" marL="0">
                        <a:buNone/>
                      </a:pPr>
                      <a:r>
                        <a:rPr lang="en-US" sz="1100" dirty="0">
                          <a:solidFill>
                            <a:srgbClr val="222222"/>
                          </a:solidFill>
                          <a:latin typeface="Arial" pitchFamily="34" charset="0"/>
                          <a:ea typeface="Arial" pitchFamily="34" charset="-122"/>
                          <a:cs typeface="Arial" pitchFamily="34" charset="-120"/>
                        </a:rPr>
                        <a:t>318k</a:t>
                      </a:r>
                      <a:endParaRPr lang="en-US" sz="11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DED"/>
                    </a:solidFill>
                  </a:tcPr>
                </a:tc>
                <a:tc>
                  <a:txBody>
                    <a:bodyPr/>
                    <a:lstStyle/>
                    <a:p>
                      <a:pPr algn="r" indent="0" marL="0">
                        <a:buNone/>
                      </a:pPr>
                      <a:r>
                        <a:rPr lang="en-US" sz="1100" b="1" dirty="0">
                          <a:solidFill>
                            <a:srgbClr val="C8102E"/>
                          </a:solidFill>
                          <a:latin typeface="Arial" pitchFamily="34" charset="0"/>
                          <a:ea typeface="Arial" pitchFamily="34" charset="-122"/>
                          <a:cs typeface="Arial" pitchFamily="34" charset="-120"/>
                        </a:rPr>
                        <a:t>In line</a:t>
                      </a:r>
                      <a:endParaRPr lang="en-US" sz="11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DED"/>
                    </a:solidFill>
                  </a:tcPr>
                </a:tc>
                <a:tc>
                  <a:txBody>
                    <a:bodyPr/>
                    <a:lstStyle/>
                    <a:p>
                      <a:pPr algn="r" indent="0" marL="0">
                        <a:buNone/>
                      </a:pPr>
                      <a:r>
                        <a:rPr lang="en-US" sz="1100" dirty="0">
                          <a:solidFill>
                            <a:srgbClr val="222222"/>
                          </a:solidFill>
                          <a:latin typeface="Arial" pitchFamily="34" charset="0"/>
                          <a:ea typeface="Arial" pitchFamily="34" charset="-122"/>
                          <a:cs typeface="Arial" pitchFamily="34" charset="-120"/>
                        </a:rPr>
                        <a:t>High</a:t>
                      </a:r>
                      <a:endParaRPr lang="en-US" sz="11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DED"/>
                    </a:solidFill>
                  </a:tcPr>
                </a:tc>
              </a:tr>
              <a:tr h="41148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PAS cost ÷ DWP</a:t>
                      </a:r>
                      <a:endParaRPr lang="en-US" sz="11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DED"/>
                    </a:solidFill>
                  </a:tcPr>
                </a:tc>
                <a:tc>
                  <a:txBody>
                    <a:bodyPr/>
                    <a:lstStyle/>
                    <a:p>
                      <a:pPr algn="r" indent="0" marL="0">
                        <a:buNone/>
                      </a:pPr>
                      <a:r>
                        <a:rPr lang="en-US" sz="1100" dirty="0">
                          <a:solidFill>
                            <a:srgbClr val="222222"/>
                          </a:solidFill>
                          <a:latin typeface="Arial" pitchFamily="34" charset="0"/>
                          <a:ea typeface="Arial" pitchFamily="34" charset="-122"/>
                          <a:cs typeface="Arial" pitchFamily="34" charset="-120"/>
                        </a:rPr>
                        <a:t>0.08%</a:t>
                      </a:r>
                      <a:endParaRPr lang="en-US" sz="11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DED"/>
                    </a:solidFill>
                  </a:tcPr>
                </a:tc>
                <a:tc>
                  <a:txBody>
                    <a:bodyPr/>
                    <a:lstStyle/>
                    <a:p>
                      <a:pPr algn="r" indent="0" marL="0">
                        <a:buNone/>
                      </a:pPr>
                      <a:r>
                        <a:rPr lang="en-US" sz="1100" dirty="0">
                          <a:solidFill>
                            <a:srgbClr val="222222"/>
                          </a:solidFill>
                          <a:latin typeface="Arial" pitchFamily="34" charset="0"/>
                          <a:ea typeface="Arial" pitchFamily="34" charset="-122"/>
                          <a:cs typeface="Arial" pitchFamily="34" charset="-120"/>
                        </a:rPr>
                        <a:t>0.91%</a:t>
                      </a:r>
                      <a:endParaRPr lang="en-US" sz="11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DED"/>
                    </a:solidFill>
                  </a:tcPr>
                </a:tc>
                <a:tc>
                  <a:txBody>
                    <a:bodyPr/>
                    <a:lstStyle/>
                    <a:p>
                      <a:pPr algn="r" indent="0" marL="0">
                        <a:buNone/>
                      </a:pPr>
                      <a:r>
                        <a:rPr lang="en-US" sz="1100" b="1" dirty="0">
                          <a:solidFill>
                            <a:srgbClr val="C8102E"/>
                          </a:solidFill>
                          <a:latin typeface="Arial" pitchFamily="34" charset="0"/>
                          <a:ea typeface="Arial" pitchFamily="34" charset="-122"/>
                          <a:cs typeface="Arial" pitchFamily="34" charset="-120"/>
                        </a:rPr>
                        <a:t>−91%</a:t>
                      </a:r>
                      <a:endParaRPr lang="en-US" sz="11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DED"/>
                    </a:solidFill>
                  </a:tcPr>
                </a:tc>
                <a:tc>
                  <a:txBody>
                    <a:bodyPr/>
                    <a:lstStyle/>
                    <a:p>
                      <a:pPr algn="r" indent="0" marL="0">
                        <a:buNone/>
                      </a:pPr>
                      <a:r>
                        <a:rPr lang="en-US" sz="1100" dirty="0">
                          <a:solidFill>
                            <a:srgbClr val="222222"/>
                          </a:solidFill>
                          <a:latin typeface="Arial" pitchFamily="34" charset="0"/>
                          <a:ea typeface="Arial" pitchFamily="34" charset="-122"/>
                          <a:cs typeface="Arial" pitchFamily="34" charset="-120"/>
                        </a:rPr>
                        <a:t>Medium</a:t>
                      </a:r>
                      <a:endParaRPr lang="en-US" sz="11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DED"/>
                    </a:solidFill>
                  </a:tcPr>
                </a:tc>
              </a:tr>
              <a:tr h="41148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PAS cost per servicing case (USD)</a:t>
                      </a:r>
                      <a:endParaRPr lang="en-US" sz="11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DED"/>
                    </a:solidFill>
                  </a:tcPr>
                </a:tc>
                <a:tc>
                  <a:txBody>
                    <a:bodyPr/>
                    <a:lstStyle/>
                    <a:p>
                      <a:pPr algn="r" indent="0" marL="0">
                        <a:buNone/>
                      </a:pPr>
                      <a:r>
                        <a:rPr lang="en-US" sz="1100" dirty="0">
                          <a:solidFill>
                            <a:srgbClr val="222222"/>
                          </a:solidFill>
                          <a:latin typeface="Arial" pitchFamily="34" charset="0"/>
                          <a:ea typeface="Arial" pitchFamily="34" charset="-122"/>
                          <a:cs typeface="Arial" pitchFamily="34" charset="-120"/>
                        </a:rPr>
                        <a:t>30.5</a:t>
                      </a:r>
                      <a:endParaRPr lang="en-US" sz="11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DED"/>
                    </a:solidFill>
                  </a:tcPr>
                </a:tc>
                <a:tc>
                  <a:txBody>
                    <a:bodyPr/>
                    <a:lstStyle/>
                    <a:p>
                      <a:pPr algn="r" indent="0" marL="0">
                        <a:buNone/>
                      </a:pPr>
                      <a:r>
                        <a:rPr lang="en-US" sz="1100" dirty="0">
                          <a:solidFill>
                            <a:srgbClr val="222222"/>
                          </a:solidFill>
                          <a:latin typeface="Arial" pitchFamily="34" charset="0"/>
                          <a:ea typeface="Arial" pitchFamily="34" charset="-122"/>
                          <a:cs typeface="Arial" pitchFamily="34" charset="-120"/>
                        </a:rPr>
                        <a:t>4.7</a:t>
                      </a:r>
                      <a:endParaRPr lang="en-US" sz="11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DED"/>
                    </a:solidFill>
                  </a:tcPr>
                </a:tc>
                <a:tc>
                  <a:txBody>
                    <a:bodyPr/>
                    <a:lstStyle/>
                    <a:p>
                      <a:pPr algn="r" indent="0" marL="0">
                        <a:buNone/>
                      </a:pPr>
                      <a:r>
                        <a:rPr lang="en-US" sz="1100" b="1" dirty="0">
                          <a:solidFill>
                            <a:srgbClr val="C8102E"/>
                          </a:solidFill>
                          <a:latin typeface="Arial" pitchFamily="34" charset="0"/>
                          <a:ea typeface="Arial" pitchFamily="34" charset="-122"/>
                          <a:cs typeface="Arial" pitchFamily="34" charset="-120"/>
                        </a:rPr>
                        <a:t>6.5×</a:t>
                      </a:r>
                      <a:endParaRPr lang="en-US" sz="11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DED"/>
                    </a:solidFill>
                  </a:tcPr>
                </a:tc>
                <a:tc>
                  <a:txBody>
                    <a:bodyPr/>
                    <a:lstStyle/>
                    <a:p>
                      <a:pPr algn="r" indent="0" marL="0">
                        <a:buNone/>
                      </a:pPr>
                      <a:r>
                        <a:rPr lang="en-US" sz="1100" dirty="0">
                          <a:solidFill>
                            <a:srgbClr val="222222"/>
                          </a:solidFill>
                          <a:latin typeface="Arial" pitchFamily="34" charset="0"/>
                          <a:ea typeface="Arial" pitchFamily="34" charset="-122"/>
                          <a:cs typeface="Arial" pitchFamily="34" charset="-120"/>
                        </a:rPr>
                        <a:t>Low</a:t>
                      </a:r>
                      <a:endParaRPr lang="en-US" sz="11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DED"/>
                    </a:solidFill>
                  </a:tcPr>
                </a:tc>
              </a:tr>
              <a:tr h="41148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PAS cost per in-force policy (USD)</a:t>
                      </a:r>
                      <a:endParaRPr lang="en-US" sz="11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DED"/>
                    </a:solidFill>
                  </a:tcPr>
                </a:tc>
                <a:tc>
                  <a:txBody>
                    <a:bodyPr/>
                    <a:lstStyle/>
                    <a:p>
                      <a:pPr algn="r" indent="0" marL="0">
                        <a:buNone/>
                      </a:pPr>
                      <a:r>
                        <a:rPr lang="en-US" sz="1100" dirty="0">
                          <a:solidFill>
                            <a:srgbClr val="222222"/>
                          </a:solidFill>
                          <a:latin typeface="Arial" pitchFamily="34" charset="0"/>
                          <a:ea typeface="Arial" pitchFamily="34" charset="-122"/>
                          <a:cs typeface="Arial" pitchFamily="34" charset="-120"/>
                        </a:rPr>
                        <a:t>13.2</a:t>
                      </a:r>
                      <a:endParaRPr lang="en-US" sz="11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DED"/>
                    </a:solidFill>
                  </a:tcPr>
                </a:tc>
                <a:tc>
                  <a:txBody>
                    <a:bodyPr/>
                    <a:lstStyle/>
                    <a:p>
                      <a:pPr algn="r" indent="0" marL="0">
                        <a:buNone/>
                      </a:pPr>
                      <a:r>
                        <a:rPr lang="en-US" sz="1100" dirty="0">
                          <a:solidFill>
                            <a:srgbClr val="222222"/>
                          </a:solidFill>
                          <a:latin typeface="Arial" pitchFamily="34" charset="0"/>
                          <a:ea typeface="Arial" pitchFamily="34" charset="-122"/>
                          <a:cs typeface="Arial" pitchFamily="34" charset="-120"/>
                        </a:rPr>
                        <a:t>2.1</a:t>
                      </a:r>
                      <a:endParaRPr lang="en-US" sz="11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DED"/>
                    </a:solidFill>
                  </a:tcPr>
                </a:tc>
                <a:tc>
                  <a:txBody>
                    <a:bodyPr/>
                    <a:lstStyle/>
                    <a:p>
                      <a:pPr algn="r" indent="0" marL="0">
                        <a:buNone/>
                      </a:pPr>
                      <a:r>
                        <a:rPr lang="en-US" sz="1100" b="1" dirty="0">
                          <a:solidFill>
                            <a:srgbClr val="C8102E"/>
                          </a:solidFill>
                          <a:latin typeface="Arial" pitchFamily="34" charset="0"/>
                          <a:ea typeface="Arial" pitchFamily="34" charset="-122"/>
                          <a:cs typeface="Arial" pitchFamily="34" charset="-120"/>
                        </a:rPr>
                        <a:t>6.4×</a:t>
                      </a:r>
                      <a:endParaRPr lang="en-US" sz="11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DED"/>
                    </a:solidFill>
                  </a:tcPr>
                </a:tc>
                <a:tc>
                  <a:txBody>
                    <a:bodyPr/>
                    <a:lstStyle/>
                    <a:p>
                      <a:pPr algn="r" indent="0" marL="0">
                        <a:buNone/>
                      </a:pPr>
                      <a:r>
                        <a:rPr lang="en-US" sz="1100" dirty="0">
                          <a:solidFill>
                            <a:srgbClr val="222222"/>
                          </a:solidFill>
                          <a:latin typeface="Arial" pitchFamily="34" charset="0"/>
                          <a:ea typeface="Arial" pitchFamily="34" charset="-122"/>
                          <a:cs typeface="Arial" pitchFamily="34" charset="-120"/>
                        </a:rPr>
                        <a:t>Low</a:t>
                      </a:r>
                      <a:endParaRPr lang="en-US" sz="11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DED"/>
                    </a:solidFill>
                  </a:tcPr>
                </a:tc>
              </a:tr>
              <a:tr h="41148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PAS cost per cancellation (USD)</a:t>
                      </a:r>
                      <a:endParaRPr lang="en-US" sz="11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DED"/>
                    </a:solidFill>
                  </a:tcPr>
                </a:tc>
                <a:tc>
                  <a:txBody>
                    <a:bodyPr/>
                    <a:lstStyle/>
                    <a:p>
                      <a:pPr algn="r" indent="0" marL="0">
                        <a:buNone/>
                      </a:pPr>
                      <a:r>
                        <a:rPr lang="en-US" sz="1100" dirty="0">
                          <a:solidFill>
                            <a:srgbClr val="222222"/>
                          </a:solidFill>
                          <a:latin typeface="Arial" pitchFamily="34" charset="0"/>
                          <a:ea typeface="Arial" pitchFamily="34" charset="-122"/>
                          <a:cs typeface="Arial" pitchFamily="34" charset="-120"/>
                        </a:rPr>
                        <a:t>233</a:t>
                      </a:r>
                      <a:endParaRPr lang="en-US" sz="11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DED"/>
                    </a:solidFill>
                  </a:tcPr>
                </a:tc>
                <a:tc>
                  <a:txBody>
                    <a:bodyPr/>
                    <a:lstStyle/>
                    <a:p>
                      <a:pPr algn="r" indent="0" marL="0">
                        <a:buNone/>
                      </a:pPr>
                      <a:r>
                        <a:rPr lang="en-US" sz="1100" dirty="0">
                          <a:solidFill>
                            <a:srgbClr val="222222"/>
                          </a:solidFill>
                          <a:latin typeface="Arial" pitchFamily="34" charset="0"/>
                          <a:ea typeface="Arial" pitchFamily="34" charset="-122"/>
                          <a:cs typeface="Arial" pitchFamily="34" charset="-120"/>
                        </a:rPr>
                        <a:t>234</a:t>
                      </a:r>
                      <a:endParaRPr lang="en-US" sz="11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DED"/>
                    </a:solidFill>
                  </a:tcPr>
                </a:tc>
                <a:tc>
                  <a:txBody>
                    <a:bodyPr/>
                    <a:lstStyle/>
                    <a:p>
                      <a:pPr algn="r" indent="0" marL="0">
                        <a:buNone/>
                      </a:pPr>
                      <a:r>
                        <a:rPr lang="en-US" sz="1100" b="1" dirty="0">
                          <a:solidFill>
                            <a:srgbClr val="C8102E"/>
                          </a:solidFill>
                          <a:latin typeface="Arial" pitchFamily="34" charset="0"/>
                          <a:ea typeface="Arial" pitchFamily="34" charset="-122"/>
                          <a:cs typeface="Arial" pitchFamily="34" charset="-120"/>
                        </a:rPr>
                        <a:t>In line</a:t>
                      </a:r>
                      <a:endParaRPr lang="en-US" sz="11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DED"/>
                    </a:solidFill>
                  </a:tcPr>
                </a:tc>
                <a:tc>
                  <a:txBody>
                    <a:bodyPr/>
                    <a:lstStyle/>
                    <a:p>
                      <a:pPr algn="r" indent="0" marL="0">
                        <a:buNone/>
                      </a:pPr>
                      <a:r>
                        <a:rPr lang="en-US" sz="1100" dirty="0">
                          <a:solidFill>
                            <a:srgbClr val="222222"/>
                          </a:solidFill>
                          <a:latin typeface="Arial" pitchFamily="34" charset="0"/>
                          <a:ea typeface="Arial" pitchFamily="34" charset="-122"/>
                          <a:cs typeface="Arial" pitchFamily="34" charset="-120"/>
                        </a:rPr>
                        <a:t>High</a:t>
                      </a:r>
                      <a:endParaRPr lang="en-US" sz="11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DED"/>
                    </a:solidFill>
                  </a:tcPr>
                </a:tc>
              </a:tr>
              <a:tr h="41148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DWP per in-force policy (USD)</a:t>
                      </a:r>
                      <a:endParaRPr lang="en-US" sz="11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DED"/>
                    </a:solidFill>
                  </a:tcPr>
                </a:tc>
                <a:tc>
                  <a:txBody>
                    <a:bodyPr/>
                    <a:lstStyle/>
                    <a:p>
                      <a:pPr algn="r" indent="0" marL="0">
                        <a:buNone/>
                      </a:pPr>
                      <a:r>
                        <a:rPr lang="en-US" sz="1100" dirty="0">
                          <a:solidFill>
                            <a:srgbClr val="222222"/>
                          </a:solidFill>
                          <a:latin typeface="Arial" pitchFamily="34" charset="0"/>
                          <a:ea typeface="Arial" pitchFamily="34" charset="-122"/>
                          <a:cs typeface="Arial" pitchFamily="34" charset="-120"/>
                        </a:rPr>
                        <a:t>16.4k</a:t>
                      </a:r>
                      <a:endParaRPr lang="en-US" sz="11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DED"/>
                    </a:solidFill>
                  </a:tcPr>
                </a:tc>
                <a:tc>
                  <a:txBody>
                    <a:bodyPr/>
                    <a:lstStyle/>
                    <a:p>
                      <a:pPr algn="r" indent="0" marL="0">
                        <a:buNone/>
                      </a:pPr>
                      <a:r>
                        <a:rPr lang="en-US" sz="1100" dirty="0">
                          <a:solidFill>
                            <a:srgbClr val="222222"/>
                          </a:solidFill>
                          <a:latin typeface="Arial" pitchFamily="34" charset="0"/>
                          <a:ea typeface="Arial" pitchFamily="34" charset="-122"/>
                          <a:cs typeface="Arial" pitchFamily="34" charset="-120"/>
                        </a:rPr>
                        <a:t>0.2k</a:t>
                      </a:r>
                      <a:endParaRPr lang="en-US" sz="11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DED"/>
                    </a:solidFill>
                  </a:tcPr>
                </a:tc>
                <a:tc>
                  <a:txBody>
                    <a:bodyPr/>
                    <a:lstStyle/>
                    <a:p>
                      <a:pPr algn="r" indent="0" marL="0">
                        <a:buNone/>
                      </a:pPr>
                      <a:r>
                        <a:rPr lang="en-US" sz="1100" b="1" dirty="0">
                          <a:solidFill>
                            <a:srgbClr val="C8102E"/>
                          </a:solidFill>
                          <a:latin typeface="Arial" pitchFamily="34" charset="0"/>
                          <a:ea typeface="Arial" pitchFamily="34" charset="-122"/>
                          <a:cs typeface="Arial" pitchFamily="34" charset="-120"/>
                        </a:rPr>
                        <a:t>72×</a:t>
                      </a:r>
                      <a:endParaRPr lang="en-US" sz="11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DED"/>
                    </a:solidFill>
                  </a:tcPr>
                </a:tc>
                <a:tc>
                  <a:txBody>
                    <a:bodyPr/>
                    <a:lstStyle/>
                    <a:p>
                      <a:pPr algn="r" indent="0" marL="0">
                        <a:buNone/>
                      </a:pPr>
                      <a:r>
                        <a:rPr lang="en-US" sz="1100" dirty="0">
                          <a:solidFill>
                            <a:srgbClr val="222222"/>
                          </a:solidFill>
                          <a:latin typeface="Arial" pitchFamily="34" charset="0"/>
                          <a:ea typeface="Arial" pitchFamily="34" charset="-122"/>
                          <a:cs typeface="Arial" pitchFamily="34" charset="-120"/>
                        </a:rPr>
                        <a:t>Low</a:t>
                      </a:r>
                      <a:endParaRPr lang="en-US" sz="11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DED"/>
                    </a:solidFill>
                  </a:tcPr>
                </a:tc>
              </a:tr>
            </a:tbl>
          </a:graphicData>
        </a:graphic>
      </p:graphicFrame>
      <p:sp>
        <p:nvSpPr>
          <p:cNvPr id="11" name="Shape 7"/>
          <p:cNvSpPr/>
          <p:nvPr/>
        </p:nvSpPr>
        <p:spPr>
          <a:xfrm>
            <a:off x="5486400" y="5349240"/>
            <a:ext cx="6245352" cy="868680"/>
          </a:xfrm>
          <a:prstGeom prst="rect">
            <a:avLst/>
          </a:prstGeom>
          <a:solidFill>
            <a:srgbClr val="C8102E"/>
          </a:solidFill>
          <a:ln w="12700">
            <a:solidFill>
              <a:srgbClr val="C8102E"/>
            </a:solidFill>
            <a:prstDash val="solid"/>
          </a:ln>
        </p:spPr>
      </p:sp>
      <p:sp>
        <p:nvSpPr>
          <p:cNvPr id="12" name="Text 8"/>
          <p:cNvSpPr txBox="1"/>
          <p:nvPr/>
        </p:nvSpPr>
        <p:spPr>
          <a:xfrm>
            <a:off x="5577840" y="5349240"/>
            <a:ext cx="6062472" cy="868680"/>
          </a:xfrm>
          <a:prstGeom prst="rect">
            <a:avLst/>
          </a:prstGeom>
          <a:noFill/>
          <a:ln/>
        </p:spPr>
        <p:txBody>
          <a:bodyPr wrap="square" lIns="635" tIns="635" rIns="635" bIns="635" rtlCol="0" anchor="ctr"/>
          <a:lstStyle/>
          <a:p>
            <a:pPr algn="l" indent="0" marL="0">
              <a:buNone/>
            </a:pPr>
            <a:r>
              <a:rPr lang="en-US" sz="1150" b="1" dirty="0">
                <a:solidFill>
                  <a:srgbClr val="FFFFFF"/>
                </a:solidFill>
                <a:latin typeface="Arial" pitchFamily="34" charset="0"/>
                <a:ea typeface="Arial" pitchFamily="34" charset="-122"/>
                <a:cs typeface="Arial" pitchFamily="34" charset="-120"/>
              </a:rPr>
              <a:t>Implication: judge L400 by cost to serve per segment. A mass-market policy and an HNW policy should not share one unit-cost target.</a:t>
            </a:r>
            <a:endParaRPr lang="en-US" sz="1150" dirty="0"/>
          </a:p>
        </p:txBody>
      </p:sp>
      <p:sp>
        <p:nvSpPr>
          <p:cNvPr id="13" name="Text 9"/>
          <p:cNvSpPr txBox="1"/>
          <p:nvPr/>
        </p:nvSpPr>
        <p:spPr>
          <a:xfrm>
            <a:off x="457200" y="6419088"/>
            <a:ext cx="10725912" cy="320040"/>
          </a:xfrm>
          <a:prstGeom prst="rect">
            <a:avLst/>
          </a:prstGeom>
          <a:noFill/>
          <a:ln/>
        </p:spPr>
        <p:txBody>
          <a:bodyPr wrap="square" lIns="0" tIns="0" rIns="0" bIns="0" rtlCol="0" anchor="b"/>
          <a:lstStyle/>
          <a:p>
            <a:pPr indent="0" marL="0">
              <a:buNone/>
            </a:pPr>
            <a:r>
              <a:rPr lang="en-US" sz="850" dirty="0">
                <a:solidFill>
                  <a:srgbClr val="7F7F7F"/>
                </a:solidFill>
                <a:latin typeface="Arial" pitchFamily="34" charset="0"/>
                <a:ea typeface="Arial" pitchFamily="34" charset="-122"/>
                <a:cs typeface="Arial" pitchFamily="34" charset="-120"/>
              </a:rPr>
              <a:t>Source: HSBC Life PAS L400 benchmarking workbook ('HSBC vs Peers KPI – ICT basis'). HSBC FY2025 actual; LE2026 = Jan–Aug annualised. HK DWP 2024 (top 8). USD at HKD 7.8. HSBC PAS cost = L400 IT platform; Sun Life = PAS operations cost. HSBC FTE = L400 IT FTE; peers = PAS FTE range midpoints.</a:t>
            </a:r>
            <a:endParaRPr lang="en-US" sz="850" dirty="0"/>
          </a:p>
        </p:txBody>
      </p:sp>
      <p:sp>
        <p:nvSpPr>
          <p:cNvPr id="14" name="Text 10"/>
          <p:cNvSpPr txBox="1"/>
          <p:nvPr/>
        </p:nvSpPr>
        <p:spPr>
          <a:xfrm>
            <a:off x="11274552" y="6419088"/>
            <a:ext cx="457200" cy="320040"/>
          </a:xfrm>
          <a:prstGeom prst="rect">
            <a:avLst/>
          </a:prstGeom>
          <a:noFill/>
          <a:ln/>
        </p:spPr>
        <p:txBody>
          <a:bodyPr wrap="square" lIns="0" tIns="0" rIns="0" bIns="0" rtlCol="0" anchor="b"/>
          <a:lstStyle/>
          <a:p>
            <a:pPr algn="r" indent="0" marL="0">
              <a:buNone/>
            </a:pPr>
            <a:r>
              <a:rPr lang="en-US" sz="900" dirty="0">
                <a:solidFill>
                  <a:srgbClr val="7F7F7F"/>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7315200" cy="274320"/>
          </a:xfrm>
          <a:prstGeom prst="rect">
            <a:avLst/>
          </a:prstGeom>
          <a:noFill/>
          <a:ln/>
        </p:spPr>
        <p:txBody>
          <a:bodyPr wrap="square" lIns="0" tIns="0" rIns="0" bIns="0" rtlCol="0" anchor="ctr"/>
          <a:lstStyle/>
          <a:p>
            <a:pPr indent="0" marL="0">
              <a:buNone/>
            </a:pPr>
            <a:r>
              <a:rPr lang="en-US" sz="1300" b="1" dirty="0">
                <a:solidFill>
                  <a:srgbClr val="C8102E"/>
                </a:solidFill>
                <a:latin typeface="Arial" pitchFamily="34" charset="0"/>
                <a:ea typeface="Arial" pitchFamily="34" charset="-122"/>
                <a:cs typeface="Arial" pitchFamily="34" charset="-120"/>
              </a:rPr>
              <a:t>06 </a:t>
            </a:r>
            <a:pPr indent="0" marL="0">
              <a:buNone/>
            </a:pPr>
            <a:r>
              <a:rPr lang="en-US" sz="1300" dirty="0">
                <a:solidFill>
                  <a:srgbClr val="C8102E"/>
                </a:solidFill>
                <a:latin typeface="Arial" pitchFamily="34" charset="0"/>
                <a:ea typeface="Arial" pitchFamily="34" charset="-122"/>
                <a:cs typeface="Arial" pitchFamily="34" charset="-120"/>
              </a:rPr>
              <a:t>| PAS Deep Dive – Automation &amp; Digital</a:t>
            </a:r>
            <a:endParaRPr lang="en-US" sz="1300" dirty="0"/>
          </a:p>
        </p:txBody>
      </p:sp>
      <p:sp>
        <p:nvSpPr>
          <p:cNvPr id="3" name="Text 1"/>
          <p:cNvSpPr txBox="1"/>
          <p:nvPr/>
        </p:nvSpPr>
        <p:spPr>
          <a:xfrm>
            <a:off x="457200" y="502920"/>
            <a:ext cx="11274552" cy="502920"/>
          </a:xfrm>
          <a:prstGeom prst="rect">
            <a:avLst/>
          </a:prstGeom>
          <a:noFill/>
          <a:ln/>
        </p:spPr>
        <p:txBody>
          <a:bodyPr wrap="square" lIns="0" tIns="0" rIns="0" bIns="0" rtlCol="0" anchor="t"/>
          <a:lstStyle/>
          <a:p>
            <a:pPr indent="0" marL="0">
              <a:buNone/>
            </a:pPr>
            <a:r>
              <a:rPr lang="en-US" sz="2200" dirty="0">
                <a:solidFill>
                  <a:srgbClr val="222222"/>
                </a:solidFill>
                <a:latin typeface="Arial" pitchFamily="34" charset="0"/>
                <a:ea typeface="Arial" pitchFamily="34" charset="-122"/>
                <a:cs typeface="Arial" pitchFamily="34" charset="-120"/>
              </a:rPr>
              <a:t>Automation is the biggest gap, and HSBC cannot yet measure it</a:t>
            </a:r>
            <a:endParaRPr lang="en-US" sz="2200" dirty="0"/>
          </a:p>
        </p:txBody>
      </p:sp>
      <p:sp>
        <p:nvSpPr>
          <p:cNvPr id="4" name="Text 2"/>
          <p:cNvSpPr txBox="1"/>
          <p:nvPr/>
        </p:nvSpPr>
        <p:spPr>
          <a:xfrm>
            <a:off x="457200" y="1024128"/>
            <a:ext cx="11274552" cy="548640"/>
          </a:xfrm>
          <a:prstGeom prst="rect">
            <a:avLst/>
          </a:prstGeom>
          <a:noFill/>
          <a:ln/>
        </p:spPr>
        <p:txBody>
          <a:bodyPr wrap="square" lIns="0" tIns="0" rIns="0" bIns="0" rtlCol="0" anchor="t"/>
          <a:lstStyle/>
          <a:p>
            <a:pPr indent="0" marL="0">
              <a:buNone/>
            </a:pPr>
            <a:r>
              <a:rPr lang="en-US" sz="1250" b="1" dirty="0">
                <a:solidFill>
                  <a:srgbClr val="222222"/>
                </a:solidFill>
                <a:latin typeface="Arial" pitchFamily="34" charset="0"/>
                <a:ea typeface="Arial" pitchFamily="34" charset="-122"/>
                <a:cs typeface="Arial" pitchFamily="34" charset="-120"/>
              </a:rPr>
              <a:t>Key takeaway: </a:t>
            </a:r>
            <a:pPr indent="0" marL="0">
              <a:buNone/>
            </a:pPr>
            <a:r>
              <a:rPr lang="en-US" sz="1250" dirty="0">
                <a:solidFill>
                  <a:srgbClr val="222222"/>
                </a:solidFill>
                <a:latin typeface="Arial" pitchFamily="34" charset="0"/>
                <a:ea typeface="Arial" pitchFamily="34" charset="-122"/>
                <a:cs typeface="Arial" pitchFamily="34" charset="-120"/>
              </a:rPr>
              <a:t>Peers report STP of more than 10% to more than 70%, and 50–80% of services digitally enabled. HSBC has no STP, self-service or PAS maturity measure, and cannot split its 68.6m L400 transactions into automatic and manual. Digital submissions are growing fast, but from a low base.</a:t>
            </a:r>
            <a:endParaRPr lang="en-US" sz="1250" dirty="0"/>
          </a:p>
        </p:txBody>
      </p:sp>
      <p:graphicFrame>
        <p:nvGraphicFramePr>
          <p:cNvPr id="5" name="Chart 0" descr=""/>
          <p:cNvGraphicFramePr/>
          <p:nvPr/>
        </p:nvGraphicFramePr>
        <p:xfrm>
          <a:off x="457200" y="1783080"/>
          <a:ext cx="4480560" cy="329184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457200" y="5074920"/>
            <a:ext cx="4480560" cy="274320"/>
          </a:xfrm>
          <a:prstGeom prst="rect">
            <a:avLst/>
          </a:prstGeom>
          <a:noFill/>
          <a:ln/>
        </p:spPr>
        <p:txBody>
          <a:bodyPr wrap="square" lIns="0" tIns="0" rIns="0" bIns="0" rtlCol="0" anchor="ctr"/>
          <a:lstStyle/>
          <a:p>
            <a:pPr indent="0" marL="0">
              <a:buNone/>
            </a:pPr>
            <a:r>
              <a:rPr lang="en-US" sz="900" i="1" dirty="0">
                <a:solidFill>
                  <a:srgbClr val="7F7F7F"/>
                </a:solidFill>
                <a:latin typeface="Arial" pitchFamily="34" charset="0"/>
                <a:ea typeface="Arial" pitchFamily="34" charset="-122"/>
                <a:cs typeface="Arial" pitchFamily="34" charset="-120"/>
              </a:rPr>
              <a:t>Peer values are lower bounds. Market range is 30–70%.</a:t>
            </a:r>
            <a:endParaRPr lang="en-US" sz="900" dirty="0"/>
          </a:p>
        </p:txBody>
      </p:sp>
      <p:sp>
        <p:nvSpPr>
          <p:cNvPr id="7" name="Shape 4"/>
          <p:cNvSpPr/>
          <p:nvPr/>
        </p:nvSpPr>
        <p:spPr>
          <a:xfrm>
            <a:off x="457200" y="5440680"/>
            <a:ext cx="4480560" cy="777240"/>
          </a:xfrm>
          <a:prstGeom prst="rect">
            <a:avLst/>
          </a:prstGeom>
          <a:solidFill>
            <a:srgbClr val="8C8C8C"/>
          </a:solidFill>
          <a:ln w="12700">
            <a:solidFill>
              <a:srgbClr val="8C8C8C"/>
            </a:solidFill>
            <a:prstDash val="solid"/>
          </a:ln>
        </p:spPr>
      </p:sp>
      <p:sp>
        <p:nvSpPr>
          <p:cNvPr id="8" name="Text 5"/>
          <p:cNvSpPr txBox="1"/>
          <p:nvPr/>
        </p:nvSpPr>
        <p:spPr>
          <a:xfrm>
            <a:off x="548640" y="5440680"/>
            <a:ext cx="4297680" cy="777240"/>
          </a:xfrm>
          <a:prstGeom prst="rect">
            <a:avLst/>
          </a:prstGeom>
          <a:noFill/>
          <a:ln/>
        </p:spPr>
        <p:txBody>
          <a:bodyPr wrap="square" lIns="635" tIns="635" rIns="635" bIns="635" rtlCol="0" anchor="ctr"/>
          <a:lstStyle/>
          <a:p>
            <a:pPr indent="0" marL="0">
              <a:buNone/>
            </a:pPr>
            <a:r>
              <a:rPr lang="en-US" sz="1100" dirty="0">
                <a:solidFill>
                  <a:srgbClr val="FFFFFF"/>
                </a:solidFill>
                <a:latin typeface="Arial" pitchFamily="34" charset="0"/>
                <a:ea typeface="Arial" pitchFamily="34" charset="-122"/>
                <a:cs typeface="Arial" pitchFamily="34" charset="-120"/>
              </a:rPr>
              <a:t>Digital submissions +22% vs all submissions +3.7% (LE26).</a:t>
            </a:r>
            <a:endParaRPr lang="en-US" sz="1100" dirty="0"/>
          </a:p>
        </p:txBody>
      </p:sp>
      <p:sp>
        <p:nvSpPr>
          <p:cNvPr id="9" name="Shape 6"/>
          <p:cNvSpPr/>
          <p:nvPr/>
        </p:nvSpPr>
        <p:spPr>
          <a:xfrm>
            <a:off x="5212080" y="1783080"/>
            <a:ext cx="6519672" cy="347472"/>
          </a:xfrm>
          <a:prstGeom prst="rect">
            <a:avLst/>
          </a:prstGeom>
          <a:solidFill>
            <a:srgbClr val="C8102E"/>
          </a:solidFill>
          <a:ln w="12700">
            <a:solidFill>
              <a:srgbClr val="C8102E"/>
            </a:solidFill>
            <a:prstDash val="solid"/>
          </a:ln>
        </p:spPr>
      </p:sp>
      <p:sp>
        <p:nvSpPr>
          <p:cNvPr id="10" name="Text 7"/>
          <p:cNvSpPr txBox="1"/>
          <p:nvPr/>
        </p:nvSpPr>
        <p:spPr>
          <a:xfrm>
            <a:off x="5303520" y="1783080"/>
            <a:ext cx="6336792" cy="347472"/>
          </a:xfrm>
          <a:prstGeom prst="rect">
            <a:avLst/>
          </a:prstGeom>
          <a:noFill/>
          <a:ln/>
        </p:spPr>
        <p:txBody>
          <a:bodyPr wrap="square" lIns="635" tIns="635" rIns="635" bIns="635" rtlCol="0" anchor="ctr"/>
          <a:lstStyle/>
          <a:p>
            <a:pPr algn="l" indent="0" marL="0">
              <a:buNone/>
            </a:pPr>
            <a:r>
              <a:rPr lang="en-US" sz="1200" b="1" dirty="0">
                <a:solidFill>
                  <a:srgbClr val="FFFFFF"/>
                </a:solidFill>
                <a:latin typeface="Arial" pitchFamily="34" charset="0"/>
                <a:ea typeface="Arial" pitchFamily="34" charset="-122"/>
                <a:cs typeface="Arial" pitchFamily="34" charset="-120"/>
              </a:rPr>
              <a:t>Automation and digital scorecard</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212080" y="2240280"/>
          <a:ext cx="6519672" cy="914400"/>
        </p:xfrm>
        <a:graphic>
          <a:graphicData uri="http://schemas.openxmlformats.org/drawingml/2006/table">
            <a:tbl>
              <a:tblPr/>
              <a:tblGrid>
                <a:gridCol w="1600200"/>
                <a:gridCol w="1188720"/>
                <a:gridCol w="685800"/>
                <a:gridCol w="640080"/>
                <a:gridCol w="640080"/>
                <a:gridCol w="731520"/>
                <a:gridCol w="1033272"/>
              </a:tblGrid>
              <a:tr h="384048">
                <a:tc>
                  <a:txBody>
                    <a:bodyPr/>
                    <a:lstStyle/>
                    <a:p>
                      <a:pPr algn="l" indent="0" marL="0">
                        <a:buNone/>
                      </a:pPr>
                      <a:r>
                        <a:rPr lang="en-US" sz="1000" b="1" dirty="0">
                          <a:solidFill>
                            <a:srgbClr val="7F7F7F"/>
                          </a:solidFill>
                          <a:latin typeface="Arial" pitchFamily="34" charset="0"/>
                          <a:ea typeface="Arial" pitchFamily="34" charset="-122"/>
                          <a:cs typeface="Arial" pitchFamily="34" charset="-120"/>
                        </a:rPr>
                        <a:t>Metric</a:t>
                      </a:r>
                      <a:endParaRPr lang="en-US" sz="10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7F7F7F"/>
                          </a:solidFill>
                          <a:latin typeface="Arial" pitchFamily="34" charset="0"/>
                          <a:ea typeface="Arial" pitchFamily="34" charset="-122"/>
                          <a:cs typeface="Arial" pitchFamily="34" charset="-120"/>
                        </a:rPr>
                        <a:t>HSBC</a:t>
                      </a:r>
                      <a:endParaRPr lang="en-US" sz="10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7F7F7F"/>
                          </a:solidFill>
                          <a:latin typeface="Arial" pitchFamily="34" charset="0"/>
                          <a:ea typeface="Arial" pitchFamily="34" charset="-122"/>
                          <a:cs typeface="Arial" pitchFamily="34" charset="-120"/>
                        </a:rPr>
                        <a:t>Sun Life</a:t>
                      </a:r>
                      <a:endParaRPr lang="en-US" sz="10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7F7F7F"/>
                          </a:solidFill>
                          <a:latin typeface="Arial" pitchFamily="34" charset="0"/>
                          <a:ea typeface="Arial" pitchFamily="34" charset="-122"/>
                          <a:cs typeface="Arial" pitchFamily="34" charset="-120"/>
                        </a:rPr>
                        <a:t>AIA</a:t>
                      </a:r>
                      <a:endParaRPr lang="en-US" sz="10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7F7F7F"/>
                          </a:solidFill>
                          <a:latin typeface="Arial" pitchFamily="34" charset="0"/>
                          <a:ea typeface="Arial" pitchFamily="34" charset="-122"/>
                          <a:cs typeface="Arial" pitchFamily="34" charset="-120"/>
                        </a:rPr>
                        <a:t>Pru</a:t>
                      </a:r>
                      <a:endParaRPr lang="en-US" sz="10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7F7F7F"/>
                          </a:solidFill>
                          <a:latin typeface="Arial" pitchFamily="34" charset="0"/>
                          <a:ea typeface="Arial" pitchFamily="34" charset="-122"/>
                          <a:cs typeface="Arial" pitchFamily="34" charset="-120"/>
                        </a:rPr>
                        <a:t>Manulife</a:t>
                      </a:r>
                      <a:endParaRPr lang="en-US" sz="10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7F7F7F"/>
                          </a:solidFill>
                          <a:latin typeface="Arial" pitchFamily="34" charset="0"/>
                          <a:ea typeface="Arial" pitchFamily="34" charset="-122"/>
                          <a:cs typeface="Arial" pitchFamily="34" charset="-120"/>
                        </a:rPr>
                        <a:t>Market</a:t>
                      </a:r>
                      <a:endParaRPr lang="en-US" sz="10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Arial" pitchFamily="34" charset="0"/>
                          <a:ea typeface="Arial" pitchFamily="34" charset="-122"/>
                          <a:cs typeface="Arial" pitchFamily="34" charset="-120"/>
                        </a:rPr>
                        <a:t>STP rate</a:t>
                      </a:r>
                      <a:endParaRPr lang="en-US" sz="10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DED"/>
                    </a:solidFill>
                  </a:tcPr>
                </a:tc>
                <a:tc>
                  <a:txBody>
                    <a:bodyPr/>
                    <a:lstStyle/>
                    <a:p>
                      <a:pPr algn="ctr" indent="0" marL="0">
                        <a:buNone/>
                      </a:pPr>
                      <a:r>
                        <a:rPr lang="en-US" sz="1000" b="1" dirty="0">
                          <a:solidFill>
                            <a:srgbClr val="C8102E"/>
                          </a:solidFill>
                          <a:latin typeface="Arial" pitchFamily="34" charset="0"/>
                          <a:ea typeface="Arial" pitchFamily="34" charset="-122"/>
                          <a:cs typeface="Arial" pitchFamily="34" charset="-120"/>
                        </a:rPr>
                        <a:t>Not measured</a:t>
                      </a:r>
                      <a:endParaRPr lang="en-US" sz="10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DED"/>
                    </a:solidFill>
                  </a:tcPr>
                </a:tc>
                <a:tc>
                  <a:txBody>
                    <a:bodyPr/>
                    <a:lstStyle/>
                    <a:p>
                      <a:pPr algn="ctr" indent="0" marL="0">
                        <a:buNone/>
                      </a:pPr>
                      <a:r>
                        <a:rPr lang="en-US" sz="1000" dirty="0">
                          <a:solidFill>
                            <a:srgbClr val="222222"/>
                          </a:solidFill>
                          <a:latin typeface="Arial" pitchFamily="34" charset="0"/>
                          <a:ea typeface="Arial" pitchFamily="34" charset="-122"/>
                          <a:cs typeface="Arial" pitchFamily="34" charset="-120"/>
                        </a:rPr>
                        <a:t>13.7%</a:t>
                      </a:r>
                      <a:endParaRPr lang="en-US" sz="10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DED"/>
                    </a:solidFill>
                  </a:tcPr>
                </a:tc>
                <a:tc>
                  <a:txBody>
                    <a:bodyPr/>
                    <a:lstStyle/>
                    <a:p>
                      <a:pPr algn="ctr" indent="0" marL="0">
                        <a:buNone/>
                      </a:pPr>
                      <a:r>
                        <a:rPr lang="en-US" sz="1000" dirty="0">
                          <a:solidFill>
                            <a:srgbClr val="222222"/>
                          </a:solidFill>
                          <a:latin typeface="Arial" pitchFamily="34" charset="0"/>
                          <a:ea typeface="Arial" pitchFamily="34" charset="-122"/>
                          <a:cs typeface="Arial" pitchFamily="34" charset="-120"/>
                        </a:rPr>
                        <a:t>&gt;70%</a:t>
                      </a:r>
                      <a:endParaRPr lang="en-US" sz="10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DED"/>
                    </a:solidFill>
                  </a:tcPr>
                </a:tc>
                <a:tc>
                  <a:txBody>
                    <a:bodyPr/>
                    <a:lstStyle/>
                    <a:p>
                      <a:pPr algn="ctr" indent="0" marL="0">
                        <a:buNone/>
                      </a:pPr>
                      <a:r>
                        <a:rPr lang="en-US" sz="1000" dirty="0">
                          <a:solidFill>
                            <a:srgbClr val="222222"/>
                          </a:solidFill>
                          <a:latin typeface="Arial" pitchFamily="34" charset="0"/>
                          <a:ea typeface="Arial" pitchFamily="34" charset="-122"/>
                          <a:cs typeface="Arial" pitchFamily="34" charset="-120"/>
                        </a:rPr>
                        <a:t>&gt;50%</a:t>
                      </a:r>
                      <a:endParaRPr lang="en-US" sz="10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DED"/>
                    </a:solidFill>
                  </a:tcPr>
                </a:tc>
                <a:tc>
                  <a:txBody>
                    <a:bodyPr/>
                    <a:lstStyle/>
                    <a:p>
                      <a:pPr algn="ctr" indent="0" marL="0">
                        <a:buNone/>
                      </a:pPr>
                      <a:r>
                        <a:rPr lang="en-US" sz="1000" dirty="0">
                          <a:solidFill>
                            <a:srgbClr val="222222"/>
                          </a:solidFill>
                          <a:latin typeface="Arial" pitchFamily="34" charset="0"/>
                          <a:ea typeface="Arial" pitchFamily="34" charset="-122"/>
                          <a:cs typeface="Arial" pitchFamily="34" charset="-120"/>
                        </a:rPr>
                        <a:t>&gt;10%</a:t>
                      </a:r>
                      <a:endParaRPr lang="en-US" sz="10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DED"/>
                    </a:solidFill>
                  </a:tcPr>
                </a:tc>
                <a:tc>
                  <a:txBody>
                    <a:bodyPr/>
                    <a:lstStyle/>
                    <a:p>
                      <a:pPr algn="ctr" indent="0" marL="0">
                        <a:buNone/>
                      </a:pPr>
                      <a:r>
                        <a:rPr lang="en-US" sz="1000" dirty="0">
                          <a:solidFill>
                            <a:srgbClr val="222222"/>
                          </a:solidFill>
                          <a:latin typeface="Arial" pitchFamily="34" charset="0"/>
                          <a:ea typeface="Arial" pitchFamily="34" charset="-122"/>
                          <a:cs typeface="Arial" pitchFamily="34" charset="-120"/>
                        </a:rPr>
                        <a:t>30–70%</a:t>
                      </a:r>
                      <a:endParaRPr lang="en-US" sz="10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DED"/>
                    </a:solidFill>
                  </a:tcPr>
                </a:tc>
              </a:tr>
              <a:tr h="384048">
                <a:tc>
                  <a:txBody>
                    <a:bodyPr/>
                    <a:lstStyle/>
                    <a:p>
                      <a:pPr algn="l" indent="0" marL="0">
                        <a:buNone/>
                      </a:pPr>
                      <a:r>
                        <a:rPr lang="en-US" sz="1000" dirty="0">
                          <a:solidFill>
                            <a:srgbClr val="222222"/>
                          </a:solidFill>
                          <a:latin typeface="Arial" pitchFamily="34" charset="0"/>
                          <a:ea typeface="Arial" pitchFamily="34" charset="-122"/>
                          <a:cs typeface="Arial" pitchFamily="34" charset="-120"/>
                        </a:rPr>
                        <a:t>Digital submission rate</a:t>
                      </a:r>
                      <a:endParaRPr lang="en-US" sz="10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DED"/>
                    </a:solidFill>
                  </a:tcPr>
                </a:tc>
                <a:tc>
                  <a:txBody>
                    <a:bodyPr/>
                    <a:lstStyle/>
                    <a:p>
                      <a:pPr algn="ctr" indent="0" marL="0">
                        <a:buNone/>
                      </a:pPr>
                      <a:r>
                        <a:rPr lang="en-US" sz="1000" b="1" dirty="0">
                          <a:solidFill>
                            <a:srgbClr val="C8102E"/>
                          </a:solidFill>
                          <a:latin typeface="Arial" pitchFamily="34" charset="0"/>
                          <a:ea typeface="Arial" pitchFamily="34" charset="-122"/>
                          <a:cs typeface="Arial" pitchFamily="34" charset="-120"/>
                        </a:rPr>
                        <a:t>16.7% → 19.6%</a:t>
                      </a:r>
                      <a:endParaRPr lang="en-US" sz="10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DED"/>
                    </a:solidFill>
                  </a:tcPr>
                </a:tc>
                <a:tc>
                  <a:txBody>
                    <a:bodyPr/>
                    <a:lstStyle/>
                    <a:p>
                      <a:pPr algn="ctr" indent="0" marL="0">
                        <a:buNone/>
                      </a:pPr>
                      <a:r>
                        <a:rPr lang="en-US" sz="1000" dirty="0">
                          <a:solidFill>
                            <a:srgbClr val="222222"/>
                          </a:solidFill>
                          <a:latin typeface="Arial" pitchFamily="34" charset="0"/>
                          <a:ea typeface="Arial" pitchFamily="34" charset="-122"/>
                          <a:cs typeface="Arial" pitchFamily="34" charset="-120"/>
                        </a:rPr>
                        <a:t>15%</a:t>
                      </a:r>
                      <a:endParaRPr lang="en-US" sz="10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DED"/>
                    </a:solidFill>
                  </a:tcPr>
                </a:tc>
                <a:tc>
                  <a:txBody>
                    <a:bodyPr/>
                    <a:lstStyle/>
                    <a:p>
                      <a:pPr algn="ctr" indent="0" marL="0">
                        <a:buNone/>
                      </a:pPr>
                      <a:r>
                        <a:rPr lang="en-US" sz="1000" dirty="0">
                          <a:solidFill>
                            <a:srgbClr val="222222"/>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DED"/>
                    </a:solidFill>
                  </a:tcPr>
                </a:tc>
                <a:tc>
                  <a:txBody>
                    <a:bodyPr/>
                    <a:lstStyle/>
                    <a:p>
                      <a:pPr algn="ctr" indent="0" marL="0">
                        <a:buNone/>
                      </a:pPr>
                      <a:r>
                        <a:rPr lang="en-US" sz="1000" dirty="0">
                          <a:solidFill>
                            <a:srgbClr val="222222"/>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DED"/>
                    </a:solidFill>
                  </a:tcPr>
                </a:tc>
                <a:tc>
                  <a:txBody>
                    <a:bodyPr/>
                    <a:lstStyle/>
                    <a:p>
                      <a:pPr algn="ctr" indent="0" marL="0">
                        <a:buNone/>
                      </a:pPr>
                      <a:r>
                        <a:rPr lang="en-US" sz="1000" dirty="0">
                          <a:solidFill>
                            <a:srgbClr val="222222"/>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DED"/>
                    </a:solidFill>
                  </a:tcPr>
                </a:tc>
                <a:tc>
                  <a:txBody>
                    <a:bodyPr/>
                    <a:lstStyle/>
                    <a:p>
                      <a:pPr algn="ctr" indent="0" marL="0">
                        <a:buNone/>
                      </a:pPr>
                      <a:r>
                        <a:rPr lang="en-US" sz="1000" dirty="0">
                          <a:solidFill>
                            <a:srgbClr val="222222"/>
                          </a:solidFill>
                          <a:latin typeface="Arial" pitchFamily="34" charset="0"/>
                          <a:ea typeface="Arial" pitchFamily="34" charset="-122"/>
                          <a:cs typeface="Arial" pitchFamily="34" charset="-120"/>
                        </a:rPr>
                        <a:t>30–70%</a:t>
                      </a:r>
                      <a:endParaRPr lang="en-US" sz="10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DED"/>
                    </a:solidFill>
                  </a:tcPr>
                </a:tc>
              </a:tr>
              <a:tr h="384048">
                <a:tc>
                  <a:txBody>
                    <a:bodyPr/>
                    <a:lstStyle/>
                    <a:p>
                      <a:pPr algn="l" indent="0" marL="0">
                        <a:buNone/>
                      </a:pPr>
                      <a:r>
                        <a:rPr lang="en-US" sz="1000" dirty="0">
                          <a:solidFill>
                            <a:srgbClr val="222222"/>
                          </a:solidFill>
                          <a:latin typeface="Arial" pitchFamily="34" charset="0"/>
                          <a:ea typeface="Arial" pitchFamily="34" charset="-122"/>
                          <a:cs typeface="Arial" pitchFamily="34" charset="-120"/>
                        </a:rPr>
                        <a:t>Digital services enabled</a:t>
                      </a:r>
                      <a:endParaRPr lang="en-US" sz="10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DED"/>
                    </a:solidFill>
                  </a:tcPr>
                </a:tc>
                <a:tc>
                  <a:txBody>
                    <a:bodyPr/>
                    <a:lstStyle/>
                    <a:p>
                      <a:pPr algn="ctr" indent="0" marL="0">
                        <a:buNone/>
                      </a:pPr>
                      <a:r>
                        <a:rPr lang="en-US" sz="1000" b="1" dirty="0">
                          <a:solidFill>
                            <a:srgbClr val="C8102E"/>
                          </a:solidFill>
                          <a:latin typeface="Arial" pitchFamily="34" charset="0"/>
                          <a:ea typeface="Arial" pitchFamily="34" charset="-122"/>
                          <a:cs typeface="Arial" pitchFamily="34" charset="-120"/>
                        </a:rPr>
                        <a:t>Not measured</a:t>
                      </a:r>
                      <a:endParaRPr lang="en-US" sz="10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DED"/>
                    </a:solidFill>
                  </a:tcPr>
                </a:tc>
                <a:tc>
                  <a:txBody>
                    <a:bodyPr/>
                    <a:lstStyle/>
                    <a:p>
                      <a:pPr algn="ctr" indent="0" marL="0">
                        <a:buNone/>
                      </a:pPr>
                      <a:r>
                        <a:rPr lang="en-US" sz="1000" dirty="0">
                          <a:solidFill>
                            <a:srgbClr val="222222"/>
                          </a:solidFill>
                          <a:latin typeface="Arial" pitchFamily="34" charset="0"/>
                          <a:ea typeface="Arial" pitchFamily="34" charset="-122"/>
                          <a:cs typeface="Arial" pitchFamily="34" charset="-120"/>
                        </a:rPr>
                        <a:t>16%</a:t>
                      </a:r>
                      <a:endParaRPr lang="en-US" sz="10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DED"/>
                    </a:solidFill>
                  </a:tcPr>
                </a:tc>
                <a:tc>
                  <a:txBody>
                    <a:bodyPr/>
                    <a:lstStyle/>
                    <a:p>
                      <a:pPr algn="ctr" indent="0" marL="0">
                        <a:buNone/>
                      </a:pPr>
                      <a:r>
                        <a:rPr lang="en-US" sz="1000" dirty="0">
                          <a:solidFill>
                            <a:srgbClr val="222222"/>
                          </a:solidFill>
                          <a:latin typeface="Arial" pitchFamily="34" charset="0"/>
                          <a:ea typeface="Arial" pitchFamily="34" charset="-122"/>
                          <a:cs typeface="Arial" pitchFamily="34" charset="-120"/>
                        </a:rPr>
                        <a:t>&gt;80%</a:t>
                      </a:r>
                      <a:endParaRPr lang="en-US" sz="10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DED"/>
                    </a:solidFill>
                  </a:tcPr>
                </a:tc>
                <a:tc>
                  <a:txBody>
                    <a:bodyPr/>
                    <a:lstStyle/>
                    <a:p>
                      <a:pPr algn="ctr" indent="0" marL="0">
                        <a:buNone/>
                      </a:pPr>
                      <a:r>
                        <a:rPr lang="en-US" sz="1000" dirty="0">
                          <a:solidFill>
                            <a:srgbClr val="222222"/>
                          </a:solidFill>
                          <a:latin typeface="Arial" pitchFamily="34" charset="0"/>
                          <a:ea typeface="Arial" pitchFamily="34" charset="-122"/>
                          <a:cs typeface="Arial" pitchFamily="34" charset="-120"/>
                        </a:rPr>
                        <a:t>&gt;80%</a:t>
                      </a:r>
                      <a:endParaRPr lang="en-US" sz="10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DED"/>
                    </a:solidFill>
                  </a:tcPr>
                </a:tc>
                <a:tc>
                  <a:txBody>
                    <a:bodyPr/>
                    <a:lstStyle/>
                    <a:p>
                      <a:pPr algn="ctr" indent="0" marL="0">
                        <a:buNone/>
                      </a:pPr>
                      <a:r>
                        <a:rPr lang="en-US" sz="1000" dirty="0">
                          <a:solidFill>
                            <a:srgbClr val="222222"/>
                          </a:solidFill>
                          <a:latin typeface="Arial" pitchFamily="34" charset="0"/>
                          <a:ea typeface="Arial" pitchFamily="34" charset="-122"/>
                          <a:cs typeface="Arial" pitchFamily="34" charset="-120"/>
                        </a:rPr>
                        <a:t>&gt;50%</a:t>
                      </a:r>
                      <a:endParaRPr lang="en-US" sz="10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DED"/>
                    </a:solidFill>
                  </a:tcPr>
                </a:tc>
                <a:tc>
                  <a:txBody>
                    <a:bodyPr/>
                    <a:lstStyle/>
                    <a:p>
                      <a:pPr algn="ctr" indent="0" marL="0">
                        <a:buNone/>
                      </a:pPr>
                      <a:r>
                        <a:rPr lang="en-US" sz="1000" dirty="0">
                          <a:solidFill>
                            <a:srgbClr val="222222"/>
                          </a:solidFill>
                          <a:latin typeface="Arial" pitchFamily="34" charset="0"/>
                          <a:ea typeface="Arial" pitchFamily="34" charset="-122"/>
                          <a:cs typeface="Arial" pitchFamily="34" charset="-120"/>
                        </a:rPr>
                        <a:t>30–70%</a:t>
                      </a:r>
                      <a:endParaRPr lang="en-US" sz="10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DED"/>
                    </a:solidFill>
                  </a:tcPr>
                </a:tc>
              </a:tr>
              <a:tr h="384048">
                <a:tc>
                  <a:txBody>
                    <a:bodyPr/>
                    <a:lstStyle/>
                    <a:p>
                      <a:pPr algn="l" indent="0" marL="0">
                        <a:buNone/>
                      </a:pPr>
                      <a:r>
                        <a:rPr lang="en-US" sz="1000" dirty="0">
                          <a:solidFill>
                            <a:srgbClr val="222222"/>
                          </a:solidFill>
                          <a:latin typeface="Arial" pitchFamily="34" charset="0"/>
                          <a:ea typeface="Arial" pitchFamily="34" charset="-122"/>
                          <a:cs typeface="Arial" pitchFamily="34" charset="-120"/>
                        </a:rPr>
                        <a:t>Digital self-servicing</a:t>
                      </a:r>
                      <a:endParaRPr lang="en-US" sz="10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DED"/>
                    </a:solidFill>
                  </a:tcPr>
                </a:tc>
                <a:tc>
                  <a:txBody>
                    <a:bodyPr/>
                    <a:lstStyle/>
                    <a:p>
                      <a:pPr algn="ctr" indent="0" marL="0">
                        <a:buNone/>
                      </a:pPr>
                      <a:r>
                        <a:rPr lang="en-US" sz="1000" b="1" dirty="0">
                          <a:solidFill>
                            <a:srgbClr val="C8102E"/>
                          </a:solidFill>
                          <a:latin typeface="Arial" pitchFamily="34" charset="0"/>
                          <a:ea typeface="Arial" pitchFamily="34" charset="-122"/>
                          <a:cs typeface="Arial" pitchFamily="34" charset="-120"/>
                        </a:rPr>
                        <a:t>Not measured</a:t>
                      </a:r>
                      <a:endParaRPr lang="en-US" sz="10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DED"/>
                    </a:solidFill>
                  </a:tcPr>
                </a:tc>
                <a:tc>
                  <a:txBody>
                    <a:bodyPr/>
                    <a:lstStyle/>
                    <a:p>
                      <a:pPr algn="ctr" indent="0" marL="0">
                        <a:buNone/>
                      </a:pPr>
                      <a:r>
                        <a:rPr lang="en-US" sz="1000" dirty="0">
                          <a:solidFill>
                            <a:srgbClr val="222222"/>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DED"/>
                    </a:solidFill>
                  </a:tcPr>
                </a:tc>
                <a:tc>
                  <a:txBody>
                    <a:bodyPr/>
                    <a:lstStyle/>
                    <a:p>
                      <a:pPr algn="ctr" indent="0" marL="0">
                        <a:buNone/>
                      </a:pPr>
                      <a:r>
                        <a:rPr lang="en-US" sz="1000" dirty="0">
                          <a:solidFill>
                            <a:srgbClr val="222222"/>
                          </a:solidFill>
                          <a:latin typeface="Arial" pitchFamily="34" charset="0"/>
                          <a:ea typeface="Arial" pitchFamily="34" charset="-122"/>
                          <a:cs typeface="Arial" pitchFamily="34" charset="-120"/>
                        </a:rPr>
                        <a:t>&gt;80%</a:t>
                      </a:r>
                      <a:endParaRPr lang="en-US" sz="10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DED"/>
                    </a:solidFill>
                  </a:tcPr>
                </a:tc>
                <a:tc>
                  <a:txBody>
                    <a:bodyPr/>
                    <a:lstStyle/>
                    <a:p>
                      <a:pPr algn="ctr" indent="0" marL="0">
                        <a:buNone/>
                      </a:pPr>
                      <a:r>
                        <a:rPr lang="en-US" sz="1000" dirty="0">
                          <a:solidFill>
                            <a:srgbClr val="222222"/>
                          </a:solidFill>
                          <a:latin typeface="Arial" pitchFamily="34" charset="0"/>
                          <a:ea typeface="Arial" pitchFamily="34" charset="-122"/>
                          <a:cs typeface="Arial" pitchFamily="34" charset="-120"/>
                        </a:rPr>
                        <a:t>&gt;60%</a:t>
                      </a:r>
                      <a:endParaRPr lang="en-US" sz="10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DED"/>
                    </a:solidFill>
                  </a:tcPr>
                </a:tc>
                <a:tc>
                  <a:txBody>
                    <a:bodyPr/>
                    <a:lstStyle/>
                    <a:p>
                      <a:pPr algn="ctr" indent="0" marL="0">
                        <a:buNone/>
                      </a:pPr>
                      <a:r>
                        <a:rPr lang="en-US" sz="1000" dirty="0">
                          <a:solidFill>
                            <a:srgbClr val="222222"/>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DED"/>
                    </a:solidFill>
                  </a:tcPr>
                </a:tc>
                <a:tc>
                  <a:txBody>
                    <a:bodyPr/>
                    <a:lstStyle/>
                    <a:p>
                      <a:pPr algn="ctr" indent="0" marL="0">
                        <a:buNone/>
                      </a:pPr>
                      <a:r>
                        <a:rPr lang="en-US" sz="1000" dirty="0">
                          <a:solidFill>
                            <a:srgbClr val="222222"/>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DED"/>
                    </a:solidFill>
                  </a:tcPr>
                </a:tc>
              </a:tr>
              <a:tr h="384048">
                <a:tc>
                  <a:txBody>
                    <a:bodyPr/>
                    <a:lstStyle/>
                    <a:p>
                      <a:pPr algn="l" indent="0" marL="0">
                        <a:buNone/>
                      </a:pPr>
                      <a:r>
                        <a:rPr lang="en-US" sz="1000" dirty="0">
                          <a:solidFill>
                            <a:srgbClr val="222222"/>
                          </a:solidFill>
                          <a:latin typeface="Arial" pitchFamily="34" charset="0"/>
                          <a:ea typeface="Arial" pitchFamily="34" charset="-122"/>
                          <a:cs typeface="Arial" pitchFamily="34" charset="-120"/>
                        </a:rPr>
                        <a:t>PAS maturity</a:t>
                      </a:r>
                      <a:endParaRPr lang="en-US" sz="10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DED"/>
                    </a:solidFill>
                  </a:tcPr>
                </a:tc>
                <a:tc>
                  <a:txBody>
                    <a:bodyPr/>
                    <a:lstStyle/>
                    <a:p>
                      <a:pPr algn="ctr" indent="0" marL="0">
                        <a:buNone/>
                      </a:pPr>
                      <a:r>
                        <a:rPr lang="en-US" sz="1000" b="1" dirty="0">
                          <a:solidFill>
                            <a:srgbClr val="C8102E"/>
                          </a:solidFill>
                          <a:latin typeface="Arial" pitchFamily="34" charset="0"/>
                          <a:ea typeface="Arial" pitchFamily="34" charset="-122"/>
                          <a:cs typeface="Arial" pitchFamily="34" charset="-120"/>
                        </a:rPr>
                        <a:t>Not measured</a:t>
                      </a:r>
                      <a:endParaRPr lang="en-US" sz="10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DED"/>
                    </a:solidFill>
                  </a:tcPr>
                </a:tc>
                <a:tc>
                  <a:txBody>
                    <a:bodyPr/>
                    <a:lstStyle/>
                    <a:p>
                      <a:pPr algn="ctr" indent="0" marL="0">
                        <a:buNone/>
                      </a:pPr>
                      <a:r>
                        <a:rPr lang="en-US" sz="1000" dirty="0">
                          <a:solidFill>
                            <a:srgbClr val="222222"/>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DED"/>
                    </a:solidFill>
                  </a:tcPr>
                </a:tc>
                <a:tc>
                  <a:txBody>
                    <a:bodyPr/>
                    <a:lstStyle/>
                    <a:p>
                      <a:pPr algn="ctr" indent="0" marL="0">
                        <a:buNone/>
                      </a:pPr>
                      <a:r>
                        <a:rPr lang="en-US" sz="1000" dirty="0">
                          <a:solidFill>
                            <a:srgbClr val="222222"/>
                          </a:solidFill>
                          <a:latin typeface="Arial" pitchFamily="34" charset="0"/>
                          <a:ea typeface="Arial" pitchFamily="34" charset="-122"/>
                          <a:cs typeface="Arial" pitchFamily="34" charset="-120"/>
                        </a:rPr>
                        <a:t>Level 3</a:t>
                      </a:r>
                      <a:endParaRPr lang="en-US" sz="10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DED"/>
                    </a:solidFill>
                  </a:tcPr>
                </a:tc>
                <a:tc>
                  <a:txBody>
                    <a:bodyPr/>
                    <a:lstStyle/>
                    <a:p>
                      <a:pPr algn="ctr" indent="0" marL="0">
                        <a:buNone/>
                      </a:pPr>
                      <a:r>
                        <a:rPr lang="en-US" sz="1000" dirty="0">
                          <a:solidFill>
                            <a:srgbClr val="222222"/>
                          </a:solidFill>
                          <a:latin typeface="Arial" pitchFamily="34" charset="0"/>
                          <a:ea typeface="Arial" pitchFamily="34" charset="-122"/>
                          <a:cs typeface="Arial" pitchFamily="34" charset="-120"/>
                        </a:rPr>
                        <a:t>Level 2</a:t>
                      </a:r>
                      <a:endParaRPr lang="en-US" sz="10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DED"/>
                    </a:solidFill>
                  </a:tcPr>
                </a:tc>
                <a:tc>
                  <a:txBody>
                    <a:bodyPr/>
                    <a:lstStyle/>
                    <a:p>
                      <a:pPr algn="ctr" indent="0" marL="0">
                        <a:buNone/>
                      </a:pPr>
                      <a:r>
                        <a:rPr lang="en-US" sz="1000" dirty="0">
                          <a:solidFill>
                            <a:srgbClr val="222222"/>
                          </a:solidFill>
                          <a:latin typeface="Arial" pitchFamily="34" charset="0"/>
                          <a:ea typeface="Arial" pitchFamily="34" charset="-122"/>
                          <a:cs typeface="Arial" pitchFamily="34" charset="-120"/>
                        </a:rPr>
                        <a:t>Level 2</a:t>
                      </a:r>
                      <a:endParaRPr lang="en-US" sz="10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DED"/>
                    </a:solidFill>
                  </a:tcPr>
                </a:tc>
                <a:tc>
                  <a:txBody>
                    <a:bodyPr/>
                    <a:lstStyle/>
                    <a:p>
                      <a:pPr algn="ctr" indent="0" marL="0">
                        <a:buNone/>
                      </a:pPr>
                      <a:r>
                        <a:rPr lang="en-US" sz="1000" dirty="0">
                          <a:solidFill>
                            <a:srgbClr val="222222"/>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DED"/>
                    </a:solidFill>
                  </a:tcPr>
                </a:tc>
              </a:tr>
            </a:tbl>
          </a:graphicData>
        </a:graphic>
      </p:graphicFrame>
      <p:sp>
        <p:nvSpPr>
          <p:cNvPr id="12" name="Shape 8"/>
          <p:cNvSpPr/>
          <p:nvPr/>
        </p:nvSpPr>
        <p:spPr>
          <a:xfrm>
            <a:off x="5212080" y="5257800"/>
            <a:ext cx="6519672" cy="960120"/>
          </a:xfrm>
          <a:prstGeom prst="rect">
            <a:avLst/>
          </a:prstGeom>
          <a:solidFill>
            <a:srgbClr val="C8102E"/>
          </a:solidFill>
          <a:ln w="12700">
            <a:solidFill>
              <a:srgbClr val="C8102E"/>
            </a:solidFill>
            <a:prstDash val="solid"/>
          </a:ln>
        </p:spPr>
      </p:sp>
      <p:sp>
        <p:nvSpPr>
          <p:cNvPr id="13" name="Text 9"/>
          <p:cNvSpPr txBox="1"/>
          <p:nvPr/>
        </p:nvSpPr>
        <p:spPr>
          <a:xfrm>
            <a:off x="5303520" y="5257800"/>
            <a:ext cx="6336792" cy="960120"/>
          </a:xfrm>
          <a:prstGeom prst="rect">
            <a:avLst/>
          </a:prstGeom>
          <a:noFill/>
          <a:ln/>
        </p:spPr>
        <p:txBody>
          <a:bodyPr wrap="square" lIns="635" tIns="635" rIns="635" bIns="635" rtlCol="0" anchor="ctr"/>
          <a:lstStyle/>
          <a:p>
            <a:pPr algn="l" indent="0" marL="0">
              <a:buNone/>
            </a:pPr>
            <a:r>
              <a:rPr lang="en-US" sz="1150" b="1" dirty="0">
                <a:solidFill>
                  <a:srgbClr val="FFFFFF"/>
                </a:solidFill>
                <a:latin typeface="Arial" pitchFamily="34" charset="0"/>
                <a:ea typeface="Arial" pitchFamily="34" charset="-122"/>
                <a:cs typeface="Arial" pitchFamily="34" charset="-120"/>
              </a:rPr>
              <a:t>Implication: make an STP baseline the first Option 3 deliverable. Without it, the value of any modernisation step cannot be shown.</a:t>
            </a:r>
            <a:endParaRPr lang="en-US" sz="1150" dirty="0"/>
          </a:p>
        </p:txBody>
      </p:sp>
      <p:sp>
        <p:nvSpPr>
          <p:cNvPr id="14" name="Text 10"/>
          <p:cNvSpPr txBox="1"/>
          <p:nvPr/>
        </p:nvSpPr>
        <p:spPr>
          <a:xfrm>
            <a:off x="457200" y="6419088"/>
            <a:ext cx="10725912" cy="320040"/>
          </a:xfrm>
          <a:prstGeom prst="rect">
            <a:avLst/>
          </a:prstGeom>
          <a:noFill/>
          <a:ln/>
        </p:spPr>
        <p:txBody>
          <a:bodyPr wrap="square" lIns="0" tIns="0" rIns="0" bIns="0" rtlCol="0" anchor="b"/>
          <a:lstStyle/>
          <a:p>
            <a:pPr indent="0" marL="0">
              <a:buNone/>
            </a:pPr>
            <a:r>
              <a:rPr lang="en-US" sz="850" dirty="0">
                <a:solidFill>
                  <a:srgbClr val="7F7F7F"/>
                </a:solidFill>
                <a:latin typeface="Arial" pitchFamily="34" charset="0"/>
                <a:ea typeface="Arial" pitchFamily="34" charset="-122"/>
                <a:cs typeface="Arial" pitchFamily="34" charset="-120"/>
              </a:rPr>
              <a:t>Source: HSBC Life PAS L400 benchmarking workbook ('HSBC vs Peers KPI – ICT basis'). HSBC FY2025 actual; LE2026 = Jan–Aug annualised. HK DWP 2024 (top 8). USD at HKD 7.8. Peer PAS metrics from competitor PAS reference.</a:t>
            </a:r>
            <a:endParaRPr lang="en-US" sz="850" dirty="0"/>
          </a:p>
        </p:txBody>
      </p:sp>
      <p:sp>
        <p:nvSpPr>
          <p:cNvPr id="15" name="Text 11"/>
          <p:cNvSpPr txBox="1"/>
          <p:nvPr/>
        </p:nvSpPr>
        <p:spPr>
          <a:xfrm>
            <a:off x="11274552" y="6419088"/>
            <a:ext cx="457200" cy="320040"/>
          </a:xfrm>
          <a:prstGeom prst="rect">
            <a:avLst/>
          </a:prstGeom>
          <a:noFill/>
          <a:ln/>
        </p:spPr>
        <p:txBody>
          <a:bodyPr wrap="square" lIns="0" tIns="0" rIns="0" bIns="0" rtlCol="0" anchor="b"/>
          <a:lstStyle/>
          <a:p>
            <a:pPr algn="r" indent="0" marL="0">
              <a:buNone/>
            </a:pPr>
            <a:r>
              <a:rPr lang="en-US" sz="900" dirty="0">
                <a:solidFill>
                  <a:srgbClr val="7F7F7F"/>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7315200" cy="274320"/>
          </a:xfrm>
          <a:prstGeom prst="rect">
            <a:avLst/>
          </a:prstGeom>
          <a:noFill/>
          <a:ln/>
        </p:spPr>
        <p:txBody>
          <a:bodyPr wrap="square" lIns="0" tIns="0" rIns="0" bIns="0" rtlCol="0" anchor="ctr"/>
          <a:lstStyle/>
          <a:p>
            <a:pPr indent="0" marL="0">
              <a:buNone/>
            </a:pPr>
            <a:r>
              <a:rPr lang="en-US" sz="1300" b="1" dirty="0">
                <a:solidFill>
                  <a:srgbClr val="C8102E"/>
                </a:solidFill>
                <a:latin typeface="Arial" pitchFamily="34" charset="0"/>
                <a:ea typeface="Arial" pitchFamily="34" charset="-122"/>
                <a:cs typeface="Arial" pitchFamily="34" charset="-120"/>
              </a:rPr>
              <a:t>07 </a:t>
            </a:r>
            <a:pPr indent="0" marL="0">
              <a:buNone/>
            </a:pPr>
            <a:r>
              <a:rPr lang="en-US" sz="1300" dirty="0">
                <a:solidFill>
                  <a:srgbClr val="C8102E"/>
                </a:solidFill>
                <a:latin typeface="Arial" pitchFamily="34" charset="0"/>
                <a:ea typeface="Arial" pitchFamily="34" charset="-122"/>
                <a:cs typeface="Arial" pitchFamily="34" charset="-120"/>
              </a:rPr>
              <a:t>| Linking Cost to Business Outcome</a:t>
            </a:r>
            <a:endParaRPr lang="en-US" sz="1300" dirty="0"/>
          </a:p>
        </p:txBody>
      </p:sp>
      <p:sp>
        <p:nvSpPr>
          <p:cNvPr id="3" name="Text 1"/>
          <p:cNvSpPr txBox="1"/>
          <p:nvPr/>
        </p:nvSpPr>
        <p:spPr>
          <a:xfrm>
            <a:off x="457200" y="502920"/>
            <a:ext cx="11274552" cy="502920"/>
          </a:xfrm>
          <a:prstGeom prst="rect">
            <a:avLst/>
          </a:prstGeom>
          <a:noFill/>
          <a:ln/>
        </p:spPr>
        <p:txBody>
          <a:bodyPr wrap="square" lIns="0" tIns="0" rIns="0" bIns="0" rtlCol="0" anchor="t"/>
          <a:lstStyle/>
          <a:p>
            <a:pPr indent="0" marL="0">
              <a:buNone/>
            </a:pPr>
            <a:r>
              <a:rPr lang="en-US" sz="2200" dirty="0">
                <a:solidFill>
                  <a:srgbClr val="222222"/>
                </a:solidFill>
                <a:latin typeface="Arial" pitchFamily="34" charset="0"/>
                <a:ea typeface="Arial" pitchFamily="34" charset="-122"/>
                <a:cs typeface="Arial" pitchFamily="34" charset="-120"/>
              </a:rPr>
              <a:t>Premium is outgrowing L400 cost but not L400 headcount</a:t>
            </a:r>
            <a:endParaRPr lang="en-US" sz="2200" dirty="0"/>
          </a:p>
        </p:txBody>
      </p:sp>
      <p:sp>
        <p:nvSpPr>
          <p:cNvPr id="4" name="Text 2"/>
          <p:cNvSpPr txBox="1"/>
          <p:nvPr/>
        </p:nvSpPr>
        <p:spPr>
          <a:xfrm>
            <a:off x="457200" y="1024128"/>
            <a:ext cx="11274552" cy="548640"/>
          </a:xfrm>
          <a:prstGeom prst="rect">
            <a:avLst/>
          </a:prstGeom>
          <a:noFill/>
          <a:ln/>
        </p:spPr>
        <p:txBody>
          <a:bodyPr wrap="square" lIns="0" tIns="0" rIns="0" bIns="0" rtlCol="0" anchor="t"/>
          <a:lstStyle/>
          <a:p>
            <a:pPr indent="0" marL="0">
              <a:buNone/>
            </a:pPr>
            <a:r>
              <a:rPr lang="en-US" sz="1250" b="1" dirty="0">
                <a:solidFill>
                  <a:srgbClr val="222222"/>
                </a:solidFill>
                <a:latin typeface="Arial" pitchFamily="34" charset="0"/>
                <a:ea typeface="Arial" pitchFamily="34" charset="-122"/>
                <a:cs typeface="Arial" pitchFamily="34" charset="-120"/>
              </a:rPr>
              <a:t>Key takeaway: </a:t>
            </a:r>
            <a:pPr indent="0" marL="0">
              <a:buNone/>
            </a:pPr>
            <a:r>
              <a:rPr lang="en-US" sz="1250" dirty="0">
                <a:solidFill>
                  <a:srgbClr val="222222"/>
                </a:solidFill>
                <a:latin typeface="Arial" pitchFamily="34" charset="0"/>
                <a:ea typeface="Arial" pitchFamily="34" charset="-122"/>
                <a:cs typeface="Arial" pitchFamily="34" charset="-120"/>
              </a:rPr>
              <a:t>Business growth is value-led: new business premium +33% while policies grow 3.9%. L400 cost grows slower than premium, which is healthy. Headcount grows faster, which is not. Growth has to scale through automation rather than people.</a:t>
            </a:r>
            <a:endParaRPr lang="en-US" sz="1250" dirty="0"/>
          </a:p>
        </p:txBody>
      </p:sp>
      <p:graphicFrame>
        <p:nvGraphicFramePr>
          <p:cNvPr id="5" name="Chart 0" descr=""/>
          <p:cNvGraphicFramePr/>
          <p:nvPr/>
        </p:nvGraphicFramePr>
        <p:xfrm>
          <a:off x="457200" y="1783080"/>
          <a:ext cx="6035040" cy="443484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6858000" y="1783080"/>
            <a:ext cx="4873752" cy="347472"/>
          </a:xfrm>
          <a:prstGeom prst="rect">
            <a:avLst/>
          </a:prstGeom>
          <a:solidFill>
            <a:srgbClr val="C8102E"/>
          </a:solidFill>
          <a:ln w="12700">
            <a:solidFill>
              <a:srgbClr val="C8102E"/>
            </a:solidFill>
            <a:prstDash val="solid"/>
          </a:ln>
        </p:spPr>
      </p:sp>
      <p:sp>
        <p:nvSpPr>
          <p:cNvPr id="7" name="Text 4"/>
          <p:cNvSpPr txBox="1"/>
          <p:nvPr/>
        </p:nvSpPr>
        <p:spPr>
          <a:xfrm>
            <a:off x="6949440" y="1783080"/>
            <a:ext cx="4690872" cy="347472"/>
          </a:xfrm>
          <a:prstGeom prst="rect">
            <a:avLst/>
          </a:prstGeom>
          <a:noFill/>
          <a:ln/>
        </p:spPr>
        <p:txBody>
          <a:bodyPr wrap="square" lIns="635" tIns="635" rIns="635" bIns="635" rtlCol="0" anchor="ctr"/>
          <a:lstStyle/>
          <a:p>
            <a:pPr algn="l" indent="0" marL="0">
              <a:buNone/>
            </a:pPr>
            <a:r>
              <a:rPr lang="en-US" sz="1200" b="1" dirty="0">
                <a:solidFill>
                  <a:srgbClr val="FFFFFF"/>
                </a:solidFill>
                <a:latin typeface="Arial" pitchFamily="34" charset="0"/>
                <a:ea typeface="Arial" pitchFamily="34" charset="-122"/>
                <a:cs typeface="Arial" pitchFamily="34" charset="-120"/>
              </a:rPr>
              <a:t>Jaws: premium growth minus cost growth</a:t>
            </a:r>
            <a:endParaRPr lang="en-US" sz="1200" dirty="0"/>
          </a:p>
        </p:txBody>
      </p:sp>
      <p:sp>
        <p:nvSpPr>
          <p:cNvPr id="8" name="Text 5"/>
          <p:cNvSpPr txBox="1"/>
          <p:nvPr/>
        </p:nvSpPr>
        <p:spPr>
          <a:xfrm>
            <a:off x="6903720" y="2240280"/>
            <a:ext cx="2345436" cy="548640"/>
          </a:xfrm>
          <a:prstGeom prst="rect">
            <a:avLst/>
          </a:prstGeom>
          <a:noFill/>
          <a:ln/>
        </p:spPr>
        <p:txBody>
          <a:bodyPr wrap="square" lIns="0" tIns="0" rIns="0" bIns="0" rtlCol="0" anchor="ctr"/>
          <a:lstStyle/>
          <a:p>
            <a:pPr indent="0" marL="0">
              <a:buNone/>
            </a:pPr>
            <a:r>
              <a:rPr lang="en-US" sz="3000" b="1" dirty="0">
                <a:solidFill>
                  <a:srgbClr val="C8102E"/>
                </a:solidFill>
                <a:latin typeface="Arial" pitchFamily="34" charset="0"/>
                <a:ea typeface="Arial" pitchFamily="34" charset="-122"/>
                <a:cs typeface="Arial" pitchFamily="34" charset="-120"/>
              </a:rPr>
              <a:t>+7.6pp</a:t>
            </a:r>
            <a:endParaRPr lang="en-US" sz="3000" dirty="0"/>
          </a:p>
        </p:txBody>
      </p:sp>
      <p:sp>
        <p:nvSpPr>
          <p:cNvPr id="9" name="Text 6"/>
          <p:cNvSpPr txBox="1"/>
          <p:nvPr/>
        </p:nvSpPr>
        <p:spPr>
          <a:xfrm>
            <a:off x="6903720" y="2807208"/>
            <a:ext cx="2345436" cy="502920"/>
          </a:xfrm>
          <a:prstGeom prst="rect">
            <a:avLst/>
          </a:prstGeom>
          <a:noFill/>
          <a:ln/>
        </p:spPr>
        <p:txBody>
          <a:bodyPr wrap="square" lIns="0" tIns="0" rIns="0" bIns="0" rtlCol="0" anchor="t"/>
          <a:lstStyle/>
          <a:p>
            <a:pPr indent="0" marL="0">
              <a:buNone/>
            </a:pPr>
            <a:r>
              <a:rPr lang="en-US" sz="1050" dirty="0">
                <a:solidFill>
                  <a:srgbClr val="222222"/>
                </a:solidFill>
                <a:latin typeface="Arial" pitchFamily="34" charset="0"/>
                <a:ea typeface="Arial" pitchFamily="34" charset="-122"/>
                <a:cs typeface="Arial" pitchFamily="34" charset="-120"/>
              </a:rPr>
              <a:t>Premium vs L400 cost: platform cost scales well</a:t>
            </a:r>
            <a:endParaRPr lang="en-US" sz="1050" dirty="0"/>
          </a:p>
        </p:txBody>
      </p:sp>
      <p:sp>
        <p:nvSpPr>
          <p:cNvPr id="10" name="Text 7"/>
          <p:cNvSpPr txBox="1"/>
          <p:nvPr/>
        </p:nvSpPr>
        <p:spPr>
          <a:xfrm>
            <a:off x="9432036" y="2240280"/>
            <a:ext cx="2345436" cy="548640"/>
          </a:xfrm>
          <a:prstGeom prst="rect">
            <a:avLst/>
          </a:prstGeom>
          <a:noFill/>
          <a:ln/>
        </p:spPr>
        <p:txBody>
          <a:bodyPr wrap="square" lIns="0" tIns="0" rIns="0" bIns="0" rtlCol="0" anchor="ctr"/>
          <a:lstStyle/>
          <a:p>
            <a:pPr indent="0" marL="0">
              <a:buNone/>
            </a:pPr>
            <a:r>
              <a:rPr lang="en-US" sz="3000" b="1" dirty="0">
                <a:solidFill>
                  <a:srgbClr val="404040"/>
                </a:solidFill>
                <a:latin typeface="Arial" pitchFamily="34" charset="0"/>
                <a:ea typeface="Arial" pitchFamily="34" charset="-122"/>
                <a:cs typeface="Arial" pitchFamily="34" charset="-120"/>
              </a:rPr>
              <a:t>−6.9pp</a:t>
            </a:r>
            <a:endParaRPr lang="en-US" sz="3000" dirty="0"/>
          </a:p>
        </p:txBody>
      </p:sp>
      <p:sp>
        <p:nvSpPr>
          <p:cNvPr id="11" name="Text 8"/>
          <p:cNvSpPr txBox="1"/>
          <p:nvPr/>
        </p:nvSpPr>
        <p:spPr>
          <a:xfrm>
            <a:off x="9432036" y="2807208"/>
            <a:ext cx="2345436" cy="502920"/>
          </a:xfrm>
          <a:prstGeom prst="rect">
            <a:avLst/>
          </a:prstGeom>
          <a:noFill/>
          <a:ln/>
        </p:spPr>
        <p:txBody>
          <a:bodyPr wrap="square" lIns="0" tIns="0" rIns="0" bIns="0" rtlCol="0" anchor="t"/>
          <a:lstStyle/>
          <a:p>
            <a:pPr indent="0" marL="0">
              <a:buNone/>
            </a:pPr>
            <a:r>
              <a:rPr lang="en-US" sz="1050" dirty="0">
                <a:solidFill>
                  <a:srgbClr val="222222"/>
                </a:solidFill>
                <a:latin typeface="Arial" pitchFamily="34" charset="0"/>
                <a:ea typeface="Arial" pitchFamily="34" charset="-122"/>
                <a:cs typeface="Arial" pitchFamily="34" charset="-120"/>
              </a:rPr>
              <a:t>Premium vs L400 FTE: headcount outpaces premium</a:t>
            </a:r>
            <a:endParaRPr lang="en-US" sz="1050" dirty="0"/>
          </a:p>
        </p:txBody>
      </p:sp>
      <p:sp>
        <p:nvSpPr>
          <p:cNvPr id="12" name="Shape 9"/>
          <p:cNvSpPr/>
          <p:nvPr/>
        </p:nvSpPr>
        <p:spPr>
          <a:xfrm>
            <a:off x="6858000" y="3474720"/>
            <a:ext cx="4873752" cy="347472"/>
          </a:xfrm>
          <a:prstGeom prst="rect">
            <a:avLst/>
          </a:prstGeom>
          <a:solidFill>
            <a:srgbClr val="C8102E"/>
          </a:solidFill>
          <a:ln w="12700">
            <a:solidFill>
              <a:srgbClr val="C8102E"/>
            </a:solidFill>
            <a:prstDash val="solid"/>
          </a:ln>
        </p:spPr>
      </p:sp>
      <p:sp>
        <p:nvSpPr>
          <p:cNvPr id="13" name="Text 10"/>
          <p:cNvSpPr txBox="1"/>
          <p:nvPr/>
        </p:nvSpPr>
        <p:spPr>
          <a:xfrm>
            <a:off x="6949440" y="3474720"/>
            <a:ext cx="4690872" cy="347472"/>
          </a:xfrm>
          <a:prstGeom prst="rect">
            <a:avLst/>
          </a:prstGeom>
          <a:noFill/>
          <a:ln/>
        </p:spPr>
        <p:txBody>
          <a:bodyPr wrap="square" lIns="635" tIns="635" rIns="635" bIns="635" rtlCol="0" anchor="ctr"/>
          <a:lstStyle/>
          <a:p>
            <a:pPr algn="l" indent="0" marL="0">
              <a:buNone/>
            </a:pPr>
            <a:r>
              <a:rPr lang="en-US" sz="1200" b="1" dirty="0">
                <a:solidFill>
                  <a:srgbClr val="FFFFFF"/>
                </a:solidFill>
                <a:latin typeface="Arial" pitchFamily="34" charset="0"/>
                <a:ea typeface="Arial" pitchFamily="34" charset="-122"/>
                <a:cs typeface="Arial" pitchFamily="34" charset="-120"/>
              </a:rPr>
              <a:t>Where cost should follow value</a:t>
            </a:r>
            <a:endParaRPr lang="en-US" sz="1200" dirty="0"/>
          </a:p>
        </p:txBody>
      </p:sp>
      <p:sp>
        <p:nvSpPr>
          <p:cNvPr id="14" name="Text 11"/>
          <p:cNvSpPr txBox="1"/>
          <p:nvPr/>
        </p:nvSpPr>
        <p:spPr>
          <a:xfrm>
            <a:off x="6858000" y="3931920"/>
            <a:ext cx="4873752" cy="1325880"/>
          </a:xfrm>
          <a:prstGeom prst="rect">
            <a:avLst/>
          </a:prstGeom>
          <a:noFill/>
          <a:ln/>
        </p:spPr>
        <p:txBody>
          <a:bodyPr wrap="square" lIns="635" tIns="635" rIns="635" bIns="635" rtlCol="0" anchor="t"/>
          <a:lstStyle/>
          <a:p>
            <a:pPr marL="152400" indent="-152400">
              <a:spcAft>
                <a:spcPts val="1000"/>
              </a:spcAft>
              <a:buSzPct val="100000"/>
              <a:buChar char="•"/>
            </a:pPr>
            <a:r>
              <a:rPr lang="en-US" sz="1150" dirty="0">
                <a:solidFill>
                  <a:srgbClr val="222222"/>
                </a:solidFill>
                <a:latin typeface="Arial" pitchFamily="34" charset="0"/>
                <a:ea typeface="Arial" pitchFamily="34" charset="-122"/>
                <a:cs typeface="Arial" pitchFamily="34" charset="-120"/>
              </a:rPr>
              <a:t>HNW: premium per policy is high, so invest in capability and service quality.</a:t>
            </a:r>
            <a:endParaRPr lang="en-US" sz="1150" dirty="0"/>
          </a:p>
          <a:p>
            <a:pPr marL="152400" indent="-152400">
              <a:spcAft>
                <a:spcPts val="1000"/>
              </a:spcAft>
              <a:buSzPct val="100000"/>
              <a:buChar char="•"/>
            </a:pPr>
            <a:r>
              <a:rPr lang="en-US" sz="1150" dirty="0">
                <a:solidFill>
                  <a:srgbClr val="222222"/>
                </a:solidFill>
                <a:latin typeface="Arial" pitchFamily="34" charset="0"/>
                <a:ea typeface="Arial" pitchFamily="34" charset="-122"/>
                <a:cs typeface="Arial" pitchFamily="34" charset="-120"/>
              </a:rPr>
              <a:t>Mass market: volume is flat, so invest in digital and STP to cut cost to serve.</a:t>
            </a:r>
            <a:endParaRPr lang="en-US" sz="1150" dirty="0"/>
          </a:p>
          <a:p>
            <a:pPr marL="152400" indent="-152400">
              <a:spcAft>
                <a:spcPts val="1000"/>
              </a:spcAft>
              <a:buSzPct val="100000"/>
              <a:buChar char="•"/>
            </a:pPr>
            <a:r>
              <a:rPr lang="en-US" sz="1150" dirty="0">
                <a:solidFill>
                  <a:srgbClr val="222222"/>
                </a:solidFill>
                <a:latin typeface="Arial" pitchFamily="34" charset="0"/>
                <a:ea typeface="Arial" pitchFamily="34" charset="-122"/>
                <a:cs typeface="Arial" pitchFamily="34" charset="-120"/>
              </a:rPr>
              <a:t>Servicing: 323k cases a year; automate the highest-volume changes first.</a:t>
            </a:r>
            <a:endParaRPr lang="en-US" sz="1150" dirty="0"/>
          </a:p>
        </p:txBody>
      </p:sp>
      <p:sp>
        <p:nvSpPr>
          <p:cNvPr id="15" name="Shape 12"/>
          <p:cNvSpPr/>
          <p:nvPr/>
        </p:nvSpPr>
        <p:spPr>
          <a:xfrm>
            <a:off x="6858000" y="5532120"/>
            <a:ext cx="4873752" cy="685800"/>
          </a:xfrm>
          <a:prstGeom prst="rect">
            <a:avLst/>
          </a:prstGeom>
          <a:solidFill>
            <a:srgbClr val="8C8C8C"/>
          </a:solidFill>
          <a:ln w="12700">
            <a:solidFill>
              <a:srgbClr val="8C8C8C"/>
            </a:solidFill>
            <a:prstDash val="solid"/>
          </a:ln>
        </p:spPr>
      </p:sp>
      <p:sp>
        <p:nvSpPr>
          <p:cNvPr id="16" name="Text 13"/>
          <p:cNvSpPr txBox="1"/>
          <p:nvPr/>
        </p:nvSpPr>
        <p:spPr>
          <a:xfrm>
            <a:off x="6949440" y="5532120"/>
            <a:ext cx="4690872" cy="685800"/>
          </a:xfrm>
          <a:prstGeom prst="rect">
            <a:avLst/>
          </a:prstGeom>
          <a:noFill/>
          <a:ln/>
        </p:spPr>
        <p:txBody>
          <a:bodyPr wrap="square" lIns="635" tIns="635" rIns="635" bIns="635" rtlCol="0" anchor="ctr"/>
          <a:lstStyle/>
          <a:p>
            <a:pPr indent="0" marL="0">
              <a:buNone/>
            </a:pPr>
            <a:r>
              <a:rPr lang="en-US" sz="1050" dirty="0">
                <a:solidFill>
                  <a:srgbClr val="FFFFFF"/>
                </a:solidFill>
                <a:latin typeface="Arial" pitchFamily="34" charset="0"/>
                <a:ea typeface="Arial" pitchFamily="34" charset="-122"/>
                <a:cs typeface="Arial" pitchFamily="34" charset="-120"/>
              </a:rPr>
              <a:t>Red bars: business volume and value. Dark bars: L400 cost and capacity.</a:t>
            </a:r>
            <a:endParaRPr lang="en-US" sz="1050" dirty="0"/>
          </a:p>
        </p:txBody>
      </p:sp>
      <p:sp>
        <p:nvSpPr>
          <p:cNvPr id="17" name="Text 14"/>
          <p:cNvSpPr txBox="1"/>
          <p:nvPr/>
        </p:nvSpPr>
        <p:spPr>
          <a:xfrm>
            <a:off x="457200" y="6419088"/>
            <a:ext cx="10725912" cy="320040"/>
          </a:xfrm>
          <a:prstGeom prst="rect">
            <a:avLst/>
          </a:prstGeom>
          <a:noFill/>
          <a:ln/>
        </p:spPr>
        <p:txBody>
          <a:bodyPr wrap="square" lIns="0" tIns="0" rIns="0" bIns="0" rtlCol="0" anchor="b"/>
          <a:lstStyle/>
          <a:p>
            <a:pPr indent="0" marL="0">
              <a:buNone/>
            </a:pPr>
            <a:r>
              <a:rPr lang="en-US" sz="850" dirty="0">
                <a:solidFill>
                  <a:srgbClr val="7F7F7F"/>
                </a:solidFill>
                <a:latin typeface="Arial" pitchFamily="34" charset="0"/>
                <a:ea typeface="Arial" pitchFamily="34" charset="-122"/>
                <a:cs typeface="Arial" pitchFamily="34" charset="-120"/>
              </a:rPr>
              <a:t>Source: HSBC Life PAS L400 benchmarking workbook ('HSBC vs Peers KPI – ICT basis'). HSBC FY2025 actual; LE2026 = Jan–Aug annualised. HK DWP 2024 (top 8). USD at HKD 7.8. Jaws use 2024 DWP growth against LE26 vs FY25 cost/FTE growth (cross-year, directional).</a:t>
            </a:r>
            <a:endParaRPr lang="en-US" sz="850" dirty="0"/>
          </a:p>
        </p:txBody>
      </p:sp>
      <p:sp>
        <p:nvSpPr>
          <p:cNvPr id="18" name="Text 15"/>
          <p:cNvSpPr txBox="1"/>
          <p:nvPr/>
        </p:nvSpPr>
        <p:spPr>
          <a:xfrm>
            <a:off x="11274552" y="6419088"/>
            <a:ext cx="457200" cy="320040"/>
          </a:xfrm>
          <a:prstGeom prst="rect">
            <a:avLst/>
          </a:prstGeom>
          <a:noFill/>
          <a:ln/>
        </p:spPr>
        <p:txBody>
          <a:bodyPr wrap="square" lIns="0" tIns="0" rIns="0" bIns="0" rtlCol="0" anchor="b"/>
          <a:lstStyle/>
          <a:p>
            <a:pPr algn="r" indent="0" marL="0">
              <a:buNone/>
            </a:pPr>
            <a:r>
              <a:rPr lang="en-US" sz="900" dirty="0">
                <a:solidFill>
                  <a:srgbClr val="7F7F7F"/>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7315200" cy="274320"/>
          </a:xfrm>
          <a:prstGeom prst="rect">
            <a:avLst/>
          </a:prstGeom>
          <a:noFill/>
          <a:ln/>
        </p:spPr>
        <p:txBody>
          <a:bodyPr wrap="square" lIns="0" tIns="0" rIns="0" bIns="0" rtlCol="0" anchor="ctr"/>
          <a:lstStyle/>
          <a:p>
            <a:pPr indent="0" marL="0">
              <a:buNone/>
            </a:pPr>
            <a:r>
              <a:rPr lang="en-US" sz="1300" b="1" dirty="0">
                <a:solidFill>
                  <a:srgbClr val="C8102E"/>
                </a:solidFill>
                <a:latin typeface="Arial" pitchFamily="34" charset="0"/>
                <a:ea typeface="Arial" pitchFamily="34" charset="-122"/>
                <a:cs typeface="Arial" pitchFamily="34" charset="-120"/>
              </a:rPr>
              <a:t>08 </a:t>
            </a:r>
            <a:pPr indent="0" marL="0">
              <a:buNone/>
            </a:pPr>
            <a:r>
              <a:rPr lang="en-US" sz="1300" dirty="0">
                <a:solidFill>
                  <a:srgbClr val="C8102E"/>
                </a:solidFill>
                <a:latin typeface="Arial" pitchFamily="34" charset="0"/>
                <a:ea typeface="Arial" pitchFamily="34" charset="-122"/>
                <a:cs typeface="Arial" pitchFamily="34" charset="-120"/>
              </a:rPr>
              <a:t>| Benchmark Implications for Option 3+</a:t>
            </a:r>
            <a:endParaRPr lang="en-US" sz="1300" dirty="0"/>
          </a:p>
        </p:txBody>
      </p:sp>
      <p:sp>
        <p:nvSpPr>
          <p:cNvPr id="3" name="Text 1"/>
          <p:cNvSpPr txBox="1"/>
          <p:nvPr/>
        </p:nvSpPr>
        <p:spPr>
          <a:xfrm>
            <a:off x="457200" y="502920"/>
            <a:ext cx="11274552" cy="502920"/>
          </a:xfrm>
          <a:prstGeom prst="rect">
            <a:avLst/>
          </a:prstGeom>
          <a:noFill/>
          <a:ln/>
        </p:spPr>
        <p:txBody>
          <a:bodyPr wrap="square" lIns="0" tIns="0" rIns="0" bIns="0" rtlCol="0" anchor="t"/>
          <a:lstStyle/>
          <a:p>
            <a:pPr indent="0" marL="0">
              <a:buNone/>
            </a:pPr>
            <a:r>
              <a:rPr lang="en-US" sz="2200" dirty="0">
                <a:solidFill>
                  <a:srgbClr val="222222"/>
                </a:solidFill>
                <a:latin typeface="Arial" pitchFamily="34" charset="0"/>
                <a:ea typeface="Arial" pitchFamily="34" charset="-122"/>
                <a:cs typeface="Arial" pitchFamily="34" charset="-120"/>
              </a:rPr>
              <a:t>Each Option 3+ lens is backed by a benchmark signal and a KPI to track</a:t>
            </a:r>
            <a:endParaRPr lang="en-US" sz="2200" dirty="0"/>
          </a:p>
        </p:txBody>
      </p:sp>
      <p:sp>
        <p:nvSpPr>
          <p:cNvPr id="4" name="Text 2"/>
          <p:cNvSpPr txBox="1"/>
          <p:nvPr/>
        </p:nvSpPr>
        <p:spPr>
          <a:xfrm>
            <a:off x="457200" y="1024128"/>
            <a:ext cx="11274552" cy="548640"/>
          </a:xfrm>
          <a:prstGeom prst="rect">
            <a:avLst/>
          </a:prstGeom>
          <a:noFill/>
          <a:ln/>
        </p:spPr>
        <p:txBody>
          <a:bodyPr wrap="square" lIns="0" tIns="0" rIns="0" bIns="0" rtlCol="0" anchor="t"/>
          <a:lstStyle/>
          <a:p>
            <a:pPr indent="0" marL="0">
              <a:buNone/>
            </a:pPr>
            <a:r>
              <a:rPr lang="en-US" sz="1250" b="1" dirty="0">
                <a:solidFill>
                  <a:srgbClr val="222222"/>
                </a:solidFill>
                <a:latin typeface="Arial" pitchFamily="34" charset="0"/>
                <a:ea typeface="Arial" pitchFamily="34" charset="-122"/>
                <a:cs typeface="Arial" pitchFamily="34" charset="-120"/>
              </a:rPr>
              <a:t>Key takeaway: </a:t>
            </a:r>
            <a:pPr indent="0" marL="0">
              <a:buNone/>
            </a:pPr>
            <a:r>
              <a:rPr lang="en-US" sz="1250" dirty="0">
                <a:solidFill>
                  <a:srgbClr val="222222"/>
                </a:solidFill>
                <a:latin typeface="Arial" pitchFamily="34" charset="0"/>
                <a:ea typeface="Arial" pitchFamily="34" charset="-122"/>
                <a:cs typeface="Arial" pitchFamily="34" charset="-120"/>
              </a:rPr>
              <a:t>No benchmark justifies a big-bang L400 replacement. Each benchmark points to where the four lenses should direct continuous modernisation, and gives a KPI to track it.</a:t>
            </a:r>
            <a:endParaRPr lang="en-US" sz="1250" dirty="0"/>
          </a:p>
        </p:txBody>
      </p:sp>
      <p:sp>
        <p:nvSpPr>
          <p:cNvPr id="5" name="Text 3"/>
          <p:cNvSpPr txBox="1"/>
          <p:nvPr/>
        </p:nvSpPr>
        <p:spPr>
          <a:xfrm>
            <a:off x="457200" y="1490472"/>
            <a:ext cx="2651760" cy="274320"/>
          </a:xfrm>
          <a:prstGeom prst="rect">
            <a:avLst/>
          </a:prstGeom>
          <a:noFill/>
          <a:ln/>
        </p:spPr>
        <p:txBody>
          <a:bodyPr wrap="square" lIns="0" tIns="0" rIns="0" bIns="0" rtlCol="0" anchor="ctr"/>
          <a:lstStyle/>
          <a:p>
            <a:pPr indent="0" marL="0">
              <a:buNone/>
            </a:pPr>
            <a:r>
              <a:rPr lang="en-US" sz="1000" b="1" dirty="0">
                <a:solidFill>
                  <a:srgbClr val="7F7F7F"/>
                </a:solidFill>
                <a:latin typeface="Arial" pitchFamily="34" charset="0"/>
                <a:ea typeface="Arial" pitchFamily="34" charset="-122"/>
                <a:cs typeface="Arial" pitchFamily="34" charset="-120"/>
              </a:rPr>
              <a:t>Strategic lens</a:t>
            </a:r>
            <a:endParaRPr lang="en-US" sz="1000" dirty="0"/>
          </a:p>
        </p:txBody>
      </p:sp>
      <p:sp>
        <p:nvSpPr>
          <p:cNvPr id="6" name="Text 4"/>
          <p:cNvSpPr txBox="1"/>
          <p:nvPr/>
        </p:nvSpPr>
        <p:spPr>
          <a:xfrm>
            <a:off x="3246120" y="1490472"/>
            <a:ext cx="4297680" cy="274320"/>
          </a:xfrm>
          <a:prstGeom prst="rect">
            <a:avLst/>
          </a:prstGeom>
          <a:noFill/>
          <a:ln/>
        </p:spPr>
        <p:txBody>
          <a:bodyPr wrap="square" lIns="0" tIns="0" rIns="0" bIns="0" rtlCol="0" anchor="ctr"/>
          <a:lstStyle/>
          <a:p>
            <a:pPr indent="0" marL="0">
              <a:buNone/>
            </a:pPr>
            <a:r>
              <a:rPr lang="en-US" sz="1000" b="1" dirty="0">
                <a:solidFill>
                  <a:srgbClr val="7F7F7F"/>
                </a:solidFill>
                <a:latin typeface="Arial" pitchFamily="34" charset="0"/>
                <a:ea typeface="Arial" pitchFamily="34" charset="-122"/>
                <a:cs typeface="Arial" pitchFamily="34" charset="-120"/>
              </a:rPr>
              <a:t>Benchmark evidence</a:t>
            </a:r>
            <a:endParaRPr lang="en-US" sz="1000" dirty="0"/>
          </a:p>
        </p:txBody>
      </p:sp>
      <p:sp>
        <p:nvSpPr>
          <p:cNvPr id="7" name="Text 5"/>
          <p:cNvSpPr txBox="1"/>
          <p:nvPr/>
        </p:nvSpPr>
        <p:spPr>
          <a:xfrm>
            <a:off x="7680960" y="1490472"/>
            <a:ext cx="4050792" cy="274320"/>
          </a:xfrm>
          <a:prstGeom prst="rect">
            <a:avLst/>
          </a:prstGeom>
          <a:noFill/>
          <a:ln/>
        </p:spPr>
        <p:txBody>
          <a:bodyPr wrap="square" lIns="0" tIns="0" rIns="0" bIns="0" rtlCol="0" anchor="ctr"/>
          <a:lstStyle/>
          <a:p>
            <a:pPr indent="0" marL="0">
              <a:buNone/>
            </a:pPr>
            <a:r>
              <a:rPr lang="en-US" sz="1000" b="1" dirty="0">
                <a:solidFill>
                  <a:srgbClr val="7F7F7F"/>
                </a:solidFill>
                <a:latin typeface="Arial" pitchFamily="34" charset="0"/>
                <a:ea typeface="Arial" pitchFamily="34" charset="-122"/>
                <a:cs typeface="Arial" pitchFamily="34" charset="-120"/>
              </a:rPr>
              <a:t>What Option 3+ should do and track</a:t>
            </a:r>
            <a:endParaRPr lang="en-US" sz="1000" dirty="0"/>
          </a:p>
        </p:txBody>
      </p:sp>
      <p:sp>
        <p:nvSpPr>
          <p:cNvPr id="8" name="Shape 6"/>
          <p:cNvSpPr/>
          <p:nvPr/>
        </p:nvSpPr>
        <p:spPr>
          <a:xfrm>
            <a:off x="457200" y="1783080"/>
            <a:ext cx="2651760" cy="1024128"/>
          </a:xfrm>
          <a:prstGeom prst="rect">
            <a:avLst/>
          </a:prstGeom>
          <a:solidFill>
            <a:srgbClr val="C8102E"/>
          </a:solidFill>
          <a:ln w="12700">
            <a:solidFill>
              <a:srgbClr val="C8102E"/>
            </a:solidFill>
            <a:prstDash val="solid"/>
          </a:ln>
        </p:spPr>
      </p:sp>
      <p:sp>
        <p:nvSpPr>
          <p:cNvPr id="9" name="Text 7"/>
          <p:cNvSpPr txBox="1"/>
          <p:nvPr/>
        </p:nvSpPr>
        <p:spPr>
          <a:xfrm>
            <a:off x="548640" y="1783080"/>
            <a:ext cx="2468880" cy="1024128"/>
          </a:xfrm>
          <a:prstGeom prst="rect">
            <a:avLst/>
          </a:prstGeom>
          <a:noFill/>
          <a:ln/>
        </p:spPr>
        <p:txBody>
          <a:bodyPr wrap="square" lIns="635" tIns="635" rIns="635" bIns="635" rtlCol="0" anchor="ctr"/>
          <a:lstStyle/>
          <a:p>
            <a:pPr algn="l" indent="0" marL="0">
              <a:buNone/>
            </a:pPr>
            <a:r>
              <a:rPr lang="en-US" sz="1300" b="1" dirty="0">
                <a:solidFill>
                  <a:srgbClr val="FFFFFF"/>
                </a:solidFill>
                <a:latin typeface="Arial" pitchFamily="34" charset="0"/>
                <a:ea typeface="Arial" pitchFamily="34" charset="-122"/>
                <a:cs typeface="Arial" pitchFamily="34" charset="-120"/>
              </a:rPr>
              <a:t>1. Geo-political resilience</a:t>
            </a:r>
            <a:endParaRPr lang="en-US" sz="1300" dirty="0"/>
          </a:p>
        </p:txBody>
      </p:sp>
      <p:sp>
        <p:nvSpPr>
          <p:cNvPr id="10" name="Shape 8"/>
          <p:cNvSpPr/>
          <p:nvPr/>
        </p:nvSpPr>
        <p:spPr>
          <a:xfrm>
            <a:off x="3246120" y="1783080"/>
            <a:ext cx="4297680" cy="1024128"/>
          </a:xfrm>
          <a:prstGeom prst="rect">
            <a:avLst/>
          </a:prstGeom>
          <a:solidFill>
            <a:srgbClr val="EDEDED"/>
          </a:solidFill>
          <a:ln w="12700">
            <a:solidFill>
              <a:srgbClr val="EDEDED"/>
            </a:solidFill>
            <a:prstDash val="solid"/>
          </a:ln>
        </p:spPr>
      </p:sp>
      <p:sp>
        <p:nvSpPr>
          <p:cNvPr id="11" name="Text 9"/>
          <p:cNvSpPr txBox="1"/>
          <p:nvPr/>
        </p:nvSpPr>
        <p:spPr>
          <a:xfrm>
            <a:off x="3337560" y="1783080"/>
            <a:ext cx="4114800" cy="1024128"/>
          </a:xfrm>
          <a:prstGeom prst="rect">
            <a:avLst/>
          </a:prstGeom>
          <a:noFill/>
          <a:ln/>
        </p:spPr>
        <p:txBody>
          <a:bodyPr wrap="square" lIns="635" tIns="635" rIns="635" bIns="635" rtlCol="0" anchor="ctr"/>
          <a:lstStyle/>
          <a:p>
            <a:pPr indent="0" marL="0">
              <a:buNone/>
            </a:pPr>
            <a:r>
              <a:rPr lang="en-US" sz="1050" dirty="0">
                <a:solidFill>
                  <a:srgbClr val="222222"/>
                </a:solidFill>
                <a:latin typeface="Arial" pitchFamily="34" charset="0"/>
                <a:ea typeface="Arial" pitchFamily="34" charset="-122"/>
                <a:cs typeface="Arial" pitchFamily="34" charset="-120"/>
              </a:rPr>
              <a:t>External labour is 39% of L400 spend against 19% for peers, incl. a USD 3.2m DXC SOW. Cloud is growing from almost zero.</a:t>
            </a:r>
            <a:endParaRPr lang="en-US" sz="1050" dirty="0"/>
          </a:p>
        </p:txBody>
      </p:sp>
      <p:sp>
        <p:nvSpPr>
          <p:cNvPr id="12" name="Shape 10"/>
          <p:cNvSpPr/>
          <p:nvPr/>
        </p:nvSpPr>
        <p:spPr>
          <a:xfrm>
            <a:off x="7680960" y="1783080"/>
            <a:ext cx="4050792" cy="1024128"/>
          </a:xfrm>
          <a:prstGeom prst="rect">
            <a:avLst/>
          </a:prstGeom>
          <a:solidFill>
            <a:srgbClr val="8C8C8C"/>
          </a:solidFill>
          <a:ln w="12700">
            <a:solidFill>
              <a:srgbClr val="8C8C8C"/>
            </a:solidFill>
            <a:prstDash val="solid"/>
          </a:ln>
        </p:spPr>
      </p:sp>
      <p:sp>
        <p:nvSpPr>
          <p:cNvPr id="13" name="Text 11"/>
          <p:cNvSpPr txBox="1"/>
          <p:nvPr/>
        </p:nvSpPr>
        <p:spPr>
          <a:xfrm>
            <a:off x="7772400" y="1783080"/>
            <a:ext cx="3867912" cy="1024128"/>
          </a:xfrm>
          <a:prstGeom prst="rect">
            <a:avLst/>
          </a:prstGeom>
          <a:noFill/>
          <a:ln/>
        </p:spPr>
        <p:txBody>
          <a:bodyPr wrap="square" lIns="635" tIns="635" rIns="635" bIns="635" rtlCol="0" anchor="ctr"/>
          <a:lstStyle/>
          <a:p>
            <a:pPr indent="0" marL="0">
              <a:buNone/>
            </a:pPr>
            <a:r>
              <a:rPr lang="en-US" sz="1050" dirty="0">
                <a:solidFill>
                  <a:srgbClr val="FFFFFF"/>
                </a:solidFill>
                <a:latin typeface="Arial" pitchFamily="34" charset="0"/>
                <a:ea typeface="Arial" pitchFamily="34" charset="-122"/>
                <a:cs typeface="Arial" pitchFamily="34" charset="-120"/>
              </a:rPr>
              <a:t>Vendor concentration limits, portable cloud choices, and in-house L400 skills. KPI: external labour share.</a:t>
            </a:r>
            <a:endParaRPr lang="en-US" sz="1050" dirty="0"/>
          </a:p>
        </p:txBody>
      </p:sp>
      <p:sp>
        <p:nvSpPr>
          <p:cNvPr id="14" name="Shape 12"/>
          <p:cNvSpPr/>
          <p:nvPr/>
        </p:nvSpPr>
        <p:spPr>
          <a:xfrm>
            <a:off x="457200" y="2898648"/>
            <a:ext cx="2651760" cy="1024128"/>
          </a:xfrm>
          <a:prstGeom prst="rect">
            <a:avLst/>
          </a:prstGeom>
          <a:solidFill>
            <a:srgbClr val="C8102E"/>
          </a:solidFill>
          <a:ln w="12700">
            <a:solidFill>
              <a:srgbClr val="C8102E"/>
            </a:solidFill>
            <a:prstDash val="solid"/>
          </a:ln>
        </p:spPr>
      </p:sp>
      <p:sp>
        <p:nvSpPr>
          <p:cNvPr id="15" name="Text 13"/>
          <p:cNvSpPr txBox="1"/>
          <p:nvPr/>
        </p:nvSpPr>
        <p:spPr>
          <a:xfrm>
            <a:off x="548640" y="2898648"/>
            <a:ext cx="2468880" cy="1024128"/>
          </a:xfrm>
          <a:prstGeom prst="rect">
            <a:avLst/>
          </a:prstGeom>
          <a:noFill/>
          <a:ln/>
        </p:spPr>
        <p:txBody>
          <a:bodyPr wrap="square" lIns="635" tIns="635" rIns="635" bIns="635" rtlCol="0" anchor="ctr"/>
          <a:lstStyle/>
          <a:p>
            <a:pPr algn="l" indent="0" marL="0">
              <a:buNone/>
            </a:pPr>
            <a:r>
              <a:rPr lang="en-US" sz="1300" b="1" dirty="0">
                <a:solidFill>
                  <a:srgbClr val="FFFFFF"/>
                </a:solidFill>
                <a:latin typeface="Arial" pitchFamily="34" charset="0"/>
                <a:ea typeface="Arial" pitchFamily="34" charset="-122"/>
                <a:cs typeface="Arial" pitchFamily="34" charset="-120"/>
              </a:rPr>
              <a:t>2. Business value</a:t>
            </a:r>
            <a:endParaRPr lang="en-US" sz="1300" dirty="0"/>
          </a:p>
        </p:txBody>
      </p:sp>
      <p:sp>
        <p:nvSpPr>
          <p:cNvPr id="16" name="Shape 14"/>
          <p:cNvSpPr/>
          <p:nvPr/>
        </p:nvSpPr>
        <p:spPr>
          <a:xfrm>
            <a:off x="3246120" y="2898648"/>
            <a:ext cx="4297680" cy="1024128"/>
          </a:xfrm>
          <a:prstGeom prst="rect">
            <a:avLst/>
          </a:prstGeom>
          <a:solidFill>
            <a:srgbClr val="EDEDED"/>
          </a:solidFill>
          <a:ln w="12700">
            <a:solidFill>
              <a:srgbClr val="EDEDED"/>
            </a:solidFill>
            <a:prstDash val="solid"/>
          </a:ln>
        </p:spPr>
      </p:sp>
      <p:sp>
        <p:nvSpPr>
          <p:cNvPr id="17" name="Text 15"/>
          <p:cNvSpPr txBox="1"/>
          <p:nvPr/>
        </p:nvSpPr>
        <p:spPr>
          <a:xfrm>
            <a:off x="3337560" y="2898648"/>
            <a:ext cx="4114800" cy="1024128"/>
          </a:xfrm>
          <a:prstGeom prst="rect">
            <a:avLst/>
          </a:prstGeom>
          <a:noFill/>
          <a:ln/>
        </p:spPr>
        <p:txBody>
          <a:bodyPr wrap="square" lIns="635" tIns="635" rIns="635" bIns="635" rtlCol="0" anchor="ctr"/>
          <a:lstStyle/>
          <a:p>
            <a:pPr indent="0" marL="0">
              <a:buNone/>
            </a:pPr>
            <a:r>
              <a:rPr lang="en-US" sz="1050" dirty="0">
                <a:solidFill>
                  <a:srgbClr val="222222"/>
                </a:solidFill>
                <a:latin typeface="Arial" pitchFamily="34" charset="0"/>
                <a:ea typeface="Arial" pitchFamily="34" charset="-122"/>
                <a:cs typeface="Arial" pitchFamily="34" charset="-120"/>
              </a:rPr>
              <a:t>L400 is 0.08% of DWP and grows slower than premium (+7.6pp). HSBC grows 10.2% against 4.3% for peers.</a:t>
            </a:r>
            <a:endParaRPr lang="en-US" sz="1050" dirty="0"/>
          </a:p>
        </p:txBody>
      </p:sp>
      <p:sp>
        <p:nvSpPr>
          <p:cNvPr id="18" name="Shape 16"/>
          <p:cNvSpPr/>
          <p:nvPr/>
        </p:nvSpPr>
        <p:spPr>
          <a:xfrm>
            <a:off x="7680960" y="2898648"/>
            <a:ext cx="4050792" cy="1024128"/>
          </a:xfrm>
          <a:prstGeom prst="rect">
            <a:avLst/>
          </a:prstGeom>
          <a:solidFill>
            <a:srgbClr val="8C8C8C"/>
          </a:solidFill>
          <a:ln w="12700">
            <a:solidFill>
              <a:srgbClr val="8C8C8C"/>
            </a:solidFill>
            <a:prstDash val="solid"/>
          </a:ln>
        </p:spPr>
      </p:sp>
      <p:sp>
        <p:nvSpPr>
          <p:cNvPr id="19" name="Text 17"/>
          <p:cNvSpPr txBox="1"/>
          <p:nvPr/>
        </p:nvSpPr>
        <p:spPr>
          <a:xfrm>
            <a:off x="7772400" y="2898648"/>
            <a:ext cx="3867912" cy="1024128"/>
          </a:xfrm>
          <a:prstGeom prst="rect">
            <a:avLst/>
          </a:prstGeom>
          <a:noFill/>
          <a:ln/>
        </p:spPr>
        <p:txBody>
          <a:bodyPr wrap="square" lIns="635" tIns="635" rIns="635" bIns="635" rtlCol="0" anchor="ctr"/>
          <a:lstStyle/>
          <a:p>
            <a:pPr indent="0" marL="0">
              <a:buNone/>
            </a:pPr>
            <a:r>
              <a:rPr lang="en-US" sz="1050" dirty="0">
                <a:solidFill>
                  <a:srgbClr val="FFFFFF"/>
                </a:solidFill>
                <a:latin typeface="Arial" pitchFamily="34" charset="0"/>
                <a:ea typeface="Arial" pitchFamily="34" charset="-122"/>
                <a:cs typeface="Arial" pitchFamily="34" charset="-120"/>
              </a:rPr>
              <a:t>Fund changes that protect growth: servicing, digital submission, data. KPIs: L400 cost ÷ DWP; jaws.</a:t>
            </a:r>
            <a:endParaRPr lang="en-US" sz="1050" dirty="0"/>
          </a:p>
        </p:txBody>
      </p:sp>
      <p:sp>
        <p:nvSpPr>
          <p:cNvPr id="20" name="Shape 18"/>
          <p:cNvSpPr/>
          <p:nvPr/>
        </p:nvSpPr>
        <p:spPr>
          <a:xfrm>
            <a:off x="457200" y="4014216"/>
            <a:ext cx="2651760" cy="1024128"/>
          </a:xfrm>
          <a:prstGeom prst="rect">
            <a:avLst/>
          </a:prstGeom>
          <a:solidFill>
            <a:srgbClr val="C8102E"/>
          </a:solidFill>
          <a:ln w="12700">
            <a:solidFill>
              <a:srgbClr val="C8102E"/>
            </a:solidFill>
            <a:prstDash val="solid"/>
          </a:ln>
        </p:spPr>
      </p:sp>
      <p:sp>
        <p:nvSpPr>
          <p:cNvPr id="21" name="Text 19"/>
          <p:cNvSpPr txBox="1"/>
          <p:nvPr/>
        </p:nvSpPr>
        <p:spPr>
          <a:xfrm>
            <a:off x="548640" y="4014216"/>
            <a:ext cx="2468880" cy="1024128"/>
          </a:xfrm>
          <a:prstGeom prst="rect">
            <a:avLst/>
          </a:prstGeom>
          <a:noFill/>
          <a:ln/>
        </p:spPr>
        <p:txBody>
          <a:bodyPr wrap="square" lIns="635" tIns="635" rIns="635" bIns="635" rtlCol="0" anchor="ctr"/>
          <a:lstStyle/>
          <a:p>
            <a:pPr algn="l" indent="0" marL="0">
              <a:buNone/>
            </a:pPr>
            <a:r>
              <a:rPr lang="en-US" sz="1300" b="1" dirty="0">
                <a:solidFill>
                  <a:srgbClr val="FFFFFF"/>
                </a:solidFill>
                <a:latin typeface="Arial" pitchFamily="34" charset="0"/>
                <a:ea typeface="Arial" pitchFamily="34" charset="-122"/>
                <a:cs typeface="Arial" pitchFamily="34" charset="-120"/>
              </a:rPr>
              <a:t>3. Technology acceleration</a:t>
            </a:r>
            <a:endParaRPr lang="en-US" sz="1300" dirty="0"/>
          </a:p>
        </p:txBody>
      </p:sp>
      <p:sp>
        <p:nvSpPr>
          <p:cNvPr id="22" name="Shape 20"/>
          <p:cNvSpPr/>
          <p:nvPr/>
        </p:nvSpPr>
        <p:spPr>
          <a:xfrm>
            <a:off x="3246120" y="4014216"/>
            <a:ext cx="4297680" cy="1024128"/>
          </a:xfrm>
          <a:prstGeom prst="rect">
            <a:avLst/>
          </a:prstGeom>
          <a:solidFill>
            <a:srgbClr val="EDEDED"/>
          </a:solidFill>
          <a:ln w="12700">
            <a:solidFill>
              <a:srgbClr val="EDEDED"/>
            </a:solidFill>
            <a:prstDash val="solid"/>
          </a:ln>
        </p:spPr>
      </p:sp>
      <p:sp>
        <p:nvSpPr>
          <p:cNvPr id="23" name="Text 21"/>
          <p:cNvSpPr txBox="1"/>
          <p:nvPr/>
        </p:nvSpPr>
        <p:spPr>
          <a:xfrm>
            <a:off x="3337560" y="4014216"/>
            <a:ext cx="4114800" cy="1024128"/>
          </a:xfrm>
          <a:prstGeom prst="rect">
            <a:avLst/>
          </a:prstGeom>
          <a:noFill/>
          <a:ln/>
        </p:spPr>
        <p:txBody>
          <a:bodyPr wrap="square" lIns="635" tIns="635" rIns="635" bIns="635" rtlCol="0" anchor="ctr"/>
          <a:lstStyle/>
          <a:p>
            <a:pPr indent="0" marL="0">
              <a:buNone/>
            </a:pPr>
            <a:r>
              <a:rPr lang="en-US" sz="1050" dirty="0">
                <a:solidFill>
                  <a:srgbClr val="222222"/>
                </a:solidFill>
                <a:latin typeface="Arial" pitchFamily="34" charset="0"/>
                <a:ea typeface="Arial" pitchFamily="34" charset="-122"/>
                <a:cs typeface="Arial" pitchFamily="34" charset="-120"/>
              </a:rPr>
              <a:t>STP not measured against 30–70% in the market. 74% of L400 spend is change, mostly labour. Infrastructure is 16% against 9% for peers.</a:t>
            </a:r>
            <a:endParaRPr lang="en-US" sz="1050" dirty="0"/>
          </a:p>
        </p:txBody>
      </p:sp>
      <p:sp>
        <p:nvSpPr>
          <p:cNvPr id="24" name="Shape 22"/>
          <p:cNvSpPr/>
          <p:nvPr/>
        </p:nvSpPr>
        <p:spPr>
          <a:xfrm>
            <a:off x="7680960" y="4014216"/>
            <a:ext cx="4050792" cy="1024128"/>
          </a:xfrm>
          <a:prstGeom prst="rect">
            <a:avLst/>
          </a:prstGeom>
          <a:solidFill>
            <a:srgbClr val="8C8C8C"/>
          </a:solidFill>
          <a:ln w="12700">
            <a:solidFill>
              <a:srgbClr val="8C8C8C"/>
            </a:solidFill>
            <a:prstDash val="solid"/>
          </a:ln>
        </p:spPr>
      </p:sp>
      <p:sp>
        <p:nvSpPr>
          <p:cNvPr id="25" name="Text 23"/>
          <p:cNvSpPr txBox="1"/>
          <p:nvPr/>
        </p:nvSpPr>
        <p:spPr>
          <a:xfrm>
            <a:off x="7772400" y="4014216"/>
            <a:ext cx="3867912" cy="1024128"/>
          </a:xfrm>
          <a:prstGeom prst="rect">
            <a:avLst/>
          </a:prstGeom>
          <a:noFill/>
          <a:ln/>
        </p:spPr>
        <p:txBody>
          <a:bodyPr wrap="square" lIns="635" tIns="635" rIns="635" bIns="635" rtlCol="0" anchor="ctr"/>
          <a:lstStyle/>
          <a:p>
            <a:pPr indent="0" marL="0">
              <a:buNone/>
            </a:pPr>
            <a:r>
              <a:rPr lang="en-US" sz="1050" dirty="0">
                <a:solidFill>
                  <a:srgbClr val="FFFFFF"/>
                </a:solidFill>
                <a:latin typeface="Arial" pitchFamily="34" charset="0"/>
                <a:ea typeface="Arial" pitchFamily="34" charset="-122"/>
                <a:cs typeface="Arial" pitchFamily="34" charset="-120"/>
              </a:rPr>
              <a:t>Modular re-platforming, automation of high-volume servicing, STP baseline. KPIs: STP %, cost per servicing case.</a:t>
            </a:r>
            <a:endParaRPr lang="en-US" sz="1050" dirty="0"/>
          </a:p>
        </p:txBody>
      </p:sp>
      <p:sp>
        <p:nvSpPr>
          <p:cNvPr id="26" name="Shape 24"/>
          <p:cNvSpPr/>
          <p:nvPr/>
        </p:nvSpPr>
        <p:spPr>
          <a:xfrm>
            <a:off x="457200" y="5129784"/>
            <a:ext cx="2651760" cy="1024128"/>
          </a:xfrm>
          <a:prstGeom prst="rect">
            <a:avLst/>
          </a:prstGeom>
          <a:solidFill>
            <a:srgbClr val="C8102E"/>
          </a:solidFill>
          <a:ln w="12700">
            <a:solidFill>
              <a:srgbClr val="C8102E"/>
            </a:solidFill>
            <a:prstDash val="solid"/>
          </a:ln>
        </p:spPr>
      </p:sp>
      <p:sp>
        <p:nvSpPr>
          <p:cNvPr id="27" name="Text 25"/>
          <p:cNvSpPr txBox="1"/>
          <p:nvPr/>
        </p:nvSpPr>
        <p:spPr>
          <a:xfrm>
            <a:off x="548640" y="5129784"/>
            <a:ext cx="2468880" cy="1024128"/>
          </a:xfrm>
          <a:prstGeom prst="rect">
            <a:avLst/>
          </a:prstGeom>
          <a:noFill/>
          <a:ln/>
        </p:spPr>
        <p:txBody>
          <a:bodyPr wrap="square" lIns="635" tIns="635" rIns="635" bIns="635" rtlCol="0" anchor="ctr"/>
          <a:lstStyle/>
          <a:p>
            <a:pPr algn="l" indent="0" marL="0">
              <a:buNone/>
            </a:pPr>
            <a:r>
              <a:rPr lang="en-US" sz="1300" b="1" dirty="0">
                <a:solidFill>
                  <a:srgbClr val="FFFFFF"/>
                </a:solidFill>
                <a:latin typeface="Arial" pitchFamily="34" charset="0"/>
                <a:ea typeface="Arial" pitchFamily="34" charset="-122"/>
                <a:cs typeface="Arial" pitchFamily="34" charset="-120"/>
              </a:rPr>
              <a:t>4. HNW vs mass-market</a:t>
            </a:r>
            <a:endParaRPr lang="en-US" sz="1300" dirty="0"/>
          </a:p>
        </p:txBody>
      </p:sp>
      <p:sp>
        <p:nvSpPr>
          <p:cNvPr id="28" name="Shape 26"/>
          <p:cNvSpPr/>
          <p:nvPr/>
        </p:nvSpPr>
        <p:spPr>
          <a:xfrm>
            <a:off x="3246120" y="5129784"/>
            <a:ext cx="4297680" cy="1024128"/>
          </a:xfrm>
          <a:prstGeom prst="rect">
            <a:avLst/>
          </a:prstGeom>
          <a:solidFill>
            <a:srgbClr val="EDEDED"/>
          </a:solidFill>
          <a:ln w="12700">
            <a:solidFill>
              <a:srgbClr val="EDEDED"/>
            </a:solidFill>
            <a:prstDash val="solid"/>
          </a:ln>
        </p:spPr>
      </p:sp>
      <p:sp>
        <p:nvSpPr>
          <p:cNvPr id="29" name="Text 27"/>
          <p:cNvSpPr txBox="1"/>
          <p:nvPr/>
        </p:nvSpPr>
        <p:spPr>
          <a:xfrm>
            <a:off x="3337560" y="5129784"/>
            <a:ext cx="4114800" cy="1024128"/>
          </a:xfrm>
          <a:prstGeom prst="rect">
            <a:avLst/>
          </a:prstGeom>
          <a:noFill/>
          <a:ln/>
        </p:spPr>
        <p:txBody>
          <a:bodyPr wrap="square" lIns="635" tIns="635" rIns="635" bIns="635" rtlCol="0" anchor="ctr"/>
          <a:lstStyle/>
          <a:p>
            <a:pPr indent="0" marL="0">
              <a:buNone/>
            </a:pPr>
            <a:r>
              <a:rPr lang="en-US" sz="1050" dirty="0">
                <a:solidFill>
                  <a:srgbClr val="222222"/>
                </a:solidFill>
                <a:latin typeface="Arial" pitchFamily="34" charset="0"/>
                <a:ea typeface="Arial" pitchFamily="34" charset="-122"/>
                <a:cs typeface="Arial" pitchFamily="34" charset="-120"/>
              </a:rPr>
              <a:t>Premium per policy is USD 16.4k. New business premium +33% while policies +3.9%. Digital submission is 20% against 30–70%.</a:t>
            </a:r>
            <a:endParaRPr lang="en-US" sz="1050" dirty="0"/>
          </a:p>
        </p:txBody>
      </p:sp>
      <p:sp>
        <p:nvSpPr>
          <p:cNvPr id="30" name="Shape 28"/>
          <p:cNvSpPr/>
          <p:nvPr/>
        </p:nvSpPr>
        <p:spPr>
          <a:xfrm>
            <a:off x="7680960" y="5129784"/>
            <a:ext cx="4050792" cy="1024128"/>
          </a:xfrm>
          <a:prstGeom prst="rect">
            <a:avLst/>
          </a:prstGeom>
          <a:solidFill>
            <a:srgbClr val="8C8C8C"/>
          </a:solidFill>
          <a:ln w="12700">
            <a:solidFill>
              <a:srgbClr val="8C8C8C"/>
            </a:solidFill>
            <a:prstDash val="solid"/>
          </a:ln>
        </p:spPr>
      </p:sp>
      <p:sp>
        <p:nvSpPr>
          <p:cNvPr id="31" name="Text 29"/>
          <p:cNvSpPr txBox="1"/>
          <p:nvPr/>
        </p:nvSpPr>
        <p:spPr>
          <a:xfrm>
            <a:off x="7772400" y="5129784"/>
            <a:ext cx="3867912" cy="1024128"/>
          </a:xfrm>
          <a:prstGeom prst="rect">
            <a:avLst/>
          </a:prstGeom>
          <a:noFill/>
          <a:ln/>
        </p:spPr>
        <p:txBody>
          <a:bodyPr wrap="square" lIns="635" tIns="635" rIns="635" bIns="635" rtlCol="0" anchor="ctr"/>
          <a:lstStyle/>
          <a:p>
            <a:pPr indent="0" marL="0">
              <a:buNone/>
            </a:pPr>
            <a:r>
              <a:rPr lang="en-US" sz="1050" dirty="0">
                <a:solidFill>
                  <a:srgbClr val="FFFFFF"/>
                </a:solidFill>
                <a:latin typeface="Arial" pitchFamily="34" charset="0"/>
                <a:ea typeface="Arial" pitchFamily="34" charset="-122"/>
                <a:cs typeface="Arial" pitchFamily="34" charset="-120"/>
              </a:rPr>
              <a:t>Tailored HNW capability, and a digital, high-STP path for mass market. KPI: cost to serve by segment.</a:t>
            </a:r>
            <a:endParaRPr lang="en-US" sz="1050" dirty="0"/>
          </a:p>
        </p:txBody>
      </p:sp>
      <p:sp>
        <p:nvSpPr>
          <p:cNvPr id="32" name="Text 30"/>
          <p:cNvSpPr txBox="1"/>
          <p:nvPr/>
        </p:nvSpPr>
        <p:spPr>
          <a:xfrm>
            <a:off x="457200" y="6419088"/>
            <a:ext cx="10725912" cy="320040"/>
          </a:xfrm>
          <a:prstGeom prst="rect">
            <a:avLst/>
          </a:prstGeom>
          <a:noFill/>
          <a:ln/>
        </p:spPr>
        <p:txBody>
          <a:bodyPr wrap="square" lIns="0" tIns="0" rIns="0" bIns="0" rtlCol="0" anchor="b"/>
          <a:lstStyle/>
          <a:p>
            <a:pPr indent="0" marL="0">
              <a:buNone/>
            </a:pPr>
            <a:r>
              <a:rPr lang="en-US" sz="850" dirty="0">
                <a:solidFill>
                  <a:srgbClr val="7F7F7F"/>
                </a:solidFill>
                <a:latin typeface="Arial" pitchFamily="34" charset="0"/>
                <a:ea typeface="Arial" pitchFamily="34" charset="-122"/>
                <a:cs typeface="Arial" pitchFamily="34" charset="-120"/>
              </a:rPr>
              <a:t>Source: HSBC Life PAS L400 benchmarking workbook ('HSBC vs Peers KPI – ICT basis'). HSBC FY2025 actual; LE2026 = Jan–Aug annualised. HK DWP 2024 (top 8). USD at HKD 7.8.</a:t>
            </a:r>
            <a:endParaRPr lang="en-US" sz="850" dirty="0"/>
          </a:p>
        </p:txBody>
      </p:sp>
      <p:sp>
        <p:nvSpPr>
          <p:cNvPr id="33" name="Text 31"/>
          <p:cNvSpPr txBox="1"/>
          <p:nvPr/>
        </p:nvSpPr>
        <p:spPr>
          <a:xfrm>
            <a:off x="11274552" y="6419088"/>
            <a:ext cx="457200" cy="320040"/>
          </a:xfrm>
          <a:prstGeom prst="rect">
            <a:avLst/>
          </a:prstGeom>
          <a:noFill/>
          <a:ln/>
        </p:spPr>
        <p:txBody>
          <a:bodyPr wrap="square" lIns="0" tIns="0" rIns="0" bIns="0" rtlCol="0" anchor="b"/>
          <a:lstStyle/>
          <a:p>
            <a:pPr algn="r" indent="0" marL="0">
              <a:buNone/>
            </a:pPr>
            <a:r>
              <a:rPr lang="en-US" sz="900" dirty="0">
                <a:solidFill>
                  <a:srgbClr val="7F7F7F"/>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7315200" cy="274320"/>
          </a:xfrm>
          <a:prstGeom prst="rect">
            <a:avLst/>
          </a:prstGeom>
          <a:noFill/>
          <a:ln/>
        </p:spPr>
        <p:txBody>
          <a:bodyPr wrap="square" lIns="0" tIns="0" rIns="0" bIns="0" rtlCol="0" anchor="ctr"/>
          <a:lstStyle/>
          <a:p>
            <a:pPr indent="0" marL="0">
              <a:buNone/>
            </a:pPr>
            <a:r>
              <a:rPr lang="en-US" sz="1300" b="1" dirty="0">
                <a:solidFill>
                  <a:srgbClr val="C8102E"/>
                </a:solidFill>
                <a:latin typeface="Arial" pitchFamily="34" charset="0"/>
                <a:ea typeface="Arial" pitchFamily="34" charset="-122"/>
                <a:cs typeface="Arial" pitchFamily="34" charset="-120"/>
              </a:rPr>
              <a:t>Appendix </a:t>
            </a:r>
            <a:pPr indent="0" marL="0">
              <a:buNone/>
            </a:pPr>
            <a:r>
              <a:rPr lang="en-US" sz="1300" dirty="0">
                <a:solidFill>
                  <a:srgbClr val="C8102E"/>
                </a:solidFill>
                <a:latin typeface="Arial" pitchFamily="34" charset="0"/>
                <a:ea typeface="Arial" pitchFamily="34" charset="-122"/>
                <a:cs typeface="Arial" pitchFamily="34" charset="-120"/>
              </a:rPr>
              <a:t>| Data Quality &amp; Next Steps</a:t>
            </a:r>
            <a:endParaRPr lang="en-US" sz="1300" dirty="0"/>
          </a:p>
        </p:txBody>
      </p:sp>
      <p:sp>
        <p:nvSpPr>
          <p:cNvPr id="3" name="Text 1"/>
          <p:cNvSpPr txBox="1"/>
          <p:nvPr/>
        </p:nvSpPr>
        <p:spPr>
          <a:xfrm>
            <a:off x="457200" y="502920"/>
            <a:ext cx="11274552" cy="502920"/>
          </a:xfrm>
          <a:prstGeom prst="rect">
            <a:avLst/>
          </a:prstGeom>
          <a:noFill/>
          <a:ln/>
        </p:spPr>
        <p:txBody>
          <a:bodyPr wrap="square" lIns="0" tIns="0" rIns="0" bIns="0" rtlCol="0" anchor="t"/>
          <a:lstStyle/>
          <a:p>
            <a:pPr indent="0" marL="0">
              <a:buNone/>
            </a:pPr>
            <a:r>
              <a:rPr lang="en-US" sz="2200" dirty="0">
                <a:solidFill>
                  <a:srgbClr val="222222"/>
                </a:solidFill>
                <a:latin typeface="Arial" pitchFamily="34" charset="0"/>
                <a:ea typeface="Arial" pitchFamily="34" charset="-122"/>
                <a:cs typeface="Arial" pitchFamily="34" charset="-120"/>
              </a:rPr>
              <a:t>Six data gaps to close before the business case is final</a:t>
            </a:r>
            <a:endParaRPr lang="en-US" sz="2200" dirty="0"/>
          </a:p>
        </p:txBody>
      </p:sp>
      <p:sp>
        <p:nvSpPr>
          <p:cNvPr id="4" name="Text 2"/>
          <p:cNvSpPr txBox="1"/>
          <p:nvPr/>
        </p:nvSpPr>
        <p:spPr>
          <a:xfrm>
            <a:off x="457200" y="1024128"/>
            <a:ext cx="11274552" cy="548640"/>
          </a:xfrm>
          <a:prstGeom prst="rect">
            <a:avLst/>
          </a:prstGeom>
          <a:noFill/>
          <a:ln/>
        </p:spPr>
        <p:txBody>
          <a:bodyPr wrap="square" lIns="0" tIns="0" rIns="0" bIns="0" rtlCol="0" anchor="t"/>
          <a:lstStyle/>
          <a:p>
            <a:pPr indent="0" marL="0">
              <a:buNone/>
            </a:pPr>
            <a:r>
              <a:rPr lang="en-US" sz="1250" b="1" dirty="0">
                <a:solidFill>
                  <a:srgbClr val="222222"/>
                </a:solidFill>
                <a:latin typeface="Arial" pitchFamily="34" charset="0"/>
                <a:ea typeface="Arial" pitchFamily="34" charset="-122"/>
                <a:cs typeface="Arial" pitchFamily="34" charset="-120"/>
              </a:rPr>
              <a:t>Key takeaway: </a:t>
            </a:r>
            <a:pPr indent="0" marL="0">
              <a:buNone/>
            </a:pPr>
            <a:r>
              <a:rPr lang="en-US" sz="1250" dirty="0">
                <a:solidFill>
                  <a:srgbClr val="222222"/>
                </a:solidFill>
                <a:latin typeface="Arial" pitchFamily="34" charset="0"/>
                <a:ea typeface="Arial" pitchFamily="34" charset="-122"/>
                <a:cs typeface="Arial" pitchFamily="34" charset="-120"/>
              </a:rPr>
              <a:t>The direction holds: strong growth, a lean but labour-heavy L400, and no automation baseline. Ratios built on enterprise ICT, FTE and PAS cost need like-for-like data before they go to the client.</a:t>
            </a:r>
            <a:endParaRPr lang="en-US" sz="1250" dirty="0"/>
          </a:p>
        </p:txBody>
      </p:sp>
      <p:sp>
        <p:nvSpPr>
          <p:cNvPr id="5" name="Shape 3"/>
          <p:cNvSpPr/>
          <p:nvPr/>
        </p:nvSpPr>
        <p:spPr>
          <a:xfrm>
            <a:off x="457200" y="1783080"/>
            <a:ext cx="6675120" cy="347472"/>
          </a:xfrm>
          <a:prstGeom prst="rect">
            <a:avLst/>
          </a:prstGeom>
          <a:solidFill>
            <a:srgbClr val="C8102E"/>
          </a:solidFill>
          <a:ln w="12700">
            <a:solidFill>
              <a:srgbClr val="C8102E"/>
            </a:solidFill>
            <a:prstDash val="solid"/>
          </a:ln>
        </p:spPr>
      </p:sp>
      <p:sp>
        <p:nvSpPr>
          <p:cNvPr id="6" name="Text 4"/>
          <p:cNvSpPr txBox="1"/>
          <p:nvPr/>
        </p:nvSpPr>
        <p:spPr>
          <a:xfrm>
            <a:off x="548640" y="1783080"/>
            <a:ext cx="6492240" cy="347472"/>
          </a:xfrm>
          <a:prstGeom prst="rect">
            <a:avLst/>
          </a:prstGeom>
          <a:noFill/>
          <a:ln/>
        </p:spPr>
        <p:txBody>
          <a:bodyPr wrap="square" lIns="635" tIns="635" rIns="635" bIns="635" rtlCol="0" anchor="ctr"/>
          <a:lstStyle/>
          <a:p>
            <a:pPr algn="l" indent="0" marL="0">
              <a:buNone/>
            </a:pPr>
            <a:r>
              <a:rPr lang="en-US" sz="1200" b="1" dirty="0">
                <a:solidFill>
                  <a:srgbClr val="FFFFFF"/>
                </a:solidFill>
                <a:latin typeface="Arial" pitchFamily="34" charset="0"/>
                <a:ea typeface="Arial" pitchFamily="34" charset="-122"/>
                <a:cs typeface="Arial" pitchFamily="34" charset="-120"/>
              </a:rPr>
              <a:t>Data gaps identified</a:t>
            </a:r>
            <a:endParaRPr lang="en-US" sz="1200" dirty="0"/>
          </a:p>
        </p:txBody>
      </p:sp>
      <p:sp>
        <p:nvSpPr>
          <p:cNvPr id="7" name="Shape 5"/>
          <p:cNvSpPr/>
          <p:nvPr/>
        </p:nvSpPr>
        <p:spPr>
          <a:xfrm>
            <a:off x="457200" y="2130552"/>
            <a:ext cx="6675120" cy="4069080"/>
          </a:xfrm>
          <a:prstGeom prst="rect">
            <a:avLst/>
          </a:prstGeom>
          <a:solidFill>
            <a:srgbClr val="EDEDED"/>
          </a:solidFill>
          <a:ln w="12700">
            <a:solidFill>
              <a:srgbClr val="EDEDED"/>
            </a:solidFill>
            <a:prstDash val="solid"/>
          </a:ln>
        </p:spPr>
      </p:sp>
      <p:sp>
        <p:nvSpPr>
          <p:cNvPr id="8" name="Text 6"/>
          <p:cNvSpPr txBox="1"/>
          <p:nvPr/>
        </p:nvSpPr>
        <p:spPr>
          <a:xfrm>
            <a:off x="594360" y="2331720"/>
            <a:ext cx="6400800" cy="3794760"/>
          </a:xfrm>
          <a:prstGeom prst="rect">
            <a:avLst/>
          </a:prstGeom>
          <a:noFill/>
          <a:ln/>
        </p:spPr>
        <p:txBody>
          <a:bodyPr wrap="square" lIns="635" tIns="635" rIns="635" bIns="635" rtlCol="0" anchor="t"/>
          <a:lstStyle/>
          <a:p>
            <a:pPr marL="152400" indent="-152400">
              <a:spcAft>
                <a:spcPts val="1700"/>
              </a:spcAft>
              <a:buSzPct val="100000"/>
              <a:buChar char="•"/>
            </a:pPr>
            <a:r>
              <a:rPr lang="en-US" sz="1300" b="1" dirty="0">
                <a:solidFill>
                  <a:srgbClr val="222222"/>
                </a:solidFill>
                <a:latin typeface="Arial" pitchFamily="34" charset="0"/>
                <a:ea typeface="Arial" pitchFamily="34" charset="-122"/>
                <a:cs typeface="Arial" pitchFamily="34" charset="-120"/>
              </a:rPr>
              <a:t>IT spend perimeter: </a:t>
            </a:r>
            <a:pPr indent="0" marL="0">
              <a:spcAft>
                <a:spcPts val="1700"/>
              </a:spcAft>
              <a:buNone/>
            </a:pPr>
            <a:r>
              <a:rPr lang="en-US" sz="1300" dirty="0">
                <a:solidFill>
                  <a:srgbClr val="222222"/>
                </a:solidFill>
                <a:latin typeface="Arial" pitchFamily="34" charset="0"/>
                <a:ea typeface="Arial" pitchFamily="34" charset="-122"/>
                <a:cs typeface="Arial" pitchFamily="34" charset="-120"/>
              </a:rPr>
              <a:t>HSBC ICT (USD 2.3bn) is bank-level. The HSBC Life share is unknown.</a:t>
            </a:r>
            <a:endParaRPr lang="en-US" sz="1300" dirty="0"/>
          </a:p>
          <a:p>
            <a:pPr marL="152400" indent="-152400">
              <a:spcAft>
                <a:spcPts val="1700"/>
              </a:spcAft>
              <a:buSzPct val="100000"/>
              <a:buChar char="•"/>
            </a:pPr>
            <a:r>
              <a:rPr lang="en-US" sz="1300" b="1" dirty="0">
                <a:solidFill>
                  <a:srgbClr val="222222"/>
                </a:solidFill>
                <a:latin typeface="Arial" pitchFamily="34" charset="0"/>
                <a:ea typeface="Arial" pitchFamily="34" charset="-122"/>
                <a:cs typeface="Arial" pitchFamily="34" charset="-120"/>
              </a:rPr>
              <a:t>Premium basis: </a:t>
            </a:r>
            <a:pPr indent="0" marL="0">
              <a:spcAft>
                <a:spcPts val="1700"/>
              </a:spcAft>
              <a:buNone/>
            </a:pPr>
            <a:r>
              <a:rPr lang="en-US" sz="1300" dirty="0">
                <a:solidFill>
                  <a:srgbClr val="222222"/>
                </a:solidFill>
                <a:latin typeface="Arial" pitchFamily="34" charset="0"/>
                <a:ea typeface="Arial" pitchFamily="34" charset="-122"/>
                <a:cs typeface="Arial" pitchFamily="34" charset="-120"/>
              </a:rPr>
              <a:t>reported premium is new business only (0.56× DWP). Use DWP for ratios.</a:t>
            </a:r>
            <a:endParaRPr lang="en-US" sz="1300" dirty="0"/>
          </a:p>
          <a:p>
            <a:pPr marL="152400" indent="-152400">
              <a:spcAft>
                <a:spcPts val="1700"/>
              </a:spcAft>
              <a:buSzPct val="100000"/>
              <a:buChar char="•"/>
            </a:pPr>
            <a:r>
              <a:rPr lang="en-US" sz="1300" b="1" dirty="0">
                <a:solidFill>
                  <a:srgbClr val="222222"/>
                </a:solidFill>
                <a:latin typeface="Arial" pitchFamily="34" charset="0"/>
                <a:ea typeface="Arial" pitchFamily="34" charset="-122"/>
                <a:cs typeface="Arial" pitchFamily="34" charset="-120"/>
              </a:rPr>
              <a:t>FTE definition: </a:t>
            </a:r>
            <a:pPr indent="0" marL="0">
              <a:spcAft>
                <a:spcPts val="1700"/>
              </a:spcAft>
              <a:buNone/>
            </a:pPr>
            <a:r>
              <a:rPr lang="en-US" sz="1300" dirty="0">
                <a:solidFill>
                  <a:srgbClr val="222222"/>
                </a:solidFill>
                <a:latin typeface="Arial" pitchFamily="34" charset="0"/>
                <a:ea typeface="Arial" pitchFamily="34" charset="-122"/>
                <a:cs typeface="Arial" pitchFamily="34" charset="-120"/>
              </a:rPr>
              <a:t>HSBC 66/85 are L400 IT FTE; peers report PAS operations FTE.</a:t>
            </a:r>
            <a:endParaRPr lang="en-US" sz="1300" dirty="0"/>
          </a:p>
          <a:p>
            <a:pPr marL="152400" indent="-152400">
              <a:spcAft>
                <a:spcPts val="1700"/>
              </a:spcAft>
              <a:buSzPct val="100000"/>
              <a:buChar char="•"/>
            </a:pPr>
            <a:r>
              <a:rPr lang="en-US" sz="1300" b="1" dirty="0">
                <a:solidFill>
                  <a:srgbClr val="222222"/>
                </a:solidFill>
                <a:latin typeface="Arial" pitchFamily="34" charset="0"/>
                <a:ea typeface="Arial" pitchFamily="34" charset="-122"/>
                <a:cs typeface="Arial" pitchFamily="34" charset="-120"/>
              </a:rPr>
              <a:t>PAS cost perimeter: </a:t>
            </a:r>
            <a:pPr indent="0" marL="0">
              <a:spcAft>
                <a:spcPts val="1700"/>
              </a:spcAft>
              <a:buNone/>
            </a:pPr>
            <a:r>
              <a:rPr lang="en-US" sz="1300" dirty="0">
                <a:solidFill>
                  <a:srgbClr val="222222"/>
                </a:solidFill>
                <a:latin typeface="Arial" pitchFamily="34" charset="0"/>
                <a:ea typeface="Arial" pitchFamily="34" charset="-122"/>
                <a:cs typeface="Arial" pitchFamily="34" charset="-120"/>
              </a:rPr>
              <a:t>HSBC = L400 IT platform cost; Sun Life = PAS operations cost.</a:t>
            </a:r>
            <a:endParaRPr lang="en-US" sz="1300" dirty="0"/>
          </a:p>
          <a:p>
            <a:pPr marL="152400" indent="-152400">
              <a:spcAft>
                <a:spcPts val="1700"/>
              </a:spcAft>
              <a:buSzPct val="100000"/>
              <a:buChar char="•"/>
            </a:pPr>
            <a:r>
              <a:rPr lang="en-US" sz="1300" b="1" dirty="0">
                <a:solidFill>
                  <a:srgbClr val="222222"/>
                </a:solidFill>
                <a:latin typeface="Arial" pitchFamily="34" charset="0"/>
                <a:ea typeface="Arial" pitchFamily="34" charset="-122"/>
                <a:cs typeface="Arial" pitchFamily="34" charset="-120"/>
              </a:rPr>
              <a:t>Automation: </a:t>
            </a:r>
            <a:pPr indent="0" marL="0">
              <a:spcAft>
                <a:spcPts val="1700"/>
              </a:spcAft>
              <a:buNone/>
            </a:pPr>
            <a:r>
              <a:rPr lang="en-US" sz="1300" dirty="0">
                <a:solidFill>
                  <a:srgbClr val="222222"/>
                </a:solidFill>
                <a:latin typeface="Arial" pitchFamily="34" charset="0"/>
                <a:ea typeface="Arial" pitchFamily="34" charset="-122"/>
                <a:cs typeface="Arial" pitchFamily="34" charset="-120"/>
              </a:rPr>
              <a:t>no STP, no automatic/manual split of 68.6m transactions, no operations cost.</a:t>
            </a:r>
            <a:endParaRPr lang="en-US" sz="1300" dirty="0"/>
          </a:p>
          <a:p>
            <a:pPr marL="152400" indent="-152400">
              <a:spcAft>
                <a:spcPts val="1700"/>
              </a:spcAft>
              <a:buSzPct val="100000"/>
              <a:buChar char="•"/>
            </a:pPr>
            <a:r>
              <a:rPr lang="en-US" sz="1300" b="1" dirty="0">
                <a:solidFill>
                  <a:srgbClr val="222222"/>
                </a:solidFill>
                <a:latin typeface="Arial" pitchFamily="34" charset="0"/>
                <a:ea typeface="Arial" pitchFamily="34" charset="-122"/>
                <a:cs typeface="Arial" pitchFamily="34" charset="-120"/>
              </a:rPr>
              <a:t>Cost mix: </a:t>
            </a:r>
            <a:pPr indent="0" marL="0">
              <a:spcAft>
                <a:spcPts val="1700"/>
              </a:spcAft>
              <a:buNone/>
            </a:pPr>
            <a:r>
              <a:rPr lang="en-US" sz="1300" dirty="0">
                <a:solidFill>
                  <a:srgbClr val="222222"/>
                </a:solidFill>
                <a:latin typeface="Arial" pitchFamily="34" charset="0"/>
                <a:ea typeface="Arial" pitchFamily="34" charset="-122"/>
                <a:cs typeface="Arial" pitchFamily="34" charset="-120"/>
              </a:rPr>
              <a:t>labour, run/change and technology shares are L400-only; peers are enterprise-wide.</a:t>
            </a:r>
            <a:endParaRPr lang="en-US" sz="1300" dirty="0"/>
          </a:p>
        </p:txBody>
      </p:sp>
      <p:sp>
        <p:nvSpPr>
          <p:cNvPr id="9" name="Shape 7"/>
          <p:cNvSpPr/>
          <p:nvPr/>
        </p:nvSpPr>
        <p:spPr>
          <a:xfrm>
            <a:off x="7406640" y="1783080"/>
            <a:ext cx="4325112" cy="347472"/>
          </a:xfrm>
          <a:prstGeom prst="rect">
            <a:avLst/>
          </a:prstGeom>
          <a:solidFill>
            <a:srgbClr val="C8102E"/>
          </a:solidFill>
          <a:ln w="12700">
            <a:solidFill>
              <a:srgbClr val="C8102E"/>
            </a:solidFill>
            <a:prstDash val="solid"/>
          </a:ln>
        </p:spPr>
      </p:sp>
      <p:sp>
        <p:nvSpPr>
          <p:cNvPr id="10" name="Text 8"/>
          <p:cNvSpPr txBox="1"/>
          <p:nvPr/>
        </p:nvSpPr>
        <p:spPr>
          <a:xfrm>
            <a:off x="7498080" y="1783080"/>
            <a:ext cx="4142232" cy="347472"/>
          </a:xfrm>
          <a:prstGeom prst="rect">
            <a:avLst/>
          </a:prstGeom>
          <a:noFill/>
          <a:ln/>
        </p:spPr>
        <p:txBody>
          <a:bodyPr wrap="square" lIns="635" tIns="635" rIns="635" bIns="635" rtlCol="0" anchor="ctr"/>
          <a:lstStyle/>
          <a:p>
            <a:pPr algn="l" indent="0" marL="0">
              <a:buNone/>
            </a:pPr>
            <a:r>
              <a:rPr lang="en-US" sz="1200" b="1" dirty="0">
                <a:solidFill>
                  <a:srgbClr val="FFFFFF"/>
                </a:solidFill>
                <a:latin typeface="Arial" pitchFamily="34" charset="0"/>
                <a:ea typeface="Arial" pitchFamily="34" charset="-122"/>
                <a:cs typeface="Arial" pitchFamily="34" charset="-120"/>
              </a:rPr>
              <a:t>Proposed next steps</a:t>
            </a:r>
            <a:endParaRPr lang="en-US" sz="1200" dirty="0"/>
          </a:p>
        </p:txBody>
      </p:sp>
      <p:sp>
        <p:nvSpPr>
          <p:cNvPr id="11" name="Shape 9"/>
          <p:cNvSpPr/>
          <p:nvPr/>
        </p:nvSpPr>
        <p:spPr>
          <a:xfrm>
            <a:off x="7406640" y="2331720"/>
            <a:ext cx="548640" cy="548640"/>
          </a:xfrm>
          <a:prstGeom prst="ellipse">
            <a:avLst/>
          </a:prstGeom>
          <a:solidFill>
            <a:srgbClr val="C8102E"/>
          </a:solidFill>
          <a:ln w="12700">
            <a:solidFill>
              <a:srgbClr val="C8102E"/>
            </a:solidFill>
            <a:prstDash val="solid"/>
          </a:ln>
        </p:spPr>
      </p:sp>
      <p:sp>
        <p:nvSpPr>
          <p:cNvPr id="12" name="Text 10"/>
          <p:cNvSpPr txBox="1"/>
          <p:nvPr/>
        </p:nvSpPr>
        <p:spPr>
          <a:xfrm>
            <a:off x="7406640" y="233172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13" name="Text 11"/>
          <p:cNvSpPr txBox="1"/>
          <p:nvPr/>
        </p:nvSpPr>
        <p:spPr>
          <a:xfrm>
            <a:off x="8092440" y="2240280"/>
            <a:ext cx="3639312" cy="731520"/>
          </a:xfrm>
          <a:prstGeom prst="rect">
            <a:avLst/>
          </a:prstGeom>
          <a:noFill/>
          <a:ln/>
        </p:spPr>
        <p:txBody>
          <a:bodyPr wrap="square" lIns="0" tIns="0" rIns="0" bIns="0" rtlCol="0" anchor="ctr"/>
          <a:lstStyle/>
          <a:p>
            <a:pPr indent="0" marL="0">
              <a:buNone/>
            </a:pPr>
            <a:r>
              <a:rPr lang="en-US" sz="1150" dirty="0">
                <a:solidFill>
                  <a:srgbClr val="222222"/>
                </a:solidFill>
                <a:latin typeface="Arial" pitchFamily="34" charset="0"/>
                <a:ea typeface="Arial" pitchFamily="34" charset="-122"/>
                <a:cs typeface="Arial" pitchFamily="34" charset="-120"/>
              </a:rPr>
              <a:t>Obtain HSBC Life's share of ICT and its operations cost</a:t>
            </a:r>
            <a:endParaRPr lang="en-US" sz="1150" dirty="0"/>
          </a:p>
        </p:txBody>
      </p:sp>
      <p:sp>
        <p:nvSpPr>
          <p:cNvPr id="14" name="Shape 12"/>
          <p:cNvSpPr/>
          <p:nvPr/>
        </p:nvSpPr>
        <p:spPr>
          <a:xfrm>
            <a:off x="7406640" y="3319272"/>
            <a:ext cx="548640" cy="548640"/>
          </a:xfrm>
          <a:prstGeom prst="ellipse">
            <a:avLst/>
          </a:prstGeom>
          <a:solidFill>
            <a:srgbClr val="C8102E"/>
          </a:solidFill>
          <a:ln w="12700">
            <a:solidFill>
              <a:srgbClr val="C8102E"/>
            </a:solidFill>
            <a:prstDash val="solid"/>
          </a:ln>
        </p:spPr>
      </p:sp>
      <p:sp>
        <p:nvSpPr>
          <p:cNvPr id="15" name="Text 13"/>
          <p:cNvSpPr txBox="1"/>
          <p:nvPr/>
        </p:nvSpPr>
        <p:spPr>
          <a:xfrm>
            <a:off x="7406640" y="3319272"/>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6" name="Text 14"/>
          <p:cNvSpPr txBox="1"/>
          <p:nvPr/>
        </p:nvSpPr>
        <p:spPr>
          <a:xfrm>
            <a:off x="8092440" y="3227832"/>
            <a:ext cx="3639312" cy="731520"/>
          </a:xfrm>
          <a:prstGeom prst="rect">
            <a:avLst/>
          </a:prstGeom>
          <a:noFill/>
          <a:ln/>
        </p:spPr>
        <p:txBody>
          <a:bodyPr wrap="square" lIns="0" tIns="0" rIns="0" bIns="0" rtlCol="0" anchor="ctr"/>
          <a:lstStyle/>
          <a:p>
            <a:pPr indent="0" marL="0">
              <a:buNone/>
            </a:pPr>
            <a:r>
              <a:rPr lang="en-US" sz="1150" dirty="0">
                <a:solidFill>
                  <a:srgbClr val="222222"/>
                </a:solidFill>
                <a:latin typeface="Arial" pitchFamily="34" charset="0"/>
                <a:ea typeface="Arial" pitchFamily="34" charset="-122"/>
                <a:cs typeface="Arial" pitchFamily="34" charset="-120"/>
              </a:rPr>
              <a:t>Split L400 transactions into automatic and manual to set an STP baseline</a:t>
            </a:r>
            <a:endParaRPr lang="en-US" sz="1150" dirty="0"/>
          </a:p>
        </p:txBody>
      </p:sp>
      <p:sp>
        <p:nvSpPr>
          <p:cNvPr id="17" name="Shape 15"/>
          <p:cNvSpPr/>
          <p:nvPr/>
        </p:nvSpPr>
        <p:spPr>
          <a:xfrm>
            <a:off x="7406640" y="4306824"/>
            <a:ext cx="548640" cy="548640"/>
          </a:xfrm>
          <a:prstGeom prst="ellipse">
            <a:avLst/>
          </a:prstGeom>
          <a:solidFill>
            <a:srgbClr val="C8102E"/>
          </a:solidFill>
          <a:ln w="12700">
            <a:solidFill>
              <a:srgbClr val="C8102E"/>
            </a:solidFill>
            <a:prstDash val="solid"/>
          </a:ln>
        </p:spPr>
      </p:sp>
      <p:sp>
        <p:nvSpPr>
          <p:cNvPr id="18" name="Text 16"/>
          <p:cNvSpPr txBox="1"/>
          <p:nvPr/>
        </p:nvSpPr>
        <p:spPr>
          <a:xfrm>
            <a:off x="7406640" y="4306824"/>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9" name="Text 17"/>
          <p:cNvSpPr txBox="1"/>
          <p:nvPr/>
        </p:nvSpPr>
        <p:spPr>
          <a:xfrm>
            <a:off x="8092440" y="4215384"/>
            <a:ext cx="3639312" cy="731520"/>
          </a:xfrm>
          <a:prstGeom prst="rect">
            <a:avLst/>
          </a:prstGeom>
          <a:noFill/>
          <a:ln/>
        </p:spPr>
        <p:txBody>
          <a:bodyPr wrap="square" lIns="0" tIns="0" rIns="0" bIns="0" rtlCol="0" anchor="ctr"/>
          <a:lstStyle/>
          <a:p>
            <a:pPr indent="0" marL="0">
              <a:buNone/>
            </a:pPr>
            <a:r>
              <a:rPr lang="en-US" sz="1150" dirty="0">
                <a:solidFill>
                  <a:srgbClr val="222222"/>
                </a:solidFill>
                <a:latin typeface="Arial" pitchFamily="34" charset="0"/>
                <a:ea typeface="Arial" pitchFamily="34" charset="-122"/>
                <a:cs typeface="Arial" pitchFamily="34" charset="-120"/>
              </a:rPr>
              <a:t>Align FTE definitions (IT vs PAS operations) with peers</a:t>
            </a:r>
            <a:endParaRPr lang="en-US" sz="1150" dirty="0"/>
          </a:p>
        </p:txBody>
      </p:sp>
      <p:sp>
        <p:nvSpPr>
          <p:cNvPr id="20" name="Shape 18"/>
          <p:cNvSpPr/>
          <p:nvPr/>
        </p:nvSpPr>
        <p:spPr>
          <a:xfrm>
            <a:off x="7406640" y="5294376"/>
            <a:ext cx="548640" cy="548640"/>
          </a:xfrm>
          <a:prstGeom prst="ellipse">
            <a:avLst/>
          </a:prstGeom>
          <a:solidFill>
            <a:srgbClr val="C8102E"/>
          </a:solidFill>
          <a:ln w="12700">
            <a:solidFill>
              <a:srgbClr val="C8102E"/>
            </a:solidFill>
            <a:prstDash val="solid"/>
          </a:ln>
        </p:spPr>
      </p:sp>
      <p:sp>
        <p:nvSpPr>
          <p:cNvPr id="21" name="Text 19"/>
          <p:cNvSpPr txBox="1"/>
          <p:nvPr/>
        </p:nvSpPr>
        <p:spPr>
          <a:xfrm>
            <a:off x="7406640" y="5294376"/>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2" name="Text 20"/>
          <p:cNvSpPr txBox="1"/>
          <p:nvPr/>
        </p:nvSpPr>
        <p:spPr>
          <a:xfrm>
            <a:off x="8092440" y="5202936"/>
            <a:ext cx="3639312" cy="731520"/>
          </a:xfrm>
          <a:prstGeom prst="rect">
            <a:avLst/>
          </a:prstGeom>
          <a:noFill/>
          <a:ln/>
        </p:spPr>
        <p:txBody>
          <a:bodyPr wrap="square" lIns="0" tIns="0" rIns="0" bIns="0" rtlCol="0" anchor="ctr"/>
          <a:lstStyle/>
          <a:p>
            <a:pPr indent="0" marL="0">
              <a:buNone/>
            </a:pPr>
            <a:r>
              <a:rPr lang="en-US" sz="1150" dirty="0">
                <a:solidFill>
                  <a:srgbClr val="222222"/>
                </a:solidFill>
                <a:latin typeface="Arial" pitchFamily="34" charset="0"/>
                <a:ea typeface="Arial" pitchFamily="34" charset="-122"/>
                <a:cs typeface="Arial" pitchFamily="34" charset="-120"/>
              </a:rPr>
              <a:t>Set Option 3+ KPI targets for each lens and link them to the roadmap</a:t>
            </a:r>
            <a:endParaRPr lang="en-US" sz="1150" dirty="0"/>
          </a:p>
        </p:txBody>
      </p:sp>
      <p:sp>
        <p:nvSpPr>
          <p:cNvPr id="23" name="Text 21"/>
          <p:cNvSpPr txBox="1"/>
          <p:nvPr/>
        </p:nvSpPr>
        <p:spPr>
          <a:xfrm>
            <a:off x="457200" y="6419088"/>
            <a:ext cx="10725912" cy="320040"/>
          </a:xfrm>
          <a:prstGeom prst="rect">
            <a:avLst/>
          </a:prstGeom>
          <a:noFill/>
          <a:ln/>
        </p:spPr>
        <p:txBody>
          <a:bodyPr wrap="square" lIns="0" tIns="0" rIns="0" bIns="0" rtlCol="0" anchor="b"/>
          <a:lstStyle/>
          <a:p>
            <a:pPr indent="0" marL="0">
              <a:buNone/>
            </a:pPr>
            <a:r>
              <a:rPr lang="en-US" sz="850" dirty="0">
                <a:solidFill>
                  <a:srgbClr val="7F7F7F"/>
                </a:solidFill>
                <a:latin typeface="Arial" pitchFamily="34" charset="0"/>
                <a:ea typeface="Arial" pitchFamily="34" charset="-122"/>
                <a:cs typeface="Arial" pitchFamily="34" charset="-120"/>
              </a:rPr>
              <a:t>Source: HSBC Life PAS L400 benchmarking workbook ('HSBC vs Peers KPI – ICT basis'). HSBC FY2025 actual; LE2026 = Jan–Aug annualised. HK DWP 2024 (top 8). USD at HKD 7.8.</a:t>
            </a:r>
            <a:endParaRPr lang="en-US" sz="850" dirty="0"/>
          </a:p>
        </p:txBody>
      </p:sp>
      <p:sp>
        <p:nvSpPr>
          <p:cNvPr id="24" name="Text 22"/>
          <p:cNvSpPr txBox="1"/>
          <p:nvPr/>
        </p:nvSpPr>
        <p:spPr>
          <a:xfrm>
            <a:off x="11274552" y="6419088"/>
            <a:ext cx="457200" cy="320040"/>
          </a:xfrm>
          <a:prstGeom prst="rect">
            <a:avLst/>
          </a:prstGeom>
          <a:noFill/>
          <a:ln/>
        </p:spPr>
        <p:txBody>
          <a:bodyPr wrap="square" lIns="0" tIns="0" rIns="0" bIns="0" rtlCol="0" anchor="b"/>
          <a:lstStyle/>
          <a:p>
            <a:pPr algn="r" indent="0" marL="0">
              <a:buNone/>
            </a:pPr>
            <a:r>
              <a:rPr lang="en-US" sz="900" dirty="0">
                <a:solidFill>
                  <a:srgbClr val="7F7F7F"/>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HSBC Life – IT Cost &amp; PAS (L400) Benchmark</dc:title>
  <dc:subject>PptxGenJS Presentation</dc:subject>
  <dc:creator>PptxGenJS</dc:creator>
  <cp:lastModifiedBy>PptxGenJS</cp:lastModifiedBy>
  <cp:revision>1</cp:revision>
  <dcterms:created xsi:type="dcterms:W3CDTF">2026-09-28T07:38:53Z</dcterms:created>
  <dcterms:modified xsi:type="dcterms:W3CDTF">2026-09-28T07:38:53Z</dcterms:modified>
</cp:coreProperties>
</file>