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Direct written premium (DWP) growth,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DWP growth 2024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HSBC Life</c:v>
                  </c:pt>
                  <c:pt idx="1">
                    <c:v>AIA</c:v>
                  </c:pt>
                  <c:pt idx="2">
                    <c:v>Prudential</c:v>
                  </c:pt>
                  <c:pt idx="3">
                    <c:v>Manulife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10.2</c:v>
                </c:pt>
                <c:pt idx="1">
                  <c:v>1.3</c:v>
                </c:pt>
                <c:pt idx="2">
                  <c:v>5.2</c:v>
                </c:pt>
                <c:pt idx="3">
                  <c:v>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DWP CAGR 2020–24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HSBC Life</c:v>
                  </c:pt>
                  <c:pt idx="1">
                    <c:v>AIA</c:v>
                  </c:pt>
                  <c:pt idx="2">
                    <c:v>Prudential</c:v>
                  </c:pt>
                  <c:pt idx="3">
                    <c:v>Manulife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8.3</c:v>
                </c:pt>
                <c:pt idx="1">
                  <c:v>-4.8</c:v>
                </c:pt>
                <c:pt idx="2">
                  <c:v>-5.5</c:v>
                </c:pt>
                <c:pt idx="3">
                  <c:v>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Premium per in-force policy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 per in-force policy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HSBC Life</c:v>
                  </c:pt>
                  <c:pt idx="1">
                    <c:v>Manulife HK</c:v>
                  </c:pt>
                  <c:pt idx="2">
                    <c:v>Sun Life HK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9159</c:v>
                </c:pt>
                <c:pt idx="1">
                  <c:v>3095</c:v>
                </c:pt>
                <c:pt idx="2">
                  <c:v>2549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Share of IT spend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HSBC L400 FY25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Run</c:v>
                  </c:pt>
                  <c:pt idx="1">
                    <c:v>Change (grow + transform)</c:v>
                  </c:pt>
                  <c:pt idx="2">
                    <c:v>Internal labour</c:v>
                  </c:pt>
                  <c:pt idx="3">
                    <c:v>External labour</c:v>
                  </c:pt>
                  <c:pt idx="4">
                    <c:v>Cloud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25.9</c:v>
                </c:pt>
                <c:pt idx="1">
                  <c:v>74.1</c:v>
                </c:pt>
                <c:pt idx="2">
                  <c:v>35.5</c:v>
                </c:pt>
                <c:pt idx="3">
                  <c:v>38.6</c:v>
                </c:pt>
                <c:pt idx="4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average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Run</c:v>
                  </c:pt>
                  <c:pt idx="1">
                    <c:v>Change (grow + transform)</c:v>
                  </c:pt>
                  <c:pt idx="2">
                    <c:v>Internal labour</c:v>
                  </c:pt>
                  <c:pt idx="3">
                    <c:v>External labour</c:v>
                  </c:pt>
                  <c:pt idx="4">
                    <c:v>Cloud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</c:v>
                </c:pt>
                <c:pt idx="1">
                  <c:v>26.8</c:v>
                </c:pt>
                <c:pt idx="2">
                  <c:v>51.9</c:v>
                </c:pt>
                <c:pt idx="3">
                  <c:v>19.2</c:v>
                </c:pt>
                <c:pt idx="4">
                  <c:v>16.7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PAS cost per in-force policy (USD /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 cost per in-force policy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0A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HSBC FY25</c:v>
                  </c:pt>
                  <c:pt idx="1">
                    <c:v>HSBC LE26</c:v>
                  </c:pt>
                  <c:pt idx="2">
                    <c:v>Sun Life HK</c:v>
                  </c:pt>
                  <c:pt idx="3">
                    <c:v>Manulife HK (est.)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13.25</c:v>
                </c:pt>
                <c:pt idx="1">
                  <c:v>14.57</c:v>
                </c:pt>
                <c:pt idx="2">
                  <c:v>2.75</c:v>
                </c:pt>
                <c:pt idx="3">
                  <c:v>2.56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In-force policies per PAS FTE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In-force policies per PAS FTE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0A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HSBC FY25</c:v>
                  </c:pt>
                  <c:pt idx="1">
                    <c:v>HSBC LE26</c:v>
                  </c:pt>
                  <c:pt idx="2">
                    <c:v>Sun Life HK</c:v>
                  </c:pt>
                  <c:pt idx="3">
                    <c:v>Manulife HK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11273</c:v>
                </c:pt>
                <c:pt idx="1">
                  <c:v>9094</c:v>
                </c:pt>
                <c:pt idx="2">
                  <c:v>41523</c:v>
                </c:pt>
                <c:pt idx="3">
                  <c:v>47915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PAS cost per PAS FTE (USD 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 cost per PAS FTE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0A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HSBC FY25</c:v>
                  </c:pt>
                  <c:pt idx="1">
                    <c:v>HSBC LE26</c:v>
                  </c:pt>
                  <c:pt idx="2">
                    <c:v>Sun Life HK</c:v>
                  </c:pt>
                  <c:pt idx="3">
                    <c:v>Manulife HK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149</c:v>
                </c:pt>
                <c:pt idx="1">
                  <c:v>133</c:v>
                </c:pt>
                <c:pt idx="2">
                  <c:v>114</c:v>
                </c:pt>
                <c:pt idx="3">
                  <c:v>123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Sun Life PA cost mix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spPr>
            <a:solidFill>
              <a:srgbClr val="7A0A1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Sun Life 2022</c:v>
                  </c:pt>
                  <c:pt idx="1">
                    <c:v>Sun Life 2023e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55.4</c:v>
                </c:pt>
                <c:pt idx="1">
                  <c:v>66.5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Print + postage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Sun Life 2022</c:v>
                  </c:pt>
                  <c:pt idx="1">
                    <c:v>Sun Life 2023e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36.5</c:v>
                </c:pt>
                <c:pt idx="1">
                  <c:v>26.5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Sun Life 2022</c:v>
                  </c:pt>
                  <c:pt idx="1">
                    <c:v>Sun Life 2023e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8.1</c:v>
                </c:pt>
                <c:pt idx="1">
                  <c:v>6.9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Sun Life PA cost, USD m (−26% by 2026)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 nothing</c:v>
                </c:pt>
              </c:strCache>
            </c:strRef>
          </c:tx>
          <c:spPr>
            <a:solidFill>
              <a:srgbClr val="BFBFBF"/>
            </a:solidFill>
            <a:ln w="38100" cap="flat">
              <a:solidFill>
                <a:srgbClr val="BFBFB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FBFBF"/>
              </a:solidFill>
              <a:ln w="9525" cap="flat">
                <a:solidFill>
                  <a:srgbClr val="BFBFB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2024e</c:v>
                  </c:pt>
                  <c:pt idx="2">
                    <c:v>2025e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1.67</c:v>
                </c:pt>
                <c:pt idx="1">
                  <c:v>1.75</c:v>
                </c:pt>
                <c:pt idx="2">
                  <c:v>1.82</c:v>
                </c:pt>
                <c:pt idx="3">
                  <c:v>1.89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 everything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2024e</c:v>
                  </c:pt>
                  <c:pt idx="2">
                    <c:v>2025e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1.67</c:v>
                </c:pt>
                <c:pt idx="1">
                  <c:v>1.52</c:v>
                </c:pt>
                <c:pt idx="2">
                  <c:v>1.35</c:v>
                </c:pt>
                <c:pt idx="3">
                  <c:v>1.4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22222"/>
                </a:solidFill>
                <a:latin typeface="Arial"/>
              </a:rPr>
              <a:t>HSBC growth, LE26 vs FY25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LE26 vs FY25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040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040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0404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New business premium</c:v>
                  </c:pt>
                  <c:pt idx="1">
                    <c:v>L400 FTE</c:v>
                  </c:pt>
                  <c:pt idx="2">
                    <c:v>L400 cost</c:v>
                  </c:pt>
                  <c:pt idx="3">
                    <c:v>L400 cost per policy</c:v>
                  </c:pt>
                  <c:pt idx="4">
                    <c:v>In-force policies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</c:v>
                </c:pt>
                <c:pt idx="1">
                  <c:v>28.8</c:v>
                </c:pt>
                <c:pt idx="2">
                  <c:v>14.3</c:v>
                </c:pt>
                <c:pt idx="3">
                  <c:v>10</c:v>
                </c:pt>
                <c:pt idx="4">
                  <c:v>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Storyline: market (why L400 matters) → IT cost (where the money goes) → PAS unit cost and productivity (the gap and its cause) → automation (how peers close it) → cost to business outcome (the prize) → Option 3+ with the four lenses.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Executive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support Option 3: modernise L400 continuously, sharpened by four lenses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runs HK's largest, fastest-growing life book. Its unit cost is 5–10× peers per policy, but only 1.3× per premium dollar, and the gap is low volume per head, not expensive people. That argues for continuous, automation-led modernisation, not a big bang.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19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area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shows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7190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Option 3+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834640" cy="9326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011680"/>
            <a:ext cx="265176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Market: largest book, fastest growth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4846320" cy="93268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11680"/>
            <a:ext cx="466344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(HSBC Life + Hang Seng Insurance) holds 24% of top-8 DWP. HSBC Life DWP +10.2% in 2024 vs peers +4.3%. Premium per policy USD 9.2k vs USD 2.5–3.1k at peers.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0" y="2011680"/>
            <a:ext cx="3319272" cy="93268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011680"/>
            <a:ext cx="3136392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must absorb growth without cost growing in line. Stability rules out big-bang change.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2834640" cy="9326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054096"/>
            <a:ext cx="265176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cost: L400 is in build mode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29000" y="3054096"/>
            <a:ext cx="4846320" cy="93268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3054096"/>
            <a:ext cx="466344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costs USD 9.9m → 11.3m. 74% is change spend vs 27% at peers. External labour 39% vs 19%. Cloud 0.1% vs ~17%.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0" y="3054096"/>
            <a:ext cx="3319272" cy="93268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3054096"/>
            <a:ext cx="3136392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is already going into change. The lenses decide where it goes and when it tapers.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2834640" cy="9326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096512"/>
            <a:ext cx="265176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PAS: costly per unit, not per person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29000" y="4096512"/>
            <a:ext cx="4846320" cy="93268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4096512"/>
            <a:ext cx="466344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13.25 per policy vs USD 2.75 (Sun Life) and 2.56 (Manulife est.). Cost per FTE is close (149k vs 114–123k), but each FTE serves 11k policies vs 42–48k.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0" y="4096512"/>
            <a:ext cx="3319272" cy="93268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4096512"/>
            <a:ext cx="3136392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 is automation and scale per head, not cutting people or replacing the platform.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138928"/>
            <a:ext cx="2834640" cy="9326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138928"/>
            <a:ext cx="265176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a ~USD 3m a year prize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29000" y="5138928"/>
            <a:ext cx="4846320" cy="932688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20440" y="5138928"/>
            <a:ext cx="466344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Life targets a 26% PA cost saving by 2026 while its book grows. HSBC's L400 cost per policy is rising 10%. At Sun Life's rate, L400 saves USD 2.6–2.9m a year.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412480" y="5138928"/>
            <a:ext cx="3319272" cy="93268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03920" y="5138928"/>
            <a:ext cx="3136392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modernisation pays for itself. Track it with per-policy and per-premium KPIs.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Market Context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runs the largest, fastest-growing and highest-value book in the market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Hang Seng Insurance, L400 carries 24% of top-8 DWP, more than AIA. HSBC Life grew 10.2% in 2024 while AIA and Prudential shrank over 2020–24. Each HSBC policy carries 3–4× the premium of a Sun Life or Manulife policy. The platform must grow with the business without disruption.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47548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394960" y="1783080"/>
          <a:ext cx="3291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394960" y="4800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premium = new business premium only, so its figure is understated.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5394960" y="5212080"/>
            <a:ext cx="3291840" cy="10058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0" y="5212080"/>
            <a:ext cx="3108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business is 11% of the in-force book a year vs 5.5% (Sun Life) and 2.9% (Manulife).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961120" y="1783080"/>
            <a:ext cx="277063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052560" y="1783080"/>
            <a:ext cx="25877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top-8 DWP, 2024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006840" y="224028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006840" y="2807208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Group on L400 (#1)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9006840" y="329184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22.3%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9006840" y="3858768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AIA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9006840" y="434340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 / 13.4%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006840" y="4910328"/>
            <a:ext cx="2679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Prudential / Manulife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9006840" y="54406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Life alone: 15.5%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 DWP = HK direct written premium 2024. Group on L400 = HSBC Life + Hang Seng Insurance.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IT Cost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ICT can't be compared yet; the L400 platform is clearly in build mode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HSBC's ICT (USD 2.3bn) is bank-level, so 18.7% of DWP vs peers' 10.8% is mostly perimeter. On L400, 74% of spend is change vs 27% at peers, largely external labour, with almost no cloud. Modernisation is under way; the question is direction and payback.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4008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783080"/>
            <a:ext cx="459943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23760" y="1783080"/>
            <a:ext cx="4416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ICT – perimeter to confirm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240280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2807208"/>
            <a:ext cx="2208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ICT ÷ DWP (bank-level ICT)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569196" y="2240280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569196" y="2807208"/>
            <a:ext cx="2208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average ICT ÷ DWP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132320" y="3474720"/>
            <a:ext cx="459943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23760" y="3474720"/>
            <a:ext cx="44165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platform – reliable view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3931920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 → 11.3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4498848"/>
            <a:ext cx="2208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cost, USD m, FY25 → LE26 (+14%)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569196" y="3931920"/>
            <a:ext cx="2208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569196" y="4498848"/>
            <a:ext cx="22082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growth p.a., HSBC and all peers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132320" y="5074920"/>
            <a:ext cx="4599432" cy="114300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23760" y="5074920"/>
            <a:ext cx="4416552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HSBC: when does change spend taper into a lower run rate? And what share of bank ICT belongs to HSBC Life?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 HSBC mix = L400 split; peer mix = enterprise-wide. Peer cloud = share of modernisation spend.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PAS Deep Dive – Unit Cost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costs 5× peers per policy and 10× per case, but only 1.3× per premium dollar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HSBC's L400 platform costs more per policy than peers' entire servicing operation. But HSBC policies carry 3–4× more premium, so per premium dollar the gap narrows to 1.3× Sun Life, and per unit of DWP HSBC is lower. Judge PAS cost on both bases.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45720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783080"/>
            <a:ext cx="642823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0" y="1783080"/>
            <a:ext cx="624535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unit cost, HSBC FY25 vs peers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240280"/>
          <a:ext cx="642823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731520"/>
                <a:gridCol w="777240"/>
                <a:gridCol w="914400"/>
                <a:gridCol w="914400"/>
                <a:gridCol w="9418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HSBC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 Life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Manulife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HSBC ÷ SL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 cost (USD 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 (est.)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in-force policy (USD)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core servicing case (USD)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 cost ÷ premium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 cost ÷ DWP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per policy (USD)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303520" y="4937760"/>
            <a:ext cx="3122676" cy="128016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394960" y="4937760"/>
            <a:ext cx="2939796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cost layers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= L400 platform IT cost. Peers = policy-admin operations cost. The per-unit gap is directional.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609076" y="4937760"/>
            <a:ext cx="3122676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00516" y="4937760"/>
            <a:ext cx="2939796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Per-policy cost is the modernisation target; per-premium cost shows the business can afford it.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 Core case = policy change + cancellation (+ reinstatement for Sun Life). HSBC premium = NBP only.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PAS Deep Dive – Productivity &amp; Workload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volume per head, not cost per head, and LE26 hiring widens 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HSBC's cost per PAS FTE (USD 149k) is only 1.2–1.3× peers. But each FTE supports 11k policies vs 42–48k at peers, and 5k cases vs 37k at Sun Life. With FTE up 29% in LE26 and the book up 4%, policies per head fall to 9k. HSBC's workload is also different: fewer changes, more exits.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434840" y="1783080"/>
          <a:ext cx="38404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937760"/>
          <a:ext cx="7818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21488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 (share of in-force per year)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HSBC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 Life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Read-across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Servicing intensity (core cases)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Serviced less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changes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Fewer changes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Cancellation rate (incl. lapses)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1.8× more exits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95360" y="1783080"/>
            <a:ext cx="3136392" cy="14173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686800" y="1783080"/>
            <a:ext cx="2953512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expensive people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FTE is within 1.3× peers. Cutting heads isn't the answer.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8595360" y="3337560"/>
            <a:ext cx="3136392" cy="14173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686800" y="3337560"/>
            <a:ext cx="2953512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volume per 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run 4× the policies per head: the scale L400 should aim for through automation.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8595360" y="4892040"/>
            <a:ext cx="3136392" cy="13258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686800" y="4892040"/>
            <a:ext cx="2953512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signal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 exits vs 3.1%. Exit processing is a load, and a business-value question.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 HSBC FTE = L400 IT FTE; Sun Life / Manulife = policy-admin operations heads (partly definitional).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PAS Deep Dive – Automation &amp; Digital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 cut unit cost through digital servicing; HSBC can't yet measure its own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Life cut its cost per core case 37% in one year by moving paper to digital: print and postage fell from 37% to 27% of cost. AIA and Prudential report STP above 70% and 50%. HSBC has no STP, digital-service or maturity measure, so the automation lever can't yet be sized.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35661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206240" y="1783080"/>
            <a:ext cx="201168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9768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Life, 2022 → 23e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−37%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251960" y="28072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core case (USD 4.88 → 3.09)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−51%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39044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report / bill item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251960" y="4434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0.73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4251960" y="5001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+ postage per policy still left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92240" y="1783080"/>
            <a:ext cx="523951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0" y="1783080"/>
            <a:ext cx="505663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digital scorecard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40280"/>
          <a:ext cx="52395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685800"/>
                <a:gridCol w="594360"/>
                <a:gridCol w="594360"/>
                <a:gridCol w="8961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HSBC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 Life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7F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Manulife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STP 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measured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submission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services enabled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measured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 maturity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measured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Statements volume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3k*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492240" y="457200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*HSBC counts cheque payments and reprints only (regular statements not reported).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492240" y="5029200"/>
            <a:ext cx="5239512" cy="1188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83680" y="5029200"/>
            <a:ext cx="5056632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data request: STP rate, full statement volumes and ops cost. Without them the automation case can't be sized.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 Peer STP, digital and maturity from competitor PAS reference (lower bounds).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Linking Cost to Business Outcome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modernisation is worth ~USD 3m a year on L400 as the book grows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Life's plan cuts PA cost 26% vs do-nothing by 2026 while its book grows ~32% a year. HSBC is moving the other way: L400 cost per policy rises 10% and FTE grows faster than the book. Applying Sun Life's saving rate, LE26 L400 cost would be USD 8.3m instead of 11.3m.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78308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120640"/>
            <a:ext cx="8046720" cy="109728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120640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business growth; dark = L400 cost and capacity. Premium outgrows L400 cost (good), but FTE and cost per policy outgrow the book (not sustainable).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778240" y="1783080"/>
            <a:ext cx="295351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69680" y="1783080"/>
            <a:ext cx="277063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prize for HSBC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22402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2.6–2.9m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280720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L400 saving p.a. at Sun Life's 26% rate (FY25–LE26)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33375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 → 8.3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8823960" y="3904488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LE26 L400 cost, USD 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778240" y="4526280"/>
            <a:ext cx="2953512" cy="1691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869680" y="4526280"/>
            <a:ext cx="2770632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each modernisation step to cost per policy, cost per premium and STP, so savings are visible to the business.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 Saving = HSBC L400 cost × Sun Life 2026 saving rate (indicative).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Emerging Hypothesis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 is the right path; the benchmarks show where the four lenses add value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benchmark gap is a volume-per-head and automation gap, not a platform-replacement case. Continuous modernisation, directed by the four lenses and tracked with PAS KPIs, is the lowest-risk way to capture the ~USD 3m a year prize.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82880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Option 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828800" cy="3977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164592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Continuous, controlled modernisation of L400 towards the target architecture.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04288" y="37261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606040" y="1783080"/>
            <a:ext cx="7360920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783080"/>
            <a:ext cx="7178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strategic lenses, with benchmark evidence and KPI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2240280"/>
            <a:ext cx="3611880" cy="92583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2240280"/>
            <a:ext cx="342900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Geo-political resilience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labour 39% vs 19%; cloud 0.1% vs ~17%.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240280"/>
            <a:ext cx="3657600" cy="92583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240280"/>
            <a:ext cx="347472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external labour share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3257550"/>
            <a:ext cx="3611880" cy="92583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3257550"/>
            <a:ext cx="342900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Business value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per policy 3.6× Sun Life; ~USD 3m p.a. prize.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257550"/>
            <a:ext cx="3657600" cy="92583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3257550"/>
            <a:ext cx="347472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PAS cost ÷ premium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4274820"/>
            <a:ext cx="3611880" cy="92583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4274820"/>
            <a:ext cx="342900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Technology acceleration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case 10× Sun Life; STP not measured vs &gt;50–70%.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4274820"/>
            <a:ext cx="3657600" cy="92583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274820"/>
            <a:ext cx="347472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STP %, cost per case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5292090"/>
            <a:ext cx="3611880" cy="92583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97480" y="5292090"/>
            <a:ext cx="342900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HNW vs mass-market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High-ticket book; 5.7% exits vs 3.1%; 43% serviced a year.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5292090"/>
            <a:ext cx="3657600" cy="92583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5292090"/>
            <a:ext cx="3474720" cy="92583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cost to serve by segment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985248" y="37261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10287000" y="1783080"/>
            <a:ext cx="1444752" cy="365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78440" y="1783080"/>
            <a:ext cx="1261872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3+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287000" y="2240280"/>
            <a:ext cx="1444752" cy="3977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78440" y="2240280"/>
            <a:ext cx="1261872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Automation-led modernisation that lifts volume per head, lowers cost per policy and scales with growth.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</a:t>
            </a:r>
            <a:pPr indent="0" marL="0">
              <a:buNone/>
            </a:pPr>
            <a:r>
              <a:rPr lang="en-US" sz="13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Data Quality &amp; 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data gaps to close before the business case is final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direction is robust. The size of the gaps depends on cost layers and FTE definitions, which differ between HSBC and peers.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67512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83080"/>
            <a:ext cx="64922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gaps identified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6675120" cy="406908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31720"/>
            <a:ext cx="640080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17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layers: </a:t>
            </a:r>
            <a:pPr indent="0" marL="0">
              <a:spcAft>
                <a:spcPts val="17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PAS = L400 platform IT cost; peers = policy-admin operations cost.</a:t>
            </a:r>
            <a:endParaRPr lang="en-US" sz="1300" dirty="0"/>
          </a:p>
          <a:p>
            <a:pPr marL="152400" indent="-152400">
              <a:spcAft>
                <a:spcPts val="17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 definition: </a:t>
            </a:r>
            <a:pPr indent="0" marL="0">
              <a:spcAft>
                <a:spcPts val="17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= L400 IT FTE; peers = policy-admin operations heads.</a:t>
            </a:r>
            <a:endParaRPr lang="en-US" sz="1300" dirty="0"/>
          </a:p>
          <a:p>
            <a:pPr marL="152400" indent="-152400">
              <a:spcAft>
                <a:spcPts val="17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perimeter: </a:t>
            </a:r>
            <a:pPr indent="0" marL="0">
              <a:spcAft>
                <a:spcPts val="17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ICT is bank-level; HSBC Life's share is unknown.</a:t>
            </a:r>
            <a:endParaRPr lang="en-US" sz="1300" dirty="0"/>
          </a:p>
          <a:p>
            <a:pPr marL="152400" indent="-152400">
              <a:spcAft>
                <a:spcPts val="17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Automation: </a:t>
            </a:r>
            <a:pPr indent="0" marL="0">
              <a:spcAft>
                <a:spcPts val="17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STP rate, digital-service measure or ops cost for HSBC.</a:t>
            </a:r>
            <a:endParaRPr lang="en-US" sz="1300" dirty="0"/>
          </a:p>
          <a:p>
            <a:pPr marL="152400" indent="-152400">
              <a:spcAft>
                <a:spcPts val="17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Volumes: </a:t>
            </a:r>
            <a:pPr indent="0" marL="0">
              <a:spcAft>
                <a:spcPts val="1700"/>
              </a:spcAft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HSBC statements exclude regular statements; premium is new business only. Manulife cost is an estimate.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0" y="1783080"/>
            <a:ext cx="432511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0" y="1783080"/>
            <a:ext cx="4142232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233172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92440" y="2240280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STP rate, full statement volumes and PAS ops cost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3319272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3227832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whether LE26 FTE growth (+29%) is project staff that will roll off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4306824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4215384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HSBC Life's share of ICT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5294376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5294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5202936"/>
            <a:ext cx="3639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business case on per-policy and per-case gaps, sized with the 26% saving rate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19088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HSBC Life PAS L400 benchmarking workbook, 'Master Benchmark' tab. HSBC FY2025 actual / LE2026. Sun Life HK 2023e actuals; Manulife HK = estimate from Sun Life cost drivers. USD.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274552" y="6419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HSBC Life – IT Cost &amp; PAS Benchmark</dc:title>
  <dc:subject>PptxGenJS Presentation</dc:subject>
  <dc:creator>PptxGenJS</dc:creator>
  <cp:lastModifiedBy>PptxGenJS</cp:lastModifiedBy>
  <cp:revision>1</cp:revision>
  <dcterms:created xsi:type="dcterms:W3CDTF">2026-09-29T01:25:24Z</dcterms:created>
  <dcterms:modified xsi:type="dcterms:W3CDTF">2026-09-29T01:25:24Z</dcterms:modified>
</cp:coreProperties>
</file>